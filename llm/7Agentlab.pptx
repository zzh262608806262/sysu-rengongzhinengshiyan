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6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notesSlides/notesSlide17.xml" ContentType="application/vnd.openxmlformats-officedocument.presentationml.notesSlide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notesSlides/notesSlide18.xml" ContentType="application/vnd.openxmlformats-officedocument.presentationml.notesSlide+xml"/>
  <Override PartName="/ppt/tags/tag184.xml" ContentType="application/vnd.openxmlformats-officedocument.presentationml.tags+xml"/>
  <Override PartName="/ppt/notesSlides/notesSlide19.xml" ContentType="application/vnd.openxmlformats-officedocument.presentationml.notesSlide+xml"/>
  <Override PartName="/ppt/tags/tag185.xml" ContentType="application/vnd.openxmlformats-officedocument.presentationml.tags+xml"/>
  <Override PartName="/ppt/notesSlides/notesSlide20.xml" ContentType="application/vnd.openxmlformats-officedocument.presentationml.notesSlide+xml"/>
  <Override PartName="/ppt/tags/tag186.xml" ContentType="application/vnd.openxmlformats-officedocument.presentationml.tags+xml"/>
  <Override PartName="/ppt/notesSlides/notesSlide21.xml" ContentType="application/vnd.openxmlformats-officedocument.presentationml.notesSlide+xml"/>
  <Override PartName="/ppt/tags/tag187.xml" ContentType="application/vnd.openxmlformats-officedocument.presentationml.tags+xml"/>
  <Override PartName="/ppt/notesSlides/notesSlide22.xml" ContentType="application/vnd.openxmlformats-officedocument.presentationml.notesSlide+xml"/>
  <Override PartName="/ppt/tags/tag188.xml" ContentType="application/vnd.openxmlformats-officedocument.presentationml.tags+xml"/>
  <Override PartName="/ppt/notesSlides/notesSlide23.xml" ContentType="application/vnd.openxmlformats-officedocument.presentationml.notesSlide+xml"/>
  <Override PartName="/ppt/tags/tag189.xml" ContentType="application/vnd.openxmlformats-officedocument.presentationml.tags+xml"/>
  <Override PartName="/ppt/notesSlides/notesSlide24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25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26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12.xml" ContentType="application/vnd.openxmlformats-officedocument.presentationml.tags+xml"/>
  <Override PartName="/ppt/notesSlides/notesSlide31.xml" ContentType="application/vnd.openxmlformats-officedocument.presentationml.notesSlide+xml"/>
  <Override PartName="/ppt/tags/tag213.xml" ContentType="application/vnd.openxmlformats-officedocument.presentationml.tags+xml"/>
  <Override PartName="/ppt/notesSlides/notesSlide32.xml" ContentType="application/vnd.openxmlformats-officedocument.presentationml.notesSlide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33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notesSlides/notesSlide34.xml" ContentType="application/vnd.openxmlformats-officedocument.presentationml.notesSlide+xml"/>
  <Override PartName="/ppt/tags/tag218.xml" ContentType="application/vnd.openxmlformats-officedocument.presentationml.tags+xml"/>
  <Override PartName="/ppt/notesSlides/notesSlide35.xml" ContentType="application/vnd.openxmlformats-officedocument.presentationml.notesSlide+xml"/>
  <Override PartName="/ppt/tags/tag219.xml" ContentType="application/vnd.openxmlformats-officedocument.presentationml.tags+xml"/>
  <Override PartName="/ppt/notesSlides/notesSlide36.xml" ContentType="application/vnd.openxmlformats-officedocument.presentationml.notesSlide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639" r:id="rId2"/>
    <p:sldId id="605" r:id="rId3"/>
    <p:sldId id="686" r:id="rId4"/>
    <p:sldId id="643" r:id="rId5"/>
    <p:sldId id="1292" r:id="rId6"/>
    <p:sldId id="651" r:id="rId7"/>
    <p:sldId id="652" r:id="rId8"/>
    <p:sldId id="653" r:id="rId9"/>
    <p:sldId id="1293" r:id="rId10"/>
    <p:sldId id="1294" r:id="rId11"/>
    <p:sldId id="1295" r:id="rId12"/>
    <p:sldId id="1296" r:id="rId13"/>
    <p:sldId id="1346" r:id="rId14"/>
    <p:sldId id="1347" r:id="rId15"/>
    <p:sldId id="1349" r:id="rId16"/>
    <p:sldId id="1350" r:id="rId17"/>
    <p:sldId id="1351" r:id="rId18"/>
    <p:sldId id="1353" r:id="rId19"/>
    <p:sldId id="1355" r:id="rId20"/>
    <p:sldId id="1357" r:id="rId21"/>
    <p:sldId id="1358" r:id="rId22"/>
    <p:sldId id="1362" r:id="rId23"/>
    <p:sldId id="1359" r:id="rId24"/>
    <p:sldId id="1363" r:id="rId25"/>
    <p:sldId id="1360" r:id="rId26"/>
    <p:sldId id="1361" r:id="rId27"/>
    <p:sldId id="1376" r:id="rId28"/>
    <p:sldId id="1378" r:id="rId29"/>
    <p:sldId id="1379" r:id="rId30"/>
    <p:sldId id="1400" r:id="rId31"/>
    <p:sldId id="1401" r:id="rId32"/>
    <p:sldId id="1402" r:id="rId33"/>
    <p:sldId id="1403" r:id="rId34"/>
    <p:sldId id="1404" r:id="rId35"/>
    <p:sldId id="1405" r:id="rId36"/>
    <p:sldId id="1406" r:id="rId37"/>
    <p:sldId id="1407" r:id="rId38"/>
    <p:sldId id="1408" r:id="rId39"/>
    <p:sldId id="1409" r:id="rId40"/>
    <p:sldId id="667" r:id="rId41"/>
    <p:sldId id="649" r:id="rId42"/>
    <p:sldId id="1398" r:id="rId43"/>
    <p:sldId id="1399" r:id="rId44"/>
    <p:sldId id="668" r:id="rId45"/>
    <p:sldId id="1410" r:id="rId46"/>
  </p:sldIdLst>
  <p:sldSz cx="9144000" cy="6858000" type="screen4x3"/>
  <p:notesSz cx="6735763" cy="9866313"/>
  <p:custDataLst>
    <p:tags r:id="rId49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50305040509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4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66"/>
    <a:srgbClr val="409FE0"/>
    <a:srgbClr val="FFCCFF"/>
    <a:srgbClr val="B8DCF4"/>
    <a:srgbClr val="FFFFCC"/>
    <a:srgbClr val="99FF99"/>
    <a:srgbClr val="E8ECF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70" autoAdjust="0"/>
    <p:restoredTop sz="95184" autoAdjust="0"/>
  </p:normalViewPr>
  <p:slideViewPr>
    <p:cSldViewPr snapToGrid="0" showGuides="1">
      <p:cViewPr>
        <p:scale>
          <a:sx n="66" d="100"/>
          <a:sy n="66" d="100"/>
        </p:scale>
        <p:origin x="1344" y="470"/>
      </p:cViewPr>
      <p:guideLst>
        <p:guide orient="horz" pos="204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740" y="-114"/>
      </p:cViewPr>
      <p:guideLst>
        <p:guide orient="horz" pos="2934"/>
        <p:guide pos="212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187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034C6EE-4A99-467C-9965-50EEE77005D1}" type="slidenum">
              <a:rPr lang="en-US" altLang="ja-JP"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C4B0F1-E941-4AD4-8EB5-04747E843887}" type="slidenum">
              <a:rPr lang="en-US" altLang="ja-JP"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MS PMincho" panose="02020600040205080304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1700" y="739775"/>
            <a:ext cx="4933950" cy="3700463"/>
          </a:xfrm>
        </p:spPr>
      </p:sp>
      <p:sp>
        <p:nvSpPr>
          <p:cNvPr id="614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CN" sz="1800" dirty="0"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3D4974D3-3103-4956-8804-74887D3BB162}" type="slidenum">
              <a:rPr lang="zh-CN" altLang="en-US" sz="1200" b="0" smtClean="0"/>
              <a:t>1</a:t>
            </a:fld>
            <a:endParaRPr lang="zh-CN" altLang="en-US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19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20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21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22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24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25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26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27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28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29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C0D-E775-9CC0-ACC0-F69630F4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922813-AE88-1B97-F6F6-1E7B0ACFB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FAAAF6-9DA5-665C-2D23-B9932221B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6EC2E-AEF7-B983-6555-CE8FAAAAA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508376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10CC-8B8A-2127-DCA5-E65A00D62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9ADD4C-0E89-CF01-2A98-3A7E7FD16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0DEF8E-33A7-091F-7433-F54C75C3F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DF619A-F31E-9A59-94D9-5599D3FD32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87989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6F40-F9C8-807B-A1E0-8C59DB96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6EB228-97E8-26DA-0AC3-033ABCF07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06BE74-7231-68B8-D436-C8FA2EA66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2D435-43FE-63B2-C77C-7EDCD8BE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50790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3404-98AB-70B3-B214-45769FE1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3BC309-6736-1ABF-1288-7A0FE8156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3E03C2-D78C-684D-5D7E-6FB538D46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397E15-C1D4-4361-975F-AFD6B21FD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079165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EE0B8-F6CC-4BB7-F4AC-E407D0C51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EE4192-2ED7-4F3E-6A48-6608DAFD8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42AC86-B83A-567F-8429-2C2FDF05C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3306AE-8CC0-5C75-C01E-3C0BCC58F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36234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9988-7A47-C332-4B12-0FD5930F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3B142E-5F06-A335-4DE8-FC7C3D00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4A4224-1985-5DB8-C579-CEE20FA16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6586BF-B3D3-5F6E-848C-277E27DEC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439891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B5C7A-8EBB-B9CF-CD94-D061F22AC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C0176-768B-C876-6EF1-DC4829F3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762121-08E1-8221-EA43-7FB9BF541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60A71-EC35-8B22-9845-EC1DC1F86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3477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1649-D0A7-0186-C6EA-EC039DBA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14CBA4-B820-E5F1-8082-5E4D04784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6828B7-ACFC-BAB2-2F7D-5A5469653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C60CB3-BE3A-4978-84D9-A590E1FC8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20766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BE2C-90ED-B1A1-829A-C8DC0258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8E6199-08ED-A127-23D8-069509958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C14B8F-2144-EECB-C954-01ED9E4DA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C0C046-84E3-F40D-7FFE-3DCF842D0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681300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E66A3-0CB9-4764-6602-EAA4FEDA4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FDEFE-B708-6A82-DC7C-FE796A8B4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A5DC6B-3B17-1672-F83D-F09AE3D6A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55DBB0-B911-4C84-7776-D114662F6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C4B0F1-E941-4AD4-8EB5-04747E843887}" type="slidenum">
              <a:rPr lang="en-US" altLang="ja-JP" smtClean="0"/>
              <a:t>39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8255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685800" y="288766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A50021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836613"/>
            <a:ext cx="7772400" cy="2019300"/>
          </a:xfrm>
          <a:noFill/>
        </p:spPr>
        <p:txBody>
          <a:bodyPr/>
          <a:lstStyle>
            <a:lvl1pPr algn="ctr">
              <a:defRPr sz="4000">
                <a:solidFill>
                  <a:srgbClr val="A50021"/>
                </a:solidFill>
              </a:defRPr>
            </a:lvl1pPr>
          </a:lstStyle>
          <a:p>
            <a:pPr lvl="0"/>
            <a:r>
              <a:rPr lang="ja-JP" altLang="en-US" noProof="0"/>
              <a:t>マスタ タイトルの書式設定</a:t>
            </a: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213100"/>
            <a:ext cx="7010400" cy="18161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800">
                <a:solidFill>
                  <a:schemeClr val="folHlink"/>
                </a:solidFill>
              </a:defRPr>
            </a:lvl1pPr>
          </a:lstStyle>
          <a:p>
            <a:pPr lvl="0"/>
            <a:r>
              <a:rPr lang="ja-JP" altLang="en-US" noProof="0"/>
              <a:t>マスタ サブタイトルの書式設定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rgbClr val="C00000"/>
              </a:buClr>
              <a:defRPr/>
            </a:lvl1pPr>
            <a:lvl2pPr>
              <a:buClr>
                <a:srgbClr val="C00000"/>
              </a:buClr>
              <a:defRPr/>
            </a:lvl2pPr>
            <a:lvl3pPr>
              <a:buClr>
                <a:srgbClr val="C00000"/>
              </a:buClr>
              <a:defRPr/>
            </a:lvl3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D28D9-E152-4420-A86D-30DF28F96CC3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AF141-A5EC-4CFB-A958-86E1E10B0F1D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1B3B4-78F3-45F0-BD7A-5A4B0B67E41A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3400B0-00DE-40A7-8918-3E30DB48DF71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1B16E1-3542-4D7A-B514-ED013101ED34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80E1B8-4BBF-432F-A56B-E500C3596581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6F008-80B0-4065-8639-FA522E78ABD8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2A297B-0CBD-41CE-A2CE-5D734000E697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250825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250825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1836E-F560-4B02-9B15-A1904EAC68FB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250825" y="908050"/>
            <a:ext cx="8642350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BCFAB-D188-4040-96D5-887F570D26D2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5" y="908050"/>
            <a:ext cx="4244975" cy="5400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244975" cy="2624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684588"/>
            <a:ext cx="4244975" cy="26241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FF8F33-E526-4378-A8F0-90387C1859AB}" type="slidenum">
              <a:rPr lang="en-US" altLang="ja-JP"/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51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08050"/>
            <a:ext cx="8642350" cy="540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7203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83413" y="6413500"/>
            <a:ext cx="1981200" cy="3603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>
                <a:solidFill>
                  <a:srgbClr val="A50021"/>
                </a:solidFill>
              </a:defRPr>
            </a:lvl1pPr>
          </a:lstStyle>
          <a:p>
            <a:pPr>
              <a:defRPr/>
            </a:pPr>
            <a:fld id="{98481C38-1BE0-4570-8049-390C7BA11E2C}" type="slidenum">
              <a:rPr lang="en-US" altLang="ja-JP"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indent="176530" algn="l" rtl="0" eaLnBrk="0" fontAlgn="base" hangingPunct="0">
        <a:spcBef>
          <a:spcPct val="0"/>
        </a:spcBef>
        <a:spcAft>
          <a:spcPct val="0"/>
        </a:spcAft>
        <a:defRPr kumimoji="1" sz="3800" b="1" kern="1200">
          <a:solidFill>
            <a:schemeClr val="bg1"/>
          </a:solidFill>
          <a:latin typeface="+mj-lt"/>
          <a:ea typeface="+mj-ea"/>
          <a:cs typeface="+mj-cs"/>
        </a:defRPr>
      </a:lvl1pPr>
      <a:lvl2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2pPr>
      <a:lvl3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3pPr>
      <a:lvl4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4pPr>
      <a:lvl5pPr indent="176530" algn="l" rtl="0" eaLnBrk="0" fontAlgn="base" hangingPunct="0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Times New Roman" panose="02020503050405090304" pitchFamily="18" charset="0"/>
          <a:ea typeface="黑体" panose="02010609060101010101" pitchFamily="49" charset="-122"/>
        </a:defRPr>
      </a:lvl5pPr>
      <a:lvl6pPr marL="4572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6pPr>
      <a:lvl7pPr marL="9144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7pPr>
      <a:lvl8pPr marL="13716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8pPr>
      <a:lvl9pPr marL="1828800" indent="176530" algn="l" rtl="0" fontAlgn="base">
        <a:spcBef>
          <a:spcPct val="0"/>
        </a:spcBef>
        <a:spcAft>
          <a:spcPct val="0"/>
        </a:spcAft>
        <a:defRPr kumimoji="1" sz="3800" b="1">
          <a:solidFill>
            <a:schemeClr val="bg1"/>
          </a:solidFill>
          <a:latin typeface="Arial" panose="020B0604020202090204" pitchFamily="34" charset="0"/>
          <a:ea typeface="MS PGothic" panose="020B0600070205080204" pitchFamily="34" charset="-128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600" kern="1200">
          <a:solidFill>
            <a:schemeClr val="folHlink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kumimoji="1" sz="2300" kern="1200">
          <a:solidFill>
            <a:srgbClr val="009900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kumimoji="1" sz="2000" kern="1200">
          <a:solidFill>
            <a:srgbClr val="0099CC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kumimoji="1" sz="2000" kern="1200">
          <a:solidFill>
            <a:srgbClr val="99CC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9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12.xml"/><Relationship Id="rId7" Type="http://schemas.openxmlformats.org/officeDocument/2006/relationships/image" Target="../media/image8.w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image" Target="../media/image11.svg"/><Relationship Id="rId2" Type="http://schemas.openxmlformats.org/officeDocument/2006/relationships/tags" Target="../tags/tag14.xml"/><Relationship Id="rId16" Type="http://schemas.openxmlformats.org/officeDocument/2006/relationships/image" Target="../media/image10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0" Type="http://schemas.openxmlformats.org/officeDocument/2006/relationships/tags" Target="../tags/tag35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9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75.xml"/><Relationship Id="rId21" Type="http://schemas.openxmlformats.org/officeDocument/2006/relationships/tags" Target="../tags/tag70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63" Type="http://schemas.openxmlformats.org/officeDocument/2006/relationships/tags" Target="../tags/tag112.xml"/><Relationship Id="rId68" Type="http://schemas.openxmlformats.org/officeDocument/2006/relationships/tags" Target="../tags/tag117.xml"/><Relationship Id="rId84" Type="http://schemas.openxmlformats.org/officeDocument/2006/relationships/tags" Target="../tags/tag133.xml"/><Relationship Id="rId89" Type="http://schemas.openxmlformats.org/officeDocument/2006/relationships/slideLayout" Target="../slideLayouts/slideLayout2.xml"/><Relationship Id="rId16" Type="http://schemas.openxmlformats.org/officeDocument/2006/relationships/tags" Target="../tags/tag65.xml"/><Relationship Id="rId11" Type="http://schemas.openxmlformats.org/officeDocument/2006/relationships/tags" Target="../tags/tag60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53" Type="http://schemas.openxmlformats.org/officeDocument/2006/relationships/tags" Target="../tags/tag102.xml"/><Relationship Id="rId58" Type="http://schemas.openxmlformats.org/officeDocument/2006/relationships/tags" Target="../tags/tag107.xml"/><Relationship Id="rId74" Type="http://schemas.openxmlformats.org/officeDocument/2006/relationships/tags" Target="../tags/tag123.xml"/><Relationship Id="rId79" Type="http://schemas.openxmlformats.org/officeDocument/2006/relationships/tags" Target="../tags/tag128.xml"/><Relationship Id="rId5" Type="http://schemas.openxmlformats.org/officeDocument/2006/relationships/tags" Target="../tags/tag54.xml"/><Relationship Id="rId90" Type="http://schemas.openxmlformats.org/officeDocument/2006/relationships/notesSlide" Target="../notesSlides/notesSlide16.xml"/><Relationship Id="rId95" Type="http://schemas.openxmlformats.org/officeDocument/2006/relationships/image" Target="../media/image17.png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64" Type="http://schemas.openxmlformats.org/officeDocument/2006/relationships/tags" Target="../tags/tag113.xml"/><Relationship Id="rId69" Type="http://schemas.openxmlformats.org/officeDocument/2006/relationships/tags" Target="../tags/tag118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72" Type="http://schemas.openxmlformats.org/officeDocument/2006/relationships/tags" Target="../tags/tag121.xml"/><Relationship Id="rId80" Type="http://schemas.openxmlformats.org/officeDocument/2006/relationships/tags" Target="../tags/tag129.xml"/><Relationship Id="rId85" Type="http://schemas.openxmlformats.org/officeDocument/2006/relationships/tags" Target="../tags/tag134.xml"/><Relationship Id="rId93" Type="http://schemas.openxmlformats.org/officeDocument/2006/relationships/image" Target="../media/image15.png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59" Type="http://schemas.openxmlformats.org/officeDocument/2006/relationships/tags" Target="../tags/tag108.xml"/><Relationship Id="rId67" Type="http://schemas.openxmlformats.org/officeDocument/2006/relationships/tags" Target="../tags/tag116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54" Type="http://schemas.openxmlformats.org/officeDocument/2006/relationships/tags" Target="../tags/tag103.xml"/><Relationship Id="rId62" Type="http://schemas.openxmlformats.org/officeDocument/2006/relationships/tags" Target="../tags/tag111.xml"/><Relationship Id="rId70" Type="http://schemas.openxmlformats.org/officeDocument/2006/relationships/tags" Target="../tags/tag119.xml"/><Relationship Id="rId75" Type="http://schemas.openxmlformats.org/officeDocument/2006/relationships/tags" Target="../tags/tag124.xml"/><Relationship Id="rId83" Type="http://schemas.openxmlformats.org/officeDocument/2006/relationships/tags" Target="../tags/tag132.xml"/><Relationship Id="rId88" Type="http://schemas.openxmlformats.org/officeDocument/2006/relationships/tags" Target="../tags/tag137.xml"/><Relationship Id="rId91" Type="http://schemas.openxmlformats.org/officeDocument/2006/relationships/image" Target="../media/image13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tags" Target="../tags/tag106.xml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60" Type="http://schemas.openxmlformats.org/officeDocument/2006/relationships/tags" Target="../tags/tag109.xml"/><Relationship Id="rId65" Type="http://schemas.openxmlformats.org/officeDocument/2006/relationships/tags" Target="../tags/tag114.xml"/><Relationship Id="rId73" Type="http://schemas.openxmlformats.org/officeDocument/2006/relationships/tags" Target="../tags/tag122.xml"/><Relationship Id="rId78" Type="http://schemas.openxmlformats.org/officeDocument/2006/relationships/tags" Target="../tags/tag127.xml"/><Relationship Id="rId81" Type="http://schemas.openxmlformats.org/officeDocument/2006/relationships/tags" Target="../tags/tag130.xml"/><Relationship Id="rId86" Type="http://schemas.openxmlformats.org/officeDocument/2006/relationships/tags" Target="../tags/tag135.xml"/><Relationship Id="rId94" Type="http://schemas.openxmlformats.org/officeDocument/2006/relationships/image" Target="../media/image16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9" Type="http://schemas.openxmlformats.org/officeDocument/2006/relationships/tags" Target="../tags/tag88.xml"/><Relationship Id="rId34" Type="http://schemas.openxmlformats.org/officeDocument/2006/relationships/tags" Target="../tags/tag83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6" Type="http://schemas.openxmlformats.org/officeDocument/2006/relationships/tags" Target="../tags/tag125.xml"/><Relationship Id="rId7" Type="http://schemas.openxmlformats.org/officeDocument/2006/relationships/tags" Target="../tags/tag56.xml"/><Relationship Id="rId71" Type="http://schemas.openxmlformats.org/officeDocument/2006/relationships/tags" Target="../tags/tag120.xml"/><Relationship Id="rId92" Type="http://schemas.openxmlformats.org/officeDocument/2006/relationships/image" Target="../media/image14.png"/><Relationship Id="rId2" Type="http://schemas.openxmlformats.org/officeDocument/2006/relationships/tags" Target="../tags/tag51.xml"/><Relationship Id="rId29" Type="http://schemas.openxmlformats.org/officeDocument/2006/relationships/tags" Target="../tags/tag78.xml"/><Relationship Id="rId24" Type="http://schemas.openxmlformats.org/officeDocument/2006/relationships/tags" Target="../tags/tag73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66" Type="http://schemas.openxmlformats.org/officeDocument/2006/relationships/tags" Target="../tags/tag115.xml"/><Relationship Id="rId87" Type="http://schemas.openxmlformats.org/officeDocument/2006/relationships/tags" Target="../tags/tag136.xml"/><Relationship Id="rId61" Type="http://schemas.openxmlformats.org/officeDocument/2006/relationships/tags" Target="../tags/tag110.xml"/><Relationship Id="rId82" Type="http://schemas.openxmlformats.org/officeDocument/2006/relationships/tags" Target="../tags/tag131.xml"/><Relationship Id="rId19" Type="http://schemas.openxmlformats.org/officeDocument/2006/relationships/tags" Target="../tags/tag68.xml"/><Relationship Id="rId14" Type="http://schemas.openxmlformats.org/officeDocument/2006/relationships/tags" Target="../tags/tag63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56" Type="http://schemas.openxmlformats.org/officeDocument/2006/relationships/tags" Target="../tags/tag105.xml"/><Relationship Id="rId77" Type="http://schemas.openxmlformats.org/officeDocument/2006/relationships/tags" Target="../tags/tag12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notesSlide" Target="../notesSlides/notesSlide17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10" Type="http://schemas.openxmlformats.org/officeDocument/2006/relationships/tags" Target="../tags/tag147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tags" Target="../tags/tag171.xml"/><Relationship Id="rId26" Type="http://schemas.openxmlformats.org/officeDocument/2006/relationships/tags" Target="../tags/tag179.xml"/><Relationship Id="rId3" Type="http://schemas.openxmlformats.org/officeDocument/2006/relationships/tags" Target="../tags/tag156.xml"/><Relationship Id="rId21" Type="http://schemas.openxmlformats.org/officeDocument/2006/relationships/tags" Target="../tags/tag174.xml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5" Type="http://schemas.openxmlformats.org/officeDocument/2006/relationships/tags" Target="../tags/tag178.xml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20" Type="http://schemas.openxmlformats.org/officeDocument/2006/relationships/tags" Target="../tags/tag173.xml"/><Relationship Id="rId29" Type="http://schemas.openxmlformats.org/officeDocument/2006/relationships/tags" Target="../tags/tag182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24" Type="http://schemas.openxmlformats.org/officeDocument/2006/relationships/tags" Target="../tags/tag177.xml"/><Relationship Id="rId32" Type="http://schemas.openxmlformats.org/officeDocument/2006/relationships/notesSlide" Target="../notesSlides/notesSlide18.xml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23" Type="http://schemas.openxmlformats.org/officeDocument/2006/relationships/tags" Target="../tags/tag176.xml"/><Relationship Id="rId28" Type="http://schemas.openxmlformats.org/officeDocument/2006/relationships/tags" Target="../tags/tag181.xml"/><Relationship Id="rId10" Type="http://schemas.openxmlformats.org/officeDocument/2006/relationships/tags" Target="../tags/tag163.xml"/><Relationship Id="rId19" Type="http://schemas.openxmlformats.org/officeDocument/2006/relationships/tags" Target="../tags/tag172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Relationship Id="rId22" Type="http://schemas.openxmlformats.org/officeDocument/2006/relationships/tags" Target="../tags/tag175.xml"/><Relationship Id="rId27" Type="http://schemas.openxmlformats.org/officeDocument/2006/relationships/tags" Target="../tags/tag180.xml"/><Relationship Id="rId30" Type="http://schemas.openxmlformats.org/officeDocument/2006/relationships/tags" Target="../tags/tag18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4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image" Target="../media/image23.png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image" Target="../media/image22.png"/><Relationship Id="rId5" Type="http://schemas.openxmlformats.org/officeDocument/2006/relationships/tags" Target="../tags/tag196.xml"/><Relationship Id="rId10" Type="http://schemas.openxmlformats.org/officeDocument/2006/relationships/image" Target="../media/image21.png"/><Relationship Id="rId4" Type="http://schemas.openxmlformats.org/officeDocument/2006/relationships/tags" Target="../tags/tag195.xml"/><Relationship Id="rId9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tags" Target="../tags/tag211.xml"/><Relationship Id="rId18" Type="http://schemas.openxmlformats.org/officeDocument/2006/relationships/image" Target="../media/image23.png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tags" Target="../tags/tag210.xml"/><Relationship Id="rId17" Type="http://schemas.openxmlformats.org/officeDocument/2006/relationships/image" Target="../media/image22.png"/><Relationship Id="rId2" Type="http://schemas.openxmlformats.org/officeDocument/2006/relationships/tags" Target="../tags/tag200.xml"/><Relationship Id="rId16" Type="http://schemas.openxmlformats.org/officeDocument/2006/relationships/image" Target="../media/image21.png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tags" Target="../tags/tag209.xml"/><Relationship Id="rId5" Type="http://schemas.openxmlformats.org/officeDocument/2006/relationships/tags" Target="../tags/tag203.xml"/><Relationship Id="rId15" Type="http://schemas.openxmlformats.org/officeDocument/2006/relationships/notesSlide" Target="../notesSlides/notesSlide27.xml"/><Relationship Id="rId10" Type="http://schemas.openxmlformats.org/officeDocument/2006/relationships/tags" Target="../tags/tag208.xml"/><Relationship Id="rId19" Type="http://schemas.openxmlformats.org/officeDocument/2006/relationships/image" Target="../media/image24.png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image" Target="../media/image28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image" Target="../media/image29.png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mailto:zhangyc8@mail2.sysu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r>
              <a:rPr lang="en-US" altLang="zh-CN" dirty="0"/>
              <a:t>Artificial Intelligence</a:t>
            </a:r>
            <a:br>
              <a:rPr lang="en-US" altLang="zh-CN" dirty="0"/>
            </a:br>
            <a:r>
              <a:rPr lang="zh-CN" altLang="en-US" dirty="0"/>
              <a:t>人工智能实验</a:t>
            </a:r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87460" y="5049522"/>
            <a:ext cx="2969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中山大学计算机学院</a:t>
            </a:r>
            <a:endParaRPr lang="en-US" altLang="zh-CN" dirty="0">
              <a:solidFill>
                <a:srgbClr val="A50021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altLang="zh-CN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2026</a:t>
            </a:r>
            <a:r>
              <a:rPr lang="zh-CN" altLang="en-US" dirty="0">
                <a:solidFill>
                  <a:srgbClr val="A50021"/>
                </a:solidFill>
                <a:latin typeface="+mj-lt"/>
                <a:ea typeface="+mj-ea"/>
                <a:cs typeface="+mj-cs"/>
              </a:rPr>
              <a:t>年春季</a:t>
            </a:r>
          </a:p>
        </p:txBody>
      </p:sp>
      <p:sp>
        <p:nvSpPr>
          <p:cNvPr id="3" name="标题 1"/>
          <p:cNvSpPr txBox="1">
            <a:spLocks noChangeArrowheads="1"/>
          </p:cNvSpPr>
          <p:nvPr/>
        </p:nvSpPr>
        <p:spPr bwMode="auto">
          <a:xfrm>
            <a:off x="584200" y="3624223"/>
            <a:ext cx="7772400" cy="717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indent="17653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rgbClr val="A50021"/>
                </a:solidFill>
                <a:latin typeface="+mj-lt"/>
                <a:ea typeface="+mj-ea"/>
                <a:cs typeface="+mj-cs"/>
              </a:defRPr>
            </a:lvl1pPr>
            <a:lvl2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2pPr>
            <a:lvl3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3pPr>
            <a:lvl4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4pPr>
            <a:lvl5pPr indent="17653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Times New Roman" panose="02020503050405090304" pitchFamily="18" charset="0"/>
                <a:ea typeface="黑体" panose="02010609060101010101" pitchFamily="49" charset="-122"/>
              </a:defRPr>
            </a:lvl5pPr>
            <a:lvl6pPr marL="4572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6pPr>
            <a:lvl7pPr marL="9144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7pPr>
            <a:lvl8pPr marL="13716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8pPr>
            <a:lvl9pPr marL="1828800" indent="176530" algn="l" rtl="0" fontAlgn="base">
              <a:spcBef>
                <a:spcPct val="0"/>
              </a:spcBef>
              <a:spcAft>
                <a:spcPct val="0"/>
              </a:spcAft>
              <a:defRPr kumimoji="1" sz="3800" b="1">
                <a:solidFill>
                  <a:schemeClr val="bg1"/>
                </a:solidFill>
                <a:latin typeface="Arial" panose="020B060402020209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AI Agent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zh-CN" altLang="en-US" dirty="0"/>
              <a:t>目录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1.1 </a:t>
            </a:r>
            <a:r>
              <a:rPr lang="en-US" altLang="zh-CN" sz="2000" dirty="0">
                <a:solidFill>
                  <a:srgbClr val="000000"/>
                </a:solidFill>
              </a:rPr>
              <a:t>AI Agent</a:t>
            </a:r>
            <a:r>
              <a:rPr lang="zh-CN" altLang="en-US" sz="2000" dirty="0">
                <a:solidFill>
                  <a:srgbClr val="000000"/>
                </a:solidFill>
              </a:rPr>
              <a:t>定义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1.2 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的基本组件：推理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规划、记忆、工具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1.3 </a:t>
            </a:r>
            <a:r>
              <a:rPr lang="zh-CN" altLang="en-US" sz="2000" dirty="0">
                <a:solidFill>
                  <a:srgbClr val="000000"/>
                </a:solidFill>
              </a:rPr>
              <a:t>多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系统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1.4 </a:t>
            </a:r>
            <a:r>
              <a:rPr lang="en-US" altLang="zh-CN" sz="2000" dirty="0" err="1">
                <a:solidFill>
                  <a:srgbClr val="000000"/>
                </a:solidFill>
              </a:rPr>
              <a:t>LangGraph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LlamaIndex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AutoGen</a:t>
            </a:r>
            <a:r>
              <a:rPr lang="zh-CN" altLang="en-US" sz="2000" dirty="0" err="1">
                <a:solidFill>
                  <a:srgbClr val="000000"/>
                </a:solidFill>
              </a:rPr>
              <a:t>等</a:t>
            </a:r>
            <a:r>
              <a:rPr lang="zh-CN" altLang="en-US" sz="2000" dirty="0">
                <a:solidFill>
                  <a:srgbClr val="000000"/>
                </a:solidFill>
              </a:rPr>
              <a:t>框架的介绍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en-US" altLang="ja-JP" sz="2000" dirty="0">
                <a:solidFill>
                  <a:srgbClr val="000000"/>
                </a:solidFill>
              </a:rPr>
              <a:t>.1 </a:t>
            </a:r>
            <a:r>
              <a:rPr sz="2000" dirty="0">
                <a:solidFill>
                  <a:srgbClr val="000000"/>
                </a:solidFill>
              </a:rPr>
              <a:t>SmartAgents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  <a:r>
              <a:rPr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Planning + </a:t>
            </a:r>
            <a:r>
              <a:rPr sz="2000" dirty="0">
                <a:solidFill>
                  <a:srgbClr val="000000"/>
                </a:solidFill>
              </a:rPr>
              <a:t>Memory + Tool-Using Multi-Agent </a:t>
            </a:r>
            <a:r>
              <a:rPr lang="en-US" sz="2000" dirty="0">
                <a:solidFill>
                  <a:srgbClr val="000000"/>
                </a:solidFill>
              </a:rPr>
              <a:t>Project</a:t>
            </a:r>
            <a:endParaRPr sz="2000" dirty="0">
              <a:solidFill>
                <a:srgbClr val="000000"/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包含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设计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要求使用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种以上工具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2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3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1.1 </a:t>
            </a:r>
            <a:r>
              <a:rPr lang="en-US" altLang="zh-CN" sz="2000" dirty="0">
                <a:solidFill>
                  <a:srgbClr val="000000"/>
                </a:solidFill>
              </a:rPr>
              <a:t>AI Agent</a:t>
            </a:r>
            <a:r>
              <a:rPr lang="zh-CN" altLang="en-US" sz="2000" dirty="0">
                <a:solidFill>
                  <a:srgbClr val="000000"/>
                </a:solidFill>
              </a:rPr>
              <a:t>定义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1.2 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的基本组件：推理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规划、记忆、工具</a:t>
            </a:r>
            <a:endParaRPr lang="en-US" altLang="ja-JP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rgbClr val="000000"/>
                </a:solidFill>
              </a:rPr>
              <a:t>1.3 </a:t>
            </a:r>
            <a:r>
              <a:rPr lang="zh-CN" altLang="en-US" sz="2000" dirty="0">
                <a:solidFill>
                  <a:srgbClr val="000000"/>
                </a:solidFill>
              </a:rPr>
              <a:t>多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系统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1.4 </a:t>
            </a:r>
            <a:r>
              <a:rPr lang="en-US" altLang="zh-CN" sz="2000" dirty="0" err="1">
                <a:solidFill>
                  <a:srgbClr val="000000"/>
                </a:solidFill>
              </a:rPr>
              <a:t>LangGraph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LlamaIndex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en-US" altLang="zh-CN" sz="2000" dirty="0" err="1">
                <a:solidFill>
                  <a:srgbClr val="000000"/>
                </a:solidFill>
              </a:rPr>
              <a:t>AutoGen</a:t>
            </a:r>
            <a:r>
              <a:rPr lang="zh-CN" altLang="en-US" sz="2000" dirty="0" err="1">
                <a:solidFill>
                  <a:srgbClr val="000000"/>
                </a:solidFill>
              </a:rPr>
              <a:t>等</a:t>
            </a:r>
            <a:r>
              <a:rPr lang="zh-CN" altLang="en-US" sz="2000" dirty="0">
                <a:solidFill>
                  <a:srgbClr val="000000"/>
                </a:solidFill>
              </a:rPr>
              <a:t>框架的介绍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.1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SmartAgents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Planning +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Memory + Tool-Using Multi-Agent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Project</a:t>
            </a:r>
            <a:endParaRPr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包含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设计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要求使用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种以上工具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定义</a:t>
            </a:r>
          </a:p>
        </p:txBody>
      </p:sp>
      <p:sp>
        <p:nvSpPr>
          <p:cNvPr id="9" name="矩形: 圆角 12"/>
          <p:cNvSpPr/>
          <p:nvPr/>
        </p:nvSpPr>
        <p:spPr>
          <a:xfrm>
            <a:off x="166256" y="3118553"/>
            <a:ext cx="8835240" cy="3166624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: 圆角 9"/>
          <p:cNvSpPr/>
          <p:nvPr/>
        </p:nvSpPr>
        <p:spPr>
          <a:xfrm>
            <a:off x="296693" y="1197440"/>
            <a:ext cx="8639104" cy="152997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567091" y="1531051"/>
            <a:ext cx="862530" cy="862752"/>
          </a:xfrm>
          <a:prstGeom prst="round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核心定义</a:t>
            </a:r>
          </a:p>
        </p:txBody>
      </p:sp>
      <p:sp>
        <p:nvSpPr>
          <p:cNvPr id="12" name="标题 2"/>
          <p:cNvSpPr txBox="1"/>
          <p:nvPr/>
        </p:nvSpPr>
        <p:spPr>
          <a:xfrm>
            <a:off x="1429621" y="1424280"/>
            <a:ext cx="9924582" cy="583565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</a:rPr>
              <a:t>大模型时代的 </a:t>
            </a:r>
            <a:r>
              <a:rPr lang="en-US" altLang="zh-CN" sz="2400" dirty="0">
                <a:solidFill>
                  <a:schemeClr val="bg1"/>
                </a:solidFill>
              </a:rPr>
              <a:t>AI Agent  = LLM  × </a:t>
            </a:r>
            <a:r>
              <a:rPr lang="zh-CN" altLang="en-US" sz="2400" dirty="0">
                <a:solidFill>
                  <a:schemeClr val="bg1"/>
                </a:solidFill>
              </a:rPr>
              <a:t>（</a:t>
            </a:r>
            <a:r>
              <a:rPr lang="zh-CN" altLang="en-US" sz="2400" u="sng" dirty="0">
                <a:solidFill>
                  <a:schemeClr val="bg1"/>
                </a:solidFill>
              </a:rPr>
              <a:t>规划</a:t>
            </a:r>
            <a:r>
              <a:rPr lang="en-US" altLang="zh-CN" sz="2400" u="sng" dirty="0">
                <a:solidFill>
                  <a:schemeClr val="bg1"/>
                </a:solidFill>
              </a:rPr>
              <a:t>+</a:t>
            </a:r>
            <a:r>
              <a:rPr lang="zh-CN" altLang="en-US" sz="2400" u="sng" dirty="0">
                <a:solidFill>
                  <a:schemeClr val="bg1"/>
                </a:solidFill>
              </a:rPr>
              <a:t>记忆</a:t>
            </a:r>
            <a:r>
              <a:rPr lang="en-US" altLang="zh-CN" sz="2400" dirty="0">
                <a:solidFill>
                  <a:schemeClr val="bg1"/>
                </a:solidFill>
              </a:rPr>
              <a:t>+</a:t>
            </a:r>
            <a:r>
              <a:rPr lang="zh-CN" altLang="en-US" sz="2400" dirty="0">
                <a:solidFill>
                  <a:schemeClr val="bg1"/>
                </a:solidFill>
              </a:rPr>
              <a:t>工具）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2381030" y="2167574"/>
            <a:ext cx="4783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LLM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是核心控制器</a:t>
            </a:r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大脑</a:t>
            </a:r>
            <a:r>
              <a:rPr lang="en-US" altLang="zh-CN" sz="2000" b="1" u="sng" dirty="0">
                <a:solidFill>
                  <a:schemeClr val="bg2">
                    <a:lumMod val="50000"/>
                  </a:schemeClr>
                </a:solidFill>
              </a:rPr>
              <a:t>)</a:t>
            </a:r>
            <a:r>
              <a:rPr lang="zh-CN" altLang="en-US" sz="2000" b="1" u="sng" dirty="0">
                <a:solidFill>
                  <a:schemeClr val="bg2">
                    <a:lumMod val="50000"/>
                  </a:schemeClr>
                </a:solidFill>
              </a:rPr>
              <a:t>，构建核心能力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506" y="3515096"/>
            <a:ext cx="4514990" cy="2663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0" y="6472327"/>
            <a:ext cx="108396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https://arxiv.org/pdf/2309.07864v1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43189" y="3732369"/>
            <a:ext cx="3966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0" dirty="0">
                <a:latin typeface="+mn-ea"/>
                <a:ea typeface="+mn-ea"/>
              </a:rPr>
              <a:t>由复旦大学</a:t>
            </a:r>
            <a:r>
              <a:rPr lang="en-US" altLang="zh-CN" sz="2000" b="0" dirty="0">
                <a:latin typeface="+mn-ea"/>
                <a:ea typeface="+mn-ea"/>
              </a:rPr>
              <a:t>NLP</a:t>
            </a:r>
            <a:r>
              <a:rPr lang="zh-CN" altLang="en-US" sz="2000" b="0" dirty="0">
                <a:latin typeface="+mn-ea"/>
                <a:ea typeface="+mn-ea"/>
              </a:rPr>
              <a:t>团队提出的</a:t>
            </a:r>
            <a:r>
              <a:rPr lang="en-US" altLang="zh-CN" sz="2000" b="0" dirty="0" err="1">
                <a:latin typeface="+mn-ea"/>
                <a:ea typeface="+mn-ea"/>
              </a:rPr>
              <a:t>AIAgent</a:t>
            </a:r>
            <a:r>
              <a:rPr lang="en-US" altLang="zh-CN" sz="2000" b="0" dirty="0">
                <a:latin typeface="+mn-ea"/>
                <a:ea typeface="+mn-ea"/>
              </a:rPr>
              <a:t> </a:t>
            </a:r>
            <a:r>
              <a:rPr lang="zh-CN" altLang="en-US" sz="2000" b="0" dirty="0">
                <a:latin typeface="+mn-ea"/>
                <a:ea typeface="+mn-ea"/>
              </a:rPr>
              <a:t>定义已经得到产学研等各界的认可。</a:t>
            </a:r>
            <a:br>
              <a:rPr lang="en-US" altLang="zh-CN" sz="2000" b="0" dirty="0">
                <a:latin typeface="+mn-lt"/>
              </a:rPr>
            </a:br>
            <a:endParaRPr lang="en-US" altLang="zh-CN" sz="2000" b="0" dirty="0">
              <a:latin typeface="+mn-lt"/>
            </a:endParaRPr>
          </a:p>
          <a:p>
            <a:r>
              <a:rPr lang="en-US" altLang="zh-CN" sz="2000" dirty="0">
                <a:latin typeface="+mn-lt"/>
              </a:rPr>
              <a:t>Al Agent</a:t>
            </a:r>
            <a:r>
              <a:rPr lang="zh-CN" altLang="en-US" sz="2000" dirty="0">
                <a:latin typeface="+mn-lt"/>
              </a:rPr>
              <a:t>是一种能够感知环境、进行决策和执行动作的智能实体。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定义</a:t>
            </a:r>
          </a:p>
        </p:txBody>
      </p:sp>
      <p:sp>
        <p:nvSpPr>
          <p:cNvPr id="2" name="矩形: 圆角 12"/>
          <p:cNvSpPr/>
          <p:nvPr/>
        </p:nvSpPr>
        <p:spPr>
          <a:xfrm>
            <a:off x="261257" y="1690914"/>
            <a:ext cx="8621486" cy="503645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725" y="2918560"/>
            <a:ext cx="4489761" cy="264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62093" y="1821672"/>
            <a:ext cx="3890796" cy="4483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接受外部输入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（例如用户查询）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结合短期和长期记忆进行推理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（例如利用 </a:t>
            </a:r>
            <a:r>
              <a:rPr lang="en-US" altLang="zh-CN" sz="1800" b="0" dirty="0" err="1">
                <a:solidFill>
                  <a:srgbClr val="2C2C36"/>
                </a:solidFill>
                <a:latin typeface="-apple-system"/>
              </a:rPr>
              <a:t>CoT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、</a:t>
            </a:r>
            <a:r>
              <a:rPr lang="en-US" altLang="zh-CN" sz="1800" b="0" dirty="0" err="1">
                <a:solidFill>
                  <a:srgbClr val="2C2C36"/>
                </a:solidFill>
                <a:latin typeface="-apple-system"/>
              </a:rPr>
              <a:t>ReAct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 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等推理框架）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调用外部工具或数据库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（如检索增强生成 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RAG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、搜索引擎、</a:t>
            </a:r>
            <a:r>
              <a:rPr lang="en-US" altLang="zh-CN" sz="1800" b="0" dirty="0">
                <a:solidFill>
                  <a:srgbClr val="2C2C36"/>
                </a:solidFill>
                <a:latin typeface="-apple-system"/>
              </a:rPr>
              <a:t>API 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接口等）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更新状态并决定下一步行动</a:t>
            </a:r>
            <a:r>
              <a:rPr lang="zh-CN" altLang="en-US" sz="1800" b="0" dirty="0">
                <a:solidFill>
                  <a:srgbClr val="C00000"/>
                </a:solidFill>
                <a:latin typeface="-apple-system"/>
              </a:rPr>
              <a:t>：</a:t>
            </a:r>
            <a:r>
              <a:rPr lang="zh-CN" altLang="en-US" sz="1800" b="0" dirty="0">
                <a:solidFill>
                  <a:srgbClr val="2C2C36"/>
                </a:solidFill>
                <a:latin typeface="-apple-system"/>
              </a:rPr>
              <a:t>（例如基于策略调整决策）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  <a:p>
            <a:pPr marL="233045" marR="3810" indent="-257175">
              <a:spcBef>
                <a:spcPts val="460"/>
              </a:spcBef>
              <a:buSzPct val="92000"/>
              <a:buFont typeface="Wingdings" panose="05000000000000000000" pitchFamily="2" charset="2"/>
              <a:buChar char="l"/>
              <a:tabLst>
                <a:tab pos="374650" algn="l"/>
              </a:tabLst>
            </a:pPr>
            <a:r>
              <a:rPr lang="zh-CN" altLang="en-US" sz="1800" dirty="0">
                <a:solidFill>
                  <a:srgbClr val="C00000"/>
                </a:solidFill>
                <a:latin typeface="-apple-system"/>
              </a:rPr>
              <a:t>持续执行，直到任务完成或达到终止条件。</a:t>
            </a:r>
            <a:endParaRPr lang="en-US" altLang="zh-CN" sz="1800" b="0" dirty="0">
              <a:solidFill>
                <a:srgbClr val="2C2C36"/>
              </a:solidFill>
              <a:latin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7340" y="1052753"/>
            <a:ext cx="396638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00" dirty="0">
                <a:latin typeface="+mn-ea"/>
                <a:ea typeface="+mn-ea"/>
              </a:rPr>
              <a:t>AI Agent</a:t>
            </a:r>
            <a:r>
              <a:rPr lang="zh-CN" altLang="en-US" sz="2600" dirty="0">
                <a:latin typeface="+mn-ea"/>
                <a:ea typeface="+mn-ea"/>
              </a:rPr>
              <a:t>运行过程</a:t>
            </a:r>
            <a:endParaRPr lang="zh-CN" altLang="en-US" sz="2600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</a:t>
            </a:r>
            <a:r>
              <a:rPr lang="en-US" altLang="zh-CN" dirty="0"/>
              <a:t>AI Agent</a:t>
            </a:r>
            <a:r>
              <a:rPr lang="zh-CN" altLang="en-US" dirty="0"/>
              <a:t>基本组件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dirty="0"/>
              <a:t>记忆机制</a:t>
            </a: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工具使用</a:t>
            </a:r>
            <a:endParaRPr lang="en-US" altLang="zh-CN" dirty="0"/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5" name="矩形: 圆角 12"/>
          <p:cNvSpPr/>
          <p:nvPr/>
        </p:nvSpPr>
        <p:spPr>
          <a:xfrm>
            <a:off x="86388" y="2810066"/>
            <a:ext cx="8789981" cy="383747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54058" y="1037251"/>
            <a:ext cx="85223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b="0" dirty="0">
                <a:latin typeface="+mn-ea"/>
                <a:ea typeface="+mn-ea"/>
              </a:rPr>
              <a:t>规划是人类在面对复杂挑战时采用的一种关键策略。通过规划，</a:t>
            </a:r>
            <a:r>
              <a:rPr lang="en-US" altLang="zh-CN" b="0" dirty="0">
                <a:latin typeface="+mn-ea"/>
                <a:ea typeface="+mn-ea"/>
              </a:rPr>
              <a:t>Agent</a:t>
            </a:r>
            <a:r>
              <a:rPr lang="zh-CN" altLang="en-US" b="0" dirty="0">
                <a:latin typeface="+mn-ea"/>
                <a:ea typeface="+mn-ea"/>
              </a:rPr>
              <a:t>可将复杂的任务分解为更易于管理的子任务，并为每个子任务制定适当的计划。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10" name="AutoShape 2"/>
          <p:cNvSpPr>
            <a:spLocks noChangeAspect="1" noChangeArrowheads="1"/>
          </p:cNvSpPr>
          <p:nvPr/>
        </p:nvSpPr>
        <p:spPr bwMode="auto">
          <a:xfrm>
            <a:off x="5217316" y="356662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67631" y="5013448"/>
            <a:ext cx="8173655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规划（</a:t>
            </a:r>
            <a:r>
              <a:rPr lang="en-US" altLang="zh-CN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Planning</a:t>
            </a: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）：</a:t>
            </a:r>
            <a:endParaRPr lang="en-US" altLang="zh-CN" sz="2000" b="0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b="0" i="0" dirty="0">
                <a:effectLst/>
                <a:latin typeface="+mn-ea"/>
                <a:ea typeface="+mn-ea"/>
              </a:rPr>
              <a:t>规划则是指在特定目标或任务的引导下，设计和选择执行步骤的过程。</a:t>
            </a:r>
            <a:endParaRPr lang="en-US" altLang="zh-CN" b="0" i="0" dirty="0">
              <a:effectLst/>
              <a:latin typeface="+mn-ea"/>
              <a:ea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631" y="3449267"/>
            <a:ext cx="7526540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推理（</a:t>
            </a:r>
            <a:r>
              <a:rPr lang="en-US" altLang="zh-CN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Reasoning</a:t>
            </a:r>
            <a:r>
              <a:rPr lang="zh-CN" altLang="en-US" sz="2000" b="0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）：</a:t>
            </a:r>
            <a:endParaRPr lang="en-US" altLang="zh-CN" sz="2000" b="0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b="0" i="0" dirty="0">
                <a:effectLst/>
                <a:latin typeface="+mn-ea"/>
                <a:ea typeface="+mn-ea"/>
              </a:rPr>
              <a:t>推理指的是从已有的知识或信息出发，进行思考、分析和推导，得出新的结论或判断。</a:t>
            </a:r>
            <a:endParaRPr lang="en-US" altLang="zh-CN" b="0" dirty="0">
              <a:latin typeface="+mn-ea"/>
              <a:ea typeface="+mn-ea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2904427"/>
            <a:ext cx="4220316" cy="643537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25400">
            <a:solidFill>
              <a:schemeClr val="bg1"/>
            </a:soli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ym typeface="+mn-ea"/>
              </a:rPr>
              <a:t>规划的核心是推理能力</a:t>
            </a:r>
          </a:p>
        </p:txBody>
      </p:sp>
      <p:sp>
        <p:nvSpPr>
          <p:cNvPr id="16" name="矩形 15"/>
          <p:cNvSpPr/>
          <p:nvPr/>
        </p:nvSpPr>
        <p:spPr>
          <a:xfrm>
            <a:off x="29588" y="2366853"/>
            <a:ext cx="51877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610"/>
              </a:spcBef>
              <a:buSzPct val="92000"/>
              <a:tabLst>
                <a:tab pos="499745" algn="l"/>
              </a:tabLst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cs typeface="+mn-ea"/>
              </a:rPr>
              <a:t>推理和规划的关系：</a:t>
            </a:r>
            <a:endParaRPr lang="en-US" altLang="zh-CN" sz="2400" b="1" i="0" dirty="0">
              <a:solidFill>
                <a:srgbClr val="C00000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4" y="908050"/>
            <a:ext cx="8780053" cy="5400675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1"/>
          <p:cNvSpPr txBox="1"/>
          <p:nvPr/>
        </p:nvSpPr>
        <p:spPr bwMode="auto">
          <a:xfrm>
            <a:off x="301759" y="1961787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只利用提示工程（</a:t>
            </a:r>
            <a:r>
              <a:rPr lang="en-US" altLang="zh-CN" sz="2800" b="0" dirty="0"/>
              <a:t>Prompting</a:t>
            </a:r>
            <a:r>
              <a:rPr lang="zh-CN" altLang="en-US" sz="2800" b="0" dirty="0"/>
              <a:t>）</a:t>
            </a:r>
            <a:endParaRPr lang="en-US" altLang="zh-CN" sz="2800" b="0" dirty="0"/>
          </a:p>
          <a:p>
            <a:pPr lvl="1"/>
            <a:r>
              <a:rPr lang="zh-CN" altLang="en-US" sz="2400" b="0" dirty="0">
                <a:solidFill>
                  <a:schemeClr val="tx1"/>
                </a:solidFill>
              </a:rPr>
              <a:t>通过改进输入提示（</a:t>
            </a:r>
            <a:r>
              <a:rPr lang="en-US" altLang="zh-CN" sz="2400" b="0" dirty="0">
                <a:solidFill>
                  <a:schemeClr val="tx1"/>
                </a:solidFill>
              </a:rPr>
              <a:t>prompts</a:t>
            </a:r>
            <a:r>
              <a:rPr lang="zh-CN" altLang="en-US" sz="2400" b="0" dirty="0">
                <a:solidFill>
                  <a:schemeClr val="tx1"/>
                </a:solidFill>
              </a:rPr>
              <a:t>）可以在一定程度上激发或引导 </a:t>
            </a:r>
            <a:r>
              <a:rPr lang="en-US" altLang="zh-CN" sz="2400" b="0" dirty="0">
                <a:solidFill>
                  <a:schemeClr val="tx1"/>
                </a:solidFill>
              </a:rPr>
              <a:t>LLM </a:t>
            </a:r>
            <a:r>
              <a:rPr lang="zh-CN" altLang="en-US" sz="2400" b="0" dirty="0">
                <a:solidFill>
                  <a:schemeClr val="tx1"/>
                </a:solidFill>
              </a:rPr>
              <a:t>产生更好的推理结果</a:t>
            </a:r>
            <a:endParaRPr lang="en-US" altLang="zh-CN" sz="2400" b="0" dirty="0">
              <a:solidFill>
                <a:schemeClr val="tx1"/>
              </a:solidFill>
            </a:endParaRPr>
          </a:p>
          <a:p>
            <a:r>
              <a:rPr lang="zh-CN" altLang="en-US" b="0" dirty="0"/>
              <a:t>改进模型</a:t>
            </a:r>
            <a:r>
              <a:rPr lang="en-US" altLang="zh-CN" b="0" dirty="0"/>
              <a:t>/</a:t>
            </a:r>
            <a:r>
              <a:rPr lang="zh-CN" altLang="en-US" b="0" dirty="0"/>
              <a:t>系统结构</a:t>
            </a:r>
            <a:endParaRPr lang="en-US" altLang="zh-CN" b="0" dirty="0"/>
          </a:p>
          <a:p>
            <a:pPr lvl="1"/>
            <a:r>
              <a:rPr lang="zh-CN" altLang="en-US" b="0" dirty="0">
                <a:solidFill>
                  <a:schemeClr val="tx1"/>
                </a:solidFill>
              </a:rPr>
              <a:t>对模型结构 ​本身进行修饰、扩展或重组</a:t>
            </a:r>
            <a:endParaRPr lang="en-US" altLang="zh-CN" b="0" dirty="0">
              <a:solidFill>
                <a:schemeClr val="tx1"/>
              </a:solidFill>
            </a:endParaRPr>
          </a:p>
          <a:p>
            <a:r>
              <a:rPr lang="zh-CN" altLang="en-US" b="0" dirty="0"/>
              <a:t>改进学习范式</a:t>
            </a:r>
          </a:p>
          <a:p>
            <a:pPr lvl="1"/>
            <a:r>
              <a:rPr lang="zh-CN" altLang="en-US" b="0" dirty="0">
                <a:solidFill>
                  <a:schemeClr val="tx1"/>
                </a:solidFill>
              </a:rPr>
              <a:t>不大幅改变已有的大型语言模型结构，而是​调整或新设计训练</a:t>
            </a:r>
            <a:r>
              <a:rPr lang="en-US" altLang="zh-CN" b="0" dirty="0">
                <a:solidFill>
                  <a:schemeClr val="tx1"/>
                </a:solidFill>
              </a:rPr>
              <a:t>/</a:t>
            </a:r>
            <a:r>
              <a:rPr lang="zh-CN" altLang="en-US" b="0" dirty="0">
                <a:solidFill>
                  <a:schemeClr val="tx1"/>
                </a:solidFill>
              </a:rPr>
              <a:t>学习方法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49942" y="1204086"/>
            <a:ext cx="45865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ea"/>
                <a:ea typeface="+mn-ea"/>
              </a:rPr>
              <a:t>Agent</a:t>
            </a:r>
            <a:r>
              <a:rPr lang="zh-CN" altLang="en-US" sz="2600" dirty="0">
                <a:latin typeface="+mn-ea"/>
                <a:ea typeface="+mn-ea"/>
              </a:rPr>
              <a:t>中提升推理</a:t>
            </a:r>
            <a:r>
              <a:rPr lang="en-US" altLang="zh-CN" sz="2600" dirty="0">
                <a:latin typeface="+mn-ea"/>
                <a:ea typeface="+mn-ea"/>
              </a:rPr>
              <a:t>/</a:t>
            </a:r>
            <a:r>
              <a:rPr lang="zh-CN" altLang="en-US" sz="2600" dirty="0">
                <a:latin typeface="+mn-ea"/>
                <a:ea typeface="+mn-ea"/>
              </a:rPr>
              <a:t>规划的方法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2"/>
          <p:cNvSpPr/>
          <p:nvPr/>
        </p:nvSpPr>
        <p:spPr>
          <a:xfrm>
            <a:off x="272619" y="4429730"/>
            <a:ext cx="8723925" cy="1937617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5" name="矩形: 圆角 12"/>
          <p:cNvSpPr/>
          <p:nvPr/>
        </p:nvSpPr>
        <p:spPr>
          <a:xfrm>
            <a:off x="272620" y="920455"/>
            <a:ext cx="6973160" cy="2278172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12"/>
          <p:cNvSpPr/>
          <p:nvPr/>
        </p:nvSpPr>
        <p:spPr>
          <a:xfrm>
            <a:off x="244392" y="3353907"/>
            <a:ext cx="4197311" cy="907482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抗生素是</a:t>
            </a:r>
          </a:p>
        </p:txBody>
      </p:sp>
      <p:sp>
        <p:nvSpPr>
          <p:cNvPr id="7" name="矩形 6"/>
          <p:cNvSpPr/>
          <p:nvPr/>
        </p:nvSpPr>
        <p:spPr>
          <a:xfrm>
            <a:off x="284823" y="1359331"/>
            <a:ext cx="6948753" cy="1525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”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是坦桑尼亚的一种小型毛茸茸的动物。一个使用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这个词的句子的例子是：</a:t>
            </a:r>
          </a:p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我们在非洲旅行时看到了这些非常可爱的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whatpus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farduddle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”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是指快速跳上跳下。一个使用</a:t>
            </a:r>
            <a:r>
              <a:rPr lang="en-US" altLang="zh-CN" sz="1600" b="0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farduddle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这个词的句子的例子是：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742" y="3682947"/>
            <a:ext cx="5116569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当我们赢得比赛时，我们都开始庆祝跳跃。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-156827" y="947960"/>
            <a:ext cx="1185115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0" i="1" dirty="0">
                <a:solidFill>
                  <a:srgbClr val="334155"/>
                </a:solidFill>
                <a:effectLst/>
                <a:latin typeface="ui-sans-serif"/>
              </a:rPr>
              <a:t>提示词：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-156827" y="3353907"/>
            <a:ext cx="4819254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i="1" dirty="0">
                <a:solidFill>
                  <a:srgbClr val="334155"/>
                </a:solidFill>
                <a:latin typeface="ui-sans-serif"/>
              </a:rPr>
              <a:t>输出</a:t>
            </a:r>
            <a:r>
              <a:rPr lang="zh-CN" altLang="en-US" sz="1600" b="0" i="1" dirty="0">
                <a:solidFill>
                  <a:srgbClr val="334155"/>
                </a:solidFill>
                <a:effectLst/>
                <a:latin typeface="ui-sans-serif"/>
              </a:rPr>
              <a:t>：</a:t>
            </a:r>
            <a:endParaRPr lang="zh-CN" alt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359854" y="4429730"/>
            <a:ext cx="39663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>
                <a:latin typeface="+mn-ea"/>
                <a:ea typeface="+mn-ea"/>
              </a:rPr>
              <a:t>提示词为什么有效？</a:t>
            </a:r>
            <a:endParaRPr lang="zh-CN" altLang="en-US" sz="2200" dirty="0">
              <a:latin typeface="+mn-lt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23346" y="5048935"/>
          <a:ext cx="2912566" cy="86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052000" imgH="10363200" progId="Equation.DSMT4">
                  <p:embed/>
                </p:oleObj>
              </mc:Choice>
              <mc:Fallback>
                <p:oleObj name="Equation" r:id="rId3" imgW="35052000" imgH="103632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3346" y="5048935"/>
                        <a:ext cx="2912566" cy="861105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3535912" y="5209349"/>
            <a:ext cx="6110514" cy="540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300" b="1" dirty="0">
                <a:solidFill>
                  <a:srgbClr val="003366"/>
                </a:solidFill>
                <a:latin typeface="+mn-ea"/>
                <a:ea typeface="+mn-ea"/>
              </a:rPr>
              <a:t>可以重构分布，提高目标输出概率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10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1175057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dirty="0">
                <a:latin typeface="+mn-ea"/>
                <a:ea typeface="+mn-ea"/>
              </a:rPr>
              <a:t>通过</a:t>
            </a:r>
            <a:r>
              <a:rPr lang="en-US" altLang="zh-CN" sz="2600" dirty="0">
                <a:latin typeface="+mn-ea"/>
                <a:ea typeface="+mn-ea"/>
              </a:rPr>
              <a:t>prompt</a:t>
            </a:r>
            <a:r>
              <a:rPr lang="zh-CN" altLang="en-US" sz="2600" dirty="0">
                <a:latin typeface="+mn-ea"/>
                <a:ea typeface="+mn-ea"/>
              </a:rPr>
              <a:t>的方法提高</a:t>
            </a:r>
            <a:r>
              <a:rPr lang="en-US" altLang="zh-CN" sz="2600" dirty="0">
                <a:latin typeface="+mn-ea"/>
                <a:ea typeface="+mn-ea"/>
              </a:rPr>
              <a:t>Agent</a:t>
            </a:r>
            <a:r>
              <a:rPr lang="zh-CN" altLang="en-US" sz="2600" dirty="0">
                <a:latin typeface="+mn-ea"/>
                <a:ea typeface="+mn-ea"/>
              </a:rPr>
              <a:t>的推理</a:t>
            </a:r>
            <a:r>
              <a:rPr lang="en-US" altLang="zh-CN" sz="2600" dirty="0">
                <a:latin typeface="+mn-ea"/>
                <a:ea typeface="+mn-ea"/>
              </a:rPr>
              <a:t>/</a:t>
            </a:r>
            <a:r>
              <a:rPr lang="zh-CN" altLang="en-US" sz="2600" dirty="0">
                <a:latin typeface="+mn-ea"/>
                <a:ea typeface="+mn-ea"/>
              </a:rPr>
              <a:t>规划能力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42" y="3002977"/>
            <a:ext cx="8472516" cy="319505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74170" y="1919740"/>
            <a:ext cx="796642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dirty="0">
                <a:latin typeface="+mn-ea"/>
                <a:ea typeface="+mn-ea"/>
              </a:rPr>
              <a:t>通过精心设计的 </a:t>
            </a:r>
            <a:r>
              <a:rPr lang="en-US" altLang="zh-CN" sz="2400" b="0" dirty="0">
                <a:latin typeface="+mn-ea"/>
                <a:ea typeface="+mn-ea"/>
              </a:rPr>
              <a:t>prompt</a:t>
            </a:r>
            <a:r>
              <a:rPr lang="zh-CN" altLang="en-US" sz="2400" b="0" dirty="0">
                <a:latin typeface="+mn-ea"/>
                <a:ea typeface="+mn-ea"/>
              </a:rPr>
              <a:t>，我们可以引导语言模型进行分步骤思考、自我验证甚至反思决策</a:t>
            </a:r>
            <a:endParaRPr lang="zh-CN" altLang="en-US" b="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1175057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Chain-of-Thought</a:t>
            </a:r>
          </a:p>
        </p:txBody>
      </p:sp>
      <p:sp>
        <p:nvSpPr>
          <p:cNvPr id="6" name="内容占位符 1"/>
          <p:cNvSpPr txBox="1"/>
          <p:nvPr/>
        </p:nvSpPr>
        <p:spPr bwMode="auto">
          <a:xfrm>
            <a:off x="132957" y="1831158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逐步采样中间推理步骤</a:t>
            </a:r>
          </a:p>
          <a:p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计算最终答案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1681" y="2494569"/>
          <a:ext cx="3705150" cy="703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80000" imgH="5791200" progId="Equation.DSMT4">
                  <p:embed/>
                </p:oleObj>
              </mc:Choice>
              <mc:Fallback>
                <p:oleObj name="Equation" r:id="rId3" imgW="30480000" imgH="5791200" progId="Equation.DSMT4">
                  <p:embed/>
                  <p:pic>
                    <p:nvPicPr>
                      <p:cNvPr id="0" name="对象 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681" y="2494569"/>
                        <a:ext cx="3705150" cy="703978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5819" y="4098930"/>
          <a:ext cx="2706508" cy="61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98400" imgH="5791200" progId="Equation.DSMT4">
                  <p:embed/>
                </p:oleObj>
              </mc:Choice>
              <mc:Fallback>
                <p:oleObj name="Equation" r:id="rId5" imgW="25298400" imgH="5791200" progId="Equation.DSMT4">
                  <p:embed/>
                  <p:pic>
                    <p:nvPicPr>
                      <p:cNvPr id="0" name="对象 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819" y="4098930"/>
                        <a:ext cx="2706508" cy="619562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Chain-of-Thought</a:t>
            </a:r>
          </a:p>
        </p:txBody>
      </p:sp>
      <p:sp>
        <p:nvSpPr>
          <p:cNvPr id="14" name="矩形: 圆角 12"/>
          <p:cNvSpPr/>
          <p:nvPr>
            <p:custDataLst>
              <p:tags r:id="rId1"/>
            </p:custDataLst>
          </p:nvPr>
        </p:nvSpPr>
        <p:spPr>
          <a:xfrm>
            <a:off x="309245" y="2950845"/>
            <a:ext cx="7126605" cy="57848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矩形: 圆角 20"/>
          <p:cNvSpPr/>
          <p:nvPr>
            <p:custDataLst>
              <p:tags r:id="rId2"/>
            </p:custDataLst>
          </p:nvPr>
        </p:nvSpPr>
        <p:spPr>
          <a:xfrm>
            <a:off x="243840" y="1428750"/>
            <a:ext cx="8513445" cy="1337310"/>
          </a:xfrm>
          <a:prstGeom prst="roundRect">
            <a:avLst>
              <a:gd name="adj" fmla="val 15950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400" dirty="0">
              <a:solidFill>
                <a:srgbClr val="FF0000"/>
              </a:solidFill>
              <a:ea typeface="造字工房典黑体" panose="020B0600000000000000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243840" y="1374775"/>
            <a:ext cx="8317865" cy="13906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现在有这样的一个问题：”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我去市场买了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10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个苹果。我给了邻居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2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个苹果和修理工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2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个苹果。然后我去买了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5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个苹果并吃了 </a:t>
            </a:r>
            <a:r>
              <a:rPr lang="en-US" altLang="zh-CN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1 </a:t>
            </a:r>
            <a:r>
              <a:rPr lang="zh-CN" altLang="en-US" sz="2000" b="1" dirty="0">
                <a:solidFill>
                  <a:srgbClr val="C00000"/>
                </a:solidFill>
                <a:cs typeface="+mn-ea"/>
                <a:sym typeface="微软雅黑" panose="020B0503020204020204" pitchFamily="34" charset="-122"/>
              </a:rPr>
              <a:t>个。我还剩下多少苹果？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“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243840" y="2909570"/>
            <a:ext cx="11300460" cy="499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最基本的 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IO 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方法会直接回答答案，如回答 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11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20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-291173" y="3651083"/>
            <a:ext cx="11300460" cy="50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CoT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方法在提示词输入时，给出</a:t>
            </a:r>
            <a:r>
              <a:rPr lang="en-US" altLang="zh-CN" sz="2000" b="1" dirty="0" err="1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CoT</a:t>
            </a:r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的形式输入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&lt;</a:t>
            </a:r>
            <a:r>
              <a:rPr lang="zh-CN" altLang="en-US" sz="2000" b="0" i="0" dirty="0">
                <a:solidFill>
                  <a:srgbClr val="191B1F"/>
                </a:solidFill>
                <a:effectLst/>
                <a:latin typeface="-apple-system"/>
              </a:rPr>
              <a:t>输入，思维链，输出</a:t>
            </a:r>
            <a:r>
              <a:rPr lang="en-US" altLang="zh-CN" sz="2000" b="0" i="0" dirty="0">
                <a:solidFill>
                  <a:srgbClr val="191B1F"/>
                </a:solidFill>
                <a:effectLst/>
                <a:latin typeface="-apple-system"/>
              </a:rPr>
              <a:t>&gt;</a:t>
            </a:r>
            <a:r>
              <a:rPr lang="zh-CN" altLang="en-US" sz="2000" b="1" i="0" dirty="0">
                <a:solidFill>
                  <a:srgbClr val="191B1F"/>
                </a:solidFill>
                <a:effectLst/>
                <a:latin typeface="-apple-system"/>
              </a:rPr>
              <a:t>示例</a:t>
            </a:r>
            <a:endParaRPr lang="en-US" altLang="zh-CN" sz="2000" b="1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" name="矩形: 圆角 12"/>
          <p:cNvSpPr/>
          <p:nvPr>
            <p:custDataLst>
              <p:tags r:id="rId6"/>
            </p:custDataLst>
          </p:nvPr>
        </p:nvSpPr>
        <p:spPr>
          <a:xfrm>
            <a:off x="173990" y="4398010"/>
            <a:ext cx="8743950" cy="162623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73990" y="4347210"/>
            <a:ext cx="8936355" cy="18281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>
              <a:lnSpc>
                <a:spcPct val="150000"/>
              </a:lnSpc>
            </a:pPr>
            <a:r>
              <a:rPr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从 10 个 苹 果 开 始 。2 个给 了 邻 居 和 修 理 工 各 2 个 苹 果 ， 还 剩 下 6 个 苹 果 。然 后 您 买 了 5 个 苹 果 ， 所 以 现 在 您 有 11 个 苹 果 。 最 后 ， 您 吃 了 1 个 苹 果 。 答案是10个苹果。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2895" y="1102667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Self-consistency</a:t>
            </a:r>
          </a:p>
        </p:txBody>
      </p:sp>
      <p:sp>
        <p:nvSpPr>
          <p:cNvPr id="6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32957" y="1831158"/>
            <a:ext cx="8678181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0" dirty="0"/>
              <a:t>K次思维链采样</a:t>
            </a:r>
          </a:p>
          <a:p>
            <a:endParaRPr lang="zh-CN" altLang="en-US" sz="2800" b="0" dirty="0"/>
          </a:p>
          <a:p>
            <a:endParaRPr lang="en-US" altLang="zh-CN" b="0" dirty="0"/>
          </a:p>
          <a:p>
            <a:r>
              <a:rPr lang="zh-CN" altLang="en-US" b="0" dirty="0"/>
              <a:t>多数投票选择最终答案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465873" y="2500613"/>
          <a:ext cx="5830503" cy="595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6692800" imgH="5791200" progId="Equation.DSMT4">
                  <p:embed/>
                </p:oleObj>
              </mc:Choice>
              <mc:Fallback>
                <p:oleObj name="Equation" r:id="rId6" imgW="56692800" imgH="5791200" progId="Equation.DSMT4">
                  <p:embed/>
                  <p:pic>
                    <p:nvPicPr>
                      <p:cNvPr id="0" name="对象 2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5873" y="2500613"/>
                        <a:ext cx="5830503" cy="595589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66038" y="4262828"/>
          <a:ext cx="3183071" cy="8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148000" imgH="10363200" progId="Equation.DSMT4">
                  <p:embed/>
                </p:oleObj>
              </mc:Choice>
              <mc:Fallback>
                <p:oleObj name="Equation" r:id="rId8" imgW="41148000" imgH="10363200" progId="Equation.DSMT4">
                  <p:embed/>
                  <p:pic>
                    <p:nvPicPr>
                      <p:cNvPr id="0" name="对象 2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6038" y="4262828"/>
                        <a:ext cx="3183071" cy="801663"/>
                      </a:xfrm>
                      <a:prstGeom prst="rect">
                        <a:avLst/>
                      </a:prstGeom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14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Self-consistency</a:t>
            </a:r>
          </a:p>
        </p:txBody>
      </p:sp>
      <p:sp>
        <p:nvSpPr>
          <p:cNvPr id="39" name="矩形: 圆角 38"/>
          <p:cNvSpPr/>
          <p:nvPr>
            <p:custDataLst>
              <p:tags r:id="rId1"/>
            </p:custDataLst>
          </p:nvPr>
        </p:nvSpPr>
        <p:spPr>
          <a:xfrm>
            <a:off x="656590" y="1706880"/>
            <a:ext cx="8340090" cy="652780"/>
          </a:xfrm>
          <a:prstGeom prst="roundRect">
            <a:avLst>
              <a:gd name="adj" fmla="val 15950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zh-CN" altLang="en-US" sz="2400" dirty="0">
              <a:solidFill>
                <a:srgbClr val="FF0000"/>
              </a:solidFill>
              <a:ea typeface="造字工房典黑体" panose="020B0600000000000000" pitchFamily="34" charset="-122"/>
            </a:endParaRPr>
          </a:p>
        </p:txBody>
      </p:sp>
      <p:sp>
        <p:nvSpPr>
          <p:cNvPr id="26" name="矩形: 圆角 12"/>
          <p:cNvSpPr/>
          <p:nvPr>
            <p:custDataLst>
              <p:tags r:id="rId2"/>
            </p:custDataLst>
          </p:nvPr>
        </p:nvSpPr>
        <p:spPr>
          <a:xfrm>
            <a:off x="656590" y="2825750"/>
            <a:ext cx="8340725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58115" y="1259167"/>
            <a:ext cx="1089951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输入：</a:t>
            </a:r>
            <a:endParaRPr lang="en-US" altLang="zh-CN" sz="1600" b="1" dirty="0"/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74006" y="1744295"/>
            <a:ext cx="9560780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 我 的 妹 妹多 大 ？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42623" y="2395074"/>
            <a:ext cx="10899518" cy="417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输出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：</a:t>
            </a:r>
            <a:endParaRPr lang="en-US" altLang="zh-CN" sz="1600" b="1" dirty="0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574675" y="2813050"/>
            <a:ext cx="77444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，所 以 她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70 -3 = 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 </a:t>
            </a:r>
          </a:p>
        </p:txBody>
      </p:sp>
      <p:sp>
        <p:nvSpPr>
          <p:cNvPr id="27" name="矩形: 圆角 12"/>
          <p:cNvSpPr/>
          <p:nvPr>
            <p:custDataLst>
              <p:tags r:id="rId7"/>
            </p:custDataLst>
          </p:nvPr>
        </p:nvSpPr>
        <p:spPr>
          <a:xfrm>
            <a:off x="656590" y="4199890"/>
            <a:ext cx="8340725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574675" y="4187190"/>
            <a:ext cx="794766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当 叙 述 者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他 的 妹 妹 是 他 年 龄 的 一 半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叙 述 者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 他 的 妹 妹 应 该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70 -3 = 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highlight>
                <a:srgbClr val="FFFF00"/>
              </a:highlight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0" name="矩形: 圆角 12"/>
          <p:cNvSpPr/>
          <p:nvPr>
            <p:custDataLst>
              <p:tags r:id="rId9"/>
            </p:custDataLst>
          </p:nvPr>
        </p:nvSpPr>
        <p:spPr>
          <a:xfrm>
            <a:off x="640715" y="5444490"/>
            <a:ext cx="8356600" cy="78676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 31"/>
          <p:cNvSpPr/>
          <p:nvPr>
            <p:custDataLst>
              <p:tags r:id="rId10"/>
            </p:custDataLst>
          </p:nvPr>
        </p:nvSpPr>
        <p:spPr>
          <a:xfrm>
            <a:off x="558800" y="5431790"/>
            <a:ext cx="843851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当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时 ， 我 的 妹 妹 是 我 的 一 半 年 龄 ， 也 就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现 在 我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了 ，所 以 她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 / 2 = 35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岁 。 答 案 是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35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8" name="左中括号 37"/>
          <p:cNvSpPr/>
          <p:nvPr>
            <p:custDataLst>
              <p:tags r:id="rId11"/>
            </p:custDataLst>
          </p:nvPr>
        </p:nvSpPr>
        <p:spPr>
          <a:xfrm>
            <a:off x="396875" y="3140710"/>
            <a:ext cx="63500" cy="1549400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574988" y="3721879"/>
            <a:ext cx="383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所以最终的答案为</a:t>
            </a:r>
            <a:r>
              <a:rPr lang="en-US" altLang="zh-CN" sz="2000" b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微软雅黑" panose="020B0503020204020204" pitchFamily="34" charset="-122"/>
              </a:rPr>
              <a:t>67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pic>
        <p:nvPicPr>
          <p:cNvPr id="37" name="图形 36" descr="微笑的脸轮廓 纯色填充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24" y="3599892"/>
            <a:ext cx="646796" cy="64679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ReAct</a:t>
            </a:r>
          </a:p>
        </p:txBody>
      </p:sp>
      <p:sp>
        <p:nvSpPr>
          <p:cNvPr id="16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95885" y="1692275"/>
            <a:ext cx="4349115" cy="4246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/>
              <a:t>ReAct</a:t>
            </a:r>
            <a:r>
              <a:rPr lang="zh-CN" altLang="en-US" sz="2000" dirty="0"/>
              <a:t>执行流程：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任务理解：首先对任务进行理解，提取关键信息。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推理阶段：对任务进行推理以生可能的解决方案或路径。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行动阶段：</a:t>
            </a:r>
            <a:r>
              <a:rPr lang="en-US" altLang="zh-CN" sz="2000" b="0" dirty="0" err="1"/>
              <a:t>ReAct</a:t>
            </a:r>
            <a:r>
              <a:rPr lang="zh-CN" altLang="en-US" sz="2000" b="0" dirty="0"/>
              <a:t>框架根据推理的结果采取实际的行动。。</a:t>
            </a:r>
            <a:endParaRPr lang="en-US" altLang="zh-CN" sz="2000" b="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 b="0" dirty="0"/>
              <a:t>反馈和调整：一旦采取行动后，系统会根据反馈调整策略。</a:t>
            </a:r>
            <a:endParaRPr lang="en-US" altLang="zh-CN" sz="2000" b="0" dirty="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6000819" y="3664770"/>
            <a:ext cx="1143000" cy="619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LM</a:t>
            </a:r>
            <a:endParaRPr lang="zh-CN" altLang="en-US" dirty="0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7727318" y="3664411"/>
            <a:ext cx="1143000" cy="619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Env</a:t>
            </a:r>
            <a:endParaRPr lang="zh-CN" altLang="en-US" dirty="0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6709203" y="4654479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6572319" y="2681801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行动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cxnSp>
        <p:nvCxnSpPr>
          <p:cNvPr id="13" name="连接符: 曲线 26"/>
          <p:cNvCxnSpPr>
            <a:stCxn id="8" idx="2"/>
            <a:endCxn id="7" idx="2"/>
          </p:cNvCxnSpPr>
          <p:nvPr>
            <p:custDataLst>
              <p:tags r:id="rId7"/>
            </p:custDataLst>
          </p:nvPr>
        </p:nvCxnSpPr>
        <p:spPr>
          <a:xfrm rot="5400000">
            <a:off x="7435390" y="3420804"/>
            <a:ext cx="359" cy="1726499"/>
          </a:xfrm>
          <a:prstGeom prst="curvedConnector3">
            <a:avLst>
              <a:gd name="adj1" fmla="val 12037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37"/>
          <p:cNvCxnSpPr>
            <a:stCxn id="7" idx="0"/>
            <a:endCxn id="8" idx="0"/>
          </p:cNvCxnSpPr>
          <p:nvPr>
            <p:custDataLst>
              <p:tags r:id="rId8"/>
            </p:custDataLst>
          </p:nvPr>
        </p:nvCxnSpPr>
        <p:spPr>
          <a:xfrm rot="5400000" flipH="1" flipV="1">
            <a:off x="7435389" y="2801342"/>
            <a:ext cx="359" cy="1726499"/>
          </a:xfrm>
          <a:prstGeom prst="curvedConnector3">
            <a:avLst>
              <a:gd name="adj1" fmla="val 13099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43"/>
          <p:cNvCxnSpPr/>
          <p:nvPr>
            <p:custDataLst>
              <p:tags r:id="rId9"/>
            </p:custDataLst>
          </p:nvPr>
        </p:nvCxnSpPr>
        <p:spPr>
          <a:xfrm rot="5400000">
            <a:off x="5411087" y="3420113"/>
            <a:ext cx="359" cy="1726499"/>
          </a:xfrm>
          <a:prstGeom prst="curvedConnector3">
            <a:avLst>
              <a:gd name="adj1" fmla="val 120378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46"/>
          <p:cNvCxnSpPr/>
          <p:nvPr>
            <p:custDataLst>
              <p:tags r:id="rId10"/>
            </p:custDataLst>
          </p:nvPr>
        </p:nvCxnSpPr>
        <p:spPr>
          <a:xfrm rot="5400000" flipH="1" flipV="1">
            <a:off x="5411088" y="2782346"/>
            <a:ext cx="359" cy="1726499"/>
          </a:xfrm>
          <a:prstGeom prst="curvedConnector3">
            <a:avLst>
              <a:gd name="adj1" fmla="val 1309913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3998083" y="3665354"/>
            <a:ext cx="2002621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推理轨迹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12"/>
          <p:cNvSpPr/>
          <p:nvPr>
            <p:custDataLst>
              <p:tags r:id="rId1"/>
            </p:custDataLst>
          </p:nvPr>
        </p:nvSpPr>
        <p:spPr>
          <a:xfrm>
            <a:off x="-635" y="1463675"/>
            <a:ext cx="9144000" cy="48044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16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ReAct</a:t>
            </a: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-370840" y="1362075"/>
            <a:ext cx="1023810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b="1" dirty="0"/>
              <a:t>输入与输出：</a:t>
            </a:r>
            <a:endParaRPr lang="en-US" altLang="zh-CN" sz="1600" b="1" dirty="0"/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-472440" y="1901825"/>
            <a:ext cx="10182860" cy="390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问题： 科罗拉多造山带东部区域延伸到的区域的海拔范围是多少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?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我需要搜索科罗拉多造山带，找到科罗拉多造山带东段延伸的区域，然后找到该区域的海拔范围。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科罗拉多造山带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科罗拉多造山带是科罗拉多及其周边地区造山运动的一段。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它没有提到东部地区。所以我需要查一下东部地区。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调用工具查找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东部地区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 (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结果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 / 1)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东部区域延伸至高平原，称为中原造山带。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科罗拉多造山运动的东部区域延伸到高平原。所以我需要搜索高平原，找到它的海拔范围。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调用工具搜索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3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高平原指的是两个截然不同的陆地区域之一。</a:t>
            </a:r>
            <a:endParaRPr lang="en-US" altLang="zh-CN" sz="1500" b="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我需要搜索高平原（美国）操作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搜索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高平原（美国）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4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高平原是大平原的一个分区。从东到西，高平原的海拔从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(550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2130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米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)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不等。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[3]</a:t>
            </a:r>
          </a:p>
          <a:p>
            <a:pPr indent="457200">
              <a:lnSpc>
                <a:spcPct val="150000"/>
              </a:lnSpc>
            </a:pP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5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高平原海拔高度从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英尺，所以答案是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英尺。操作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5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结束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[1800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到 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7000 </a:t>
            </a:r>
            <a:r>
              <a:rPr lang="zh-CN" altLang="en-US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英尺</a:t>
            </a:r>
            <a:r>
              <a:rPr lang="en-US" altLang="zh-CN" sz="15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]...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17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Reflection</a:t>
            </a:r>
          </a:p>
        </p:txBody>
      </p:sp>
      <p:pic>
        <p:nvPicPr>
          <p:cNvPr id="5126" name="Picture 6" descr="LLM As Agents(4)：Reflexion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003" y="2025599"/>
            <a:ext cx="4177747" cy="365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370205" y="2421255"/>
            <a:ext cx="3758565" cy="286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Reflection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也是一种通过自我反思之前采取的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action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，获得一些反思后的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experience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，作为接下来行动的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prompt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。对比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ReAct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，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Reflection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把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Agent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执行流程建模为一个</a:t>
            </a:r>
            <a:r>
              <a:rPr lang="en-US" altLang="zh-CN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MDP</a:t>
            </a:r>
            <a:r>
              <a:rPr lang="zh-CN" altLang="en-US" sz="20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过程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/>
          <p:cNvSpPr/>
          <p:nvPr>
            <p:custDataLst>
              <p:tags r:id="rId1"/>
            </p:custDataLst>
          </p:nvPr>
        </p:nvSpPr>
        <p:spPr>
          <a:xfrm>
            <a:off x="-635" y="1615440"/>
            <a:ext cx="9144000" cy="465264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推理</a:t>
            </a:r>
            <a:r>
              <a:rPr lang="en-US" altLang="zh-CN" dirty="0"/>
              <a:t>/</a:t>
            </a:r>
            <a:r>
              <a:rPr lang="zh-CN" altLang="en-US" dirty="0"/>
              <a:t>规划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7015345" y="6367347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18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4170" y="845492"/>
            <a:ext cx="7126515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latin typeface="+mn-lt"/>
                <a:ea typeface="+mn-ea"/>
              </a:rPr>
              <a:t>Reflection</a:t>
            </a:r>
          </a:p>
        </p:txBody>
      </p:sp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55245" y="159004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Trial#1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endParaRPr 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55245" y="2146935"/>
            <a:ext cx="8670290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问题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: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   </a:t>
            </a: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Jonny Craig 和 Pete Doherty 谁加入过更多的乐队？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思考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让我们一步一步分析。Jonny Craig 加入过六个乐队，包括 Emarosa、Dance Gavin Dance 和 Slaves。Pete Doherty 加入过七个乐队，包括 The Libertines、Babyshambles 和 The Puta Madres。所以 Pete Doherty 加入的乐队更多。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操作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：完成[Peter Doherty]</a:t>
            </a:r>
            <a:r>
              <a:rPr lang="zh-CN" altLang="en-US" sz="1600" b="0" i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（回答输出的格式）</a:t>
            </a:r>
          </a:p>
          <a:p>
            <a:pPr indent="457200">
              <a:lnSpc>
                <a:spcPct val="150000"/>
              </a:lnSpc>
            </a:pPr>
            <a:r>
              <a:rPr lang="en-US" altLang="zh-CN" sz="1600" b="0" i="1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&gt;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观察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1:  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回答错误</a:t>
            </a: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-635" y="455041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Reflection:</a:t>
            </a:r>
          </a:p>
        </p:txBody>
      </p: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173990" y="4978400"/>
            <a:ext cx="81216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sz="1600" b="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我对哪位音乐人加入过更多乐队的推理失败，是因为我没有考虑 Jonny Craig 过去加入过更多乐队这一点，尽管 Pete Doherty 当前可能加入的乐队更多。今后在尝试此类问题时，我应该重点研究两人过去和现在所有的乐队参与情况，以做出准确判断。</a:t>
            </a:r>
          </a:p>
        </p:txBody>
      </p:sp>
      <p:cxnSp>
        <p:nvCxnSpPr>
          <p:cNvPr id="17" name="连接符: 曲线 43"/>
          <p:cNvCxnSpPr>
            <a:stCxn id="23" idx="3"/>
            <a:endCxn id="20" idx="3"/>
          </p:cNvCxnSpPr>
          <p:nvPr>
            <p:custDataLst>
              <p:tags r:id="rId6"/>
            </p:custDataLst>
          </p:nvPr>
        </p:nvCxnSpPr>
        <p:spPr>
          <a:xfrm flipV="1">
            <a:off x="8295640" y="3300730"/>
            <a:ext cx="429895" cy="2277110"/>
          </a:xfrm>
          <a:prstGeom prst="curvedConnector3">
            <a:avLst>
              <a:gd name="adj1" fmla="val 15539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7497445" y="3429000"/>
            <a:ext cx="867029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tx1">
                    <a:lumMod val="50000"/>
                  </a:schemeClr>
                </a:solidFill>
                <a:latin typeface="Arial Bold" panose="020B0604020202090204" charset="0"/>
                <a:cs typeface="Arial Bold" panose="020B0604020202090204" charset="0"/>
                <a:sym typeface="微软雅黑" panose="020B0503020204020204" pitchFamily="34" charset="-122"/>
              </a:rPr>
              <a:t>Trial#2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微软雅黑" panose="020B0503020204020204" pitchFamily="34" charset="-122"/>
              </a:rPr>
              <a:t>：</a:t>
            </a:r>
            <a:endParaRPr lang="zh-CN" sz="1600" dirty="0">
              <a:solidFill>
                <a:schemeClr val="tx1">
                  <a:lumMod val="50000"/>
                </a:schemeClr>
              </a:solidFill>
              <a:cs typeface="+mn-ea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记忆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5775190" y="6303212"/>
            <a:ext cx="1981200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19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113" name="矩形: 圆角 112"/>
          <p:cNvSpPr/>
          <p:nvPr>
            <p:custDataLst>
              <p:tags r:id="rId1"/>
            </p:custDataLst>
          </p:nvPr>
        </p:nvSpPr>
        <p:spPr>
          <a:xfrm>
            <a:off x="85090" y="854710"/>
            <a:ext cx="5848350" cy="5873115"/>
          </a:xfrm>
          <a:prstGeom prst="roundRect">
            <a:avLst/>
          </a:prstGeom>
          <a:solidFill>
            <a:schemeClr val="bg1"/>
          </a:solidFill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66714" y="1080420"/>
            <a:ext cx="4978401" cy="122651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>
            <p:custDataLst>
              <p:tags r:id="rId3"/>
            </p:custDataLst>
          </p:nvPr>
        </p:nvSpPr>
        <p:spPr>
          <a:xfrm>
            <a:off x="1628477" y="1156189"/>
            <a:ext cx="3606800" cy="1079318"/>
          </a:xfrm>
          <a:prstGeom prst="roundRect">
            <a:avLst/>
          </a:prstGeom>
          <a:noFill/>
          <a:ln>
            <a:solidFill>
              <a:srgbClr val="FFC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938844" y="1445574"/>
            <a:ext cx="2637566" cy="22990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2276473" y="1840540"/>
            <a:ext cx="2637566" cy="229906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431800" y="1341755"/>
            <a:ext cx="12585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Episodic </a:t>
            </a:r>
            <a:b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711625" y="1137796"/>
            <a:ext cx="3657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Previous Interactions</a:t>
            </a:r>
            <a:r>
              <a:rPr lang="zh-CN" altLang="en-US" sz="1400" dirty="0">
                <a:solidFill>
                  <a:srgbClr val="FFC000"/>
                </a:solidFill>
              </a:rPr>
              <a:t>：</a:t>
            </a:r>
            <a:r>
              <a:rPr lang="en-US" altLang="zh-CN" sz="1400" dirty="0">
                <a:solidFill>
                  <a:srgbClr val="FFC000"/>
                </a:solidFill>
              </a:rPr>
              <a:t>[</a:t>
            </a:r>
          </a:p>
          <a:p>
            <a:endParaRPr lang="en-US" altLang="zh-CN" sz="1400" dirty="0">
              <a:solidFill>
                <a:srgbClr val="FFC000"/>
              </a:solidFill>
            </a:endParaRPr>
          </a:p>
          <a:p>
            <a:endParaRPr lang="en-US" altLang="zh-CN" sz="1400" dirty="0">
              <a:solidFill>
                <a:srgbClr val="FFC000"/>
              </a:solidFill>
            </a:endParaRPr>
          </a:p>
          <a:p>
            <a:r>
              <a:rPr lang="en-US" altLang="zh-CN" sz="1400" dirty="0">
                <a:solidFill>
                  <a:srgbClr val="FFC000"/>
                </a:solidFill>
              </a:rPr>
              <a:t>			          ]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33" name="文本框 32"/>
          <p:cNvSpPr txBox="1"/>
          <p:nvPr>
            <p:custDataLst>
              <p:tags r:id="rId8"/>
            </p:custDataLst>
          </p:nvPr>
        </p:nvSpPr>
        <p:spPr>
          <a:xfrm>
            <a:off x="1938844" y="1412479"/>
            <a:ext cx="365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50000"/>
                  </a:schemeClr>
                </a:solidFill>
              </a:rPr>
              <a:t>Human:…</a:t>
            </a:r>
            <a:endParaRPr lang="zh-CN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2276473" y="1801604"/>
            <a:ext cx="365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30A0"/>
                </a:solidFill>
              </a:rPr>
              <a:t>Assistant:…</a:t>
            </a:r>
            <a:endParaRPr lang="zh-CN" altLang="en-US" sz="1400" dirty="0">
              <a:solidFill>
                <a:srgbClr val="7030A0"/>
              </a:solidFill>
            </a:endParaRPr>
          </a:p>
        </p:txBody>
      </p:sp>
      <p:sp>
        <p:nvSpPr>
          <p:cNvPr id="37" name="矩形 36"/>
          <p:cNvSpPr/>
          <p:nvPr>
            <p:custDataLst>
              <p:tags r:id="rId10"/>
            </p:custDataLst>
          </p:nvPr>
        </p:nvSpPr>
        <p:spPr>
          <a:xfrm>
            <a:off x="84883" y="2519710"/>
            <a:ext cx="1655798" cy="398409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文本框 37"/>
          <p:cNvSpPr txBox="1"/>
          <p:nvPr>
            <p:custDataLst>
              <p:tags r:id="rId11"/>
            </p:custDataLst>
          </p:nvPr>
        </p:nvSpPr>
        <p:spPr>
          <a:xfrm>
            <a:off x="232410" y="5846445"/>
            <a:ext cx="1397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Semantic</a:t>
            </a:r>
            <a:b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</a:br>
            <a:r>
              <a:rPr lang="en-US" altLang="zh-C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chemeClr val="tx2">
                  <a:lumMod val="60000"/>
                  <a:lumOff val="40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40" name="矩形: 圆角 39"/>
          <p:cNvSpPr/>
          <p:nvPr>
            <p:custDataLst>
              <p:tags r:id="rId12"/>
            </p:custDataLst>
          </p:nvPr>
        </p:nvSpPr>
        <p:spPr>
          <a:xfrm>
            <a:off x="326458" y="2654180"/>
            <a:ext cx="1172648" cy="2644863"/>
          </a:xfrm>
          <a:prstGeom prst="roundRect">
            <a:avLst/>
          </a:prstGeom>
          <a:noFill/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283000" y="2654181"/>
            <a:ext cx="12595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Private </a:t>
            </a:r>
          </a:p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Knowledge</a:t>
            </a:r>
          </a:p>
          <a:p>
            <a:pPr algn="ctr"/>
            <a:r>
              <a:rPr lang="en-US" altLang="zh-CN" sz="1400" dirty="0">
                <a:solidFill>
                  <a:srgbClr val="D3726F"/>
                </a:solidFill>
              </a:rPr>
              <a:t>Base</a:t>
            </a:r>
            <a:endParaRPr lang="zh-CN" altLang="en-US" sz="1400" dirty="0">
              <a:solidFill>
                <a:srgbClr val="D3726F"/>
              </a:solidFill>
            </a:endParaRPr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91"/>
          <a:stretch>
            <a:fillRect/>
          </a:stretch>
        </p:blipFill>
        <p:spPr>
          <a:xfrm>
            <a:off x="703180" y="3374251"/>
            <a:ext cx="407357" cy="363712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92"/>
          <a:stretch>
            <a:fillRect/>
          </a:stretch>
        </p:blipFill>
        <p:spPr>
          <a:xfrm>
            <a:off x="703180" y="3754334"/>
            <a:ext cx="407357" cy="305518"/>
          </a:xfrm>
          <a:prstGeom prst="rect">
            <a:avLst/>
          </a:prstGeom>
        </p:spPr>
      </p:pic>
      <p:pic>
        <p:nvPicPr>
          <p:cNvPr id="53" name="图片 52" descr="图标&#10;&#10;AI 生成的内容可能不正确。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3"/>
          <a:stretch>
            <a:fillRect/>
          </a:stretch>
        </p:blipFill>
        <p:spPr>
          <a:xfrm>
            <a:off x="720189" y="4095249"/>
            <a:ext cx="335918" cy="280383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257602" y="4196442"/>
            <a:ext cx="1310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…</a:t>
            </a:r>
            <a:endParaRPr lang="zh-CN" alt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矩形 54"/>
          <p:cNvSpPr/>
          <p:nvPr>
            <p:custDataLst>
              <p:tags r:id="rId18"/>
            </p:custDataLst>
          </p:nvPr>
        </p:nvSpPr>
        <p:spPr>
          <a:xfrm>
            <a:off x="467508" y="4561655"/>
            <a:ext cx="953762" cy="67733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4029755" y="6274211"/>
            <a:ext cx="201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D5A6E3"/>
                </a:solidFill>
              </a:rPr>
              <a:t>Embedding Space</a:t>
            </a:r>
            <a:endParaRPr lang="zh-CN" altLang="en-US" sz="1000" dirty="0">
              <a:solidFill>
                <a:srgbClr val="D5A6E3"/>
              </a:solidFill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64254" y="4640551"/>
            <a:ext cx="565429" cy="334088"/>
            <a:chOff x="3699104" y="5132674"/>
            <a:chExt cx="926924" cy="477709"/>
          </a:xfrm>
        </p:grpSpPr>
        <p:pic>
          <p:nvPicPr>
            <p:cNvPr id="58" name="图片 57" descr="图标&#10;&#10;AI 生成的内容可能不正确。"/>
            <p:cNvPicPr>
              <a:picLocks noChangeAspect="1"/>
            </p:cNvPicPr>
            <p:nvPr>
              <p:custDataLst>
                <p:tags r:id="rId86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3699104" y="5132674"/>
              <a:ext cx="463462" cy="463462"/>
            </a:xfrm>
            <a:prstGeom prst="rect">
              <a:avLst/>
            </a:prstGeom>
          </p:spPr>
        </p:pic>
        <p:pic>
          <p:nvPicPr>
            <p:cNvPr id="59" name="图片 58"/>
            <p:cNvPicPr>
              <a:picLocks noChangeAspect="1"/>
            </p:cNvPicPr>
            <p:nvPr>
              <p:custDataLst>
                <p:tags r:id="rId87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3901899" y="5132674"/>
              <a:ext cx="463462" cy="463462"/>
            </a:xfrm>
            <a:prstGeom prst="rect">
              <a:avLst/>
            </a:prstGeom>
          </p:spPr>
        </p:pic>
        <p:pic>
          <p:nvPicPr>
            <p:cNvPr id="60" name="图片 59"/>
            <p:cNvPicPr>
              <a:picLocks noChangeAspect="1"/>
            </p:cNvPicPr>
            <p:nvPr>
              <p:custDataLst>
                <p:tags r:id="rId88"/>
              </p:custDataLst>
            </p:nvPr>
          </p:nvPicPr>
          <p:blipFill>
            <a:blip r:embed="rId94"/>
            <a:stretch>
              <a:fillRect/>
            </a:stretch>
          </p:blipFill>
          <p:spPr>
            <a:xfrm>
              <a:off x="4162566" y="5146921"/>
              <a:ext cx="463462" cy="463462"/>
            </a:xfrm>
            <a:prstGeom prst="rect">
              <a:avLst/>
            </a:prstGeom>
          </p:spPr>
        </p:pic>
      </p:grpSp>
      <p:sp>
        <p:nvSpPr>
          <p:cNvPr id="62" name="矩形: 圆角 61"/>
          <p:cNvSpPr/>
          <p:nvPr>
            <p:custDataLst>
              <p:tags r:id="rId20"/>
            </p:custDataLst>
          </p:nvPr>
        </p:nvSpPr>
        <p:spPr>
          <a:xfrm>
            <a:off x="1892836" y="4340457"/>
            <a:ext cx="3739331" cy="2163352"/>
          </a:xfrm>
          <a:prstGeom prst="roundRect">
            <a:avLst/>
          </a:prstGeom>
          <a:noFill/>
          <a:ln>
            <a:solidFill>
              <a:srgbClr val="D3726F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1" name="组合 100"/>
          <p:cNvGrpSpPr/>
          <p:nvPr/>
        </p:nvGrpSpPr>
        <p:grpSpPr>
          <a:xfrm>
            <a:off x="2072672" y="2545064"/>
            <a:ext cx="1867743" cy="850622"/>
            <a:chOff x="3171124" y="3249520"/>
            <a:chExt cx="2144738" cy="959962"/>
          </a:xfrm>
        </p:grpSpPr>
        <p:sp>
          <p:nvSpPr>
            <p:cNvPr id="63" name="矩形 62"/>
            <p:cNvSpPr/>
            <p:nvPr>
              <p:custDataLst>
                <p:tags r:id="rId83"/>
              </p:custDataLst>
            </p:nvPr>
          </p:nvSpPr>
          <p:spPr>
            <a:xfrm>
              <a:off x="3171124" y="3249520"/>
              <a:ext cx="2144738" cy="959962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矩形 63"/>
            <p:cNvSpPr/>
            <p:nvPr>
              <p:custDataLst>
                <p:tags r:id="rId84"/>
              </p:custDataLst>
            </p:nvPr>
          </p:nvSpPr>
          <p:spPr>
            <a:xfrm>
              <a:off x="3289289" y="3333858"/>
              <a:ext cx="471445" cy="293825"/>
            </a:xfrm>
            <a:prstGeom prst="rect">
              <a:avLst/>
            </a:prstGeom>
            <a:noFill/>
            <a:ln>
              <a:solidFill>
                <a:srgbClr val="EB99A7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/>
            <p:cNvSpPr/>
            <p:nvPr>
              <p:custDataLst>
                <p:tags r:id="rId85"/>
              </p:custDataLst>
            </p:nvPr>
          </p:nvSpPr>
          <p:spPr>
            <a:xfrm>
              <a:off x="3289289" y="3833467"/>
              <a:ext cx="471445" cy="293825"/>
            </a:xfrm>
            <a:prstGeom prst="rect">
              <a:avLst/>
            </a:prstGeom>
            <a:noFill/>
            <a:ln>
              <a:solidFill>
                <a:srgbClr val="EB99A7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8" name="椭圆 77"/>
          <p:cNvSpPr/>
          <p:nvPr>
            <p:custDataLst>
              <p:tags r:id="rId21"/>
            </p:custDataLst>
          </p:nvPr>
        </p:nvSpPr>
        <p:spPr>
          <a:xfrm>
            <a:off x="3106245" y="4909507"/>
            <a:ext cx="1736155" cy="1416512"/>
          </a:xfrm>
          <a:prstGeom prst="ellipse">
            <a:avLst/>
          </a:prstGeom>
          <a:noFill/>
          <a:ln>
            <a:solidFill>
              <a:srgbClr val="D5A6E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/>
          <p:cNvSpPr/>
          <p:nvPr>
            <p:custDataLst>
              <p:tags r:id="rId22"/>
            </p:custDataLst>
          </p:nvPr>
        </p:nvSpPr>
        <p:spPr>
          <a:xfrm>
            <a:off x="3358426" y="5211490"/>
            <a:ext cx="836155" cy="812545"/>
          </a:xfrm>
          <a:prstGeom prst="ellipse">
            <a:avLst/>
          </a:prstGeom>
          <a:noFill/>
          <a:ln>
            <a:solidFill>
              <a:srgbClr val="D2A34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>
            <p:custDataLst>
              <p:tags r:id="rId23"/>
            </p:custDataLst>
          </p:nvPr>
        </p:nvSpPr>
        <p:spPr>
          <a:xfrm>
            <a:off x="4034584" y="50211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/>
          <p:cNvSpPr/>
          <p:nvPr>
            <p:custDataLst>
              <p:tags r:id="rId24"/>
            </p:custDataLst>
          </p:nvPr>
        </p:nvSpPr>
        <p:spPr>
          <a:xfrm>
            <a:off x="4250484" y="52370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/>
          <p:cNvSpPr/>
          <p:nvPr>
            <p:custDataLst>
              <p:tags r:id="rId25"/>
            </p:custDataLst>
          </p:nvPr>
        </p:nvSpPr>
        <p:spPr>
          <a:xfrm>
            <a:off x="4339384" y="55672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>
            <p:custDataLst>
              <p:tags r:id="rId26"/>
            </p:custDataLst>
          </p:nvPr>
        </p:nvSpPr>
        <p:spPr>
          <a:xfrm>
            <a:off x="4593384" y="56815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>
            <p:custDataLst>
              <p:tags r:id="rId27"/>
            </p:custDataLst>
          </p:nvPr>
        </p:nvSpPr>
        <p:spPr>
          <a:xfrm>
            <a:off x="4555284" y="53386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椭圆 88"/>
          <p:cNvSpPr/>
          <p:nvPr>
            <p:custDataLst>
              <p:tags r:id="rId28"/>
            </p:custDataLst>
          </p:nvPr>
        </p:nvSpPr>
        <p:spPr>
          <a:xfrm>
            <a:off x="4186984" y="60117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椭圆 89"/>
          <p:cNvSpPr/>
          <p:nvPr>
            <p:custDataLst>
              <p:tags r:id="rId29"/>
            </p:custDataLst>
          </p:nvPr>
        </p:nvSpPr>
        <p:spPr>
          <a:xfrm>
            <a:off x="3615484" y="5033814"/>
            <a:ext cx="136667" cy="136667"/>
          </a:xfrm>
          <a:prstGeom prst="ellips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椭圆 90"/>
          <p:cNvSpPr/>
          <p:nvPr>
            <p:custDataLst>
              <p:tags r:id="rId30"/>
            </p:custDataLst>
          </p:nvPr>
        </p:nvSpPr>
        <p:spPr>
          <a:xfrm>
            <a:off x="3691684" y="53259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椭圆 91"/>
          <p:cNvSpPr/>
          <p:nvPr>
            <p:custDataLst>
              <p:tags r:id="rId31"/>
            </p:custDataLst>
          </p:nvPr>
        </p:nvSpPr>
        <p:spPr>
          <a:xfrm>
            <a:off x="3844084" y="55037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椭圆 92"/>
          <p:cNvSpPr/>
          <p:nvPr>
            <p:custDataLst>
              <p:tags r:id="rId32"/>
            </p:custDataLst>
          </p:nvPr>
        </p:nvSpPr>
        <p:spPr>
          <a:xfrm>
            <a:off x="3844084" y="54783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4" name="椭圆 93"/>
          <p:cNvSpPr/>
          <p:nvPr>
            <p:custDataLst>
              <p:tags r:id="rId33"/>
            </p:custDataLst>
          </p:nvPr>
        </p:nvSpPr>
        <p:spPr>
          <a:xfrm>
            <a:off x="3450384" y="55799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椭圆 94"/>
          <p:cNvSpPr/>
          <p:nvPr>
            <p:custDataLst>
              <p:tags r:id="rId34"/>
            </p:custDataLst>
          </p:nvPr>
        </p:nvSpPr>
        <p:spPr>
          <a:xfrm>
            <a:off x="3602784" y="57577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/>
          <p:cNvSpPr/>
          <p:nvPr>
            <p:custDataLst>
              <p:tags r:id="rId35"/>
            </p:custDataLst>
          </p:nvPr>
        </p:nvSpPr>
        <p:spPr>
          <a:xfrm>
            <a:off x="3869484" y="5745014"/>
            <a:ext cx="136667" cy="13666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>
            <p:custDataLst>
              <p:tags r:id="rId36"/>
            </p:custDataLst>
          </p:nvPr>
        </p:nvSpPr>
        <p:spPr>
          <a:xfrm>
            <a:off x="3653584" y="5541814"/>
            <a:ext cx="136667" cy="136667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/>
          <p:cNvSpPr/>
          <p:nvPr>
            <p:custDataLst>
              <p:tags r:id="rId37"/>
            </p:custDataLst>
          </p:nvPr>
        </p:nvSpPr>
        <p:spPr>
          <a:xfrm>
            <a:off x="3882959" y="4455064"/>
            <a:ext cx="1481316" cy="312090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 Index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00" name="矩形: 圆角 99"/>
          <p:cNvSpPr/>
          <p:nvPr>
            <p:custDataLst>
              <p:tags r:id="rId38"/>
            </p:custDataLst>
          </p:nvPr>
        </p:nvSpPr>
        <p:spPr>
          <a:xfrm>
            <a:off x="2777518" y="4473078"/>
            <a:ext cx="847489" cy="3120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Indexing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02" name="文本框 101"/>
          <p:cNvSpPr txBox="1"/>
          <p:nvPr>
            <p:custDataLst>
              <p:tags r:id="rId39"/>
            </p:custDataLst>
          </p:nvPr>
        </p:nvSpPr>
        <p:spPr>
          <a:xfrm>
            <a:off x="1889219" y="4957038"/>
            <a:ext cx="13546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Approximate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Nearest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Neighbor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search</a:t>
            </a:r>
          </a:p>
          <a:p>
            <a:pPr algn="ctr"/>
            <a:r>
              <a:rPr lang="en-US" altLang="zh-CN" sz="1400" dirty="0">
                <a:solidFill>
                  <a:srgbClr val="FFC000"/>
                </a:solidFill>
              </a:rPr>
              <a:t>(ANN)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103" name="文本框 102"/>
          <p:cNvSpPr txBox="1"/>
          <p:nvPr>
            <p:custDataLst>
              <p:tags r:id="rId40"/>
            </p:custDataLst>
          </p:nvPr>
        </p:nvSpPr>
        <p:spPr>
          <a:xfrm>
            <a:off x="1683519" y="6149865"/>
            <a:ext cx="2594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D3726F"/>
                </a:solidFill>
                <a:latin typeface="Arial Bold" panose="020B0604020202090204" charset="0"/>
                <a:cs typeface="Arial Bold" panose="020B0604020202090204" charset="0"/>
              </a:rPr>
              <a:t>Vector Database</a:t>
            </a:r>
            <a:endParaRPr lang="zh-CN" altLang="en-US" sz="2000" b="1" dirty="0">
              <a:solidFill>
                <a:srgbClr val="D3726F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04" name="椭圆 103"/>
          <p:cNvSpPr/>
          <p:nvPr>
            <p:custDataLst>
              <p:tags r:id="rId41"/>
            </p:custDataLst>
          </p:nvPr>
        </p:nvSpPr>
        <p:spPr>
          <a:xfrm>
            <a:off x="4868827" y="6110904"/>
            <a:ext cx="194457" cy="207742"/>
          </a:xfrm>
          <a:prstGeom prst="ellipse">
            <a:avLst/>
          </a:prstGeom>
          <a:noFill/>
          <a:ln>
            <a:solidFill>
              <a:srgbClr val="D5A6E3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>
            <p:custDataLst>
              <p:tags r:id="rId42"/>
            </p:custDataLst>
          </p:nvPr>
        </p:nvSpPr>
        <p:spPr>
          <a:xfrm>
            <a:off x="4414475" y="2914543"/>
            <a:ext cx="11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3F878B"/>
                </a:solidFill>
              </a:rPr>
              <a:t>Embedding </a:t>
            </a:r>
          </a:p>
          <a:p>
            <a:pPr algn="ctr"/>
            <a:r>
              <a:rPr lang="en-US" altLang="zh-CN" sz="1200" dirty="0">
                <a:solidFill>
                  <a:srgbClr val="3F878B"/>
                </a:solidFill>
              </a:rPr>
              <a:t>Model</a:t>
            </a:r>
            <a:endParaRPr lang="zh-CN" altLang="en-US" sz="1200" dirty="0">
              <a:solidFill>
                <a:srgbClr val="3F878B"/>
              </a:solidFill>
            </a:endParaRPr>
          </a:p>
        </p:txBody>
      </p:sp>
      <p:sp>
        <p:nvSpPr>
          <p:cNvPr id="106" name="矩形: 圆角 105"/>
          <p:cNvSpPr/>
          <p:nvPr>
            <p:custDataLst>
              <p:tags r:id="rId43"/>
            </p:custDataLst>
          </p:nvPr>
        </p:nvSpPr>
        <p:spPr>
          <a:xfrm>
            <a:off x="4577411" y="2438093"/>
            <a:ext cx="814188" cy="887033"/>
          </a:xfrm>
          <a:prstGeom prst="roundRect">
            <a:avLst/>
          </a:prstGeom>
          <a:noFill/>
          <a:ln>
            <a:solidFill>
              <a:srgbClr val="3F878B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 descr="图标&#10;&#10;AI 生成的内容可能不正确。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95"/>
          <a:stretch>
            <a:fillRect/>
          </a:stretch>
        </p:blipFill>
        <p:spPr>
          <a:xfrm>
            <a:off x="4719275" y="2478562"/>
            <a:ext cx="507728" cy="507728"/>
          </a:xfrm>
          <a:prstGeom prst="rect">
            <a:avLst/>
          </a:prstGeom>
        </p:spPr>
      </p:pic>
      <p:sp>
        <p:nvSpPr>
          <p:cNvPr id="109" name="矩形: 圆角 108"/>
          <p:cNvSpPr/>
          <p:nvPr>
            <p:custDataLst>
              <p:tags r:id="rId45"/>
            </p:custDataLst>
          </p:nvPr>
        </p:nvSpPr>
        <p:spPr>
          <a:xfrm>
            <a:off x="3153906" y="3597692"/>
            <a:ext cx="1209678" cy="543962"/>
          </a:xfrm>
          <a:prstGeom prst="roundRect">
            <a:avLst/>
          </a:prstGeom>
          <a:solidFill>
            <a:schemeClr val="bg1"/>
          </a:solidFill>
          <a:ln>
            <a:solidFill>
              <a:srgbClr val="3F8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[0.01,…,0.43]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14" name="文本框 113"/>
          <p:cNvSpPr txBox="1"/>
          <p:nvPr>
            <p:custDataLst>
              <p:tags r:id="rId46"/>
            </p:custDataLst>
          </p:nvPr>
        </p:nvSpPr>
        <p:spPr>
          <a:xfrm>
            <a:off x="6792508" y="867036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Core</a:t>
            </a:r>
            <a:endParaRPr lang="zh-CN" altLang="en-US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5" name="矩形: 圆角 114"/>
          <p:cNvSpPr/>
          <p:nvPr>
            <p:custDataLst>
              <p:tags r:id="rId47"/>
            </p:custDataLst>
          </p:nvPr>
        </p:nvSpPr>
        <p:spPr>
          <a:xfrm>
            <a:off x="6554827" y="765346"/>
            <a:ext cx="1615180" cy="2340793"/>
          </a:xfrm>
          <a:prstGeom prst="roundRect">
            <a:avLst/>
          </a:prstGeom>
          <a:solidFill>
            <a:schemeClr val="bg1"/>
          </a:solidFill>
          <a:ln>
            <a:solidFill>
              <a:srgbClr val="C8DCED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6" name="图片 115" descr="图标&#10;&#10;AI 生成的内容可能不正确。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95"/>
          <a:stretch>
            <a:fillRect/>
          </a:stretch>
        </p:blipFill>
        <p:spPr>
          <a:xfrm>
            <a:off x="6937634" y="1377220"/>
            <a:ext cx="865064" cy="865064"/>
          </a:xfrm>
          <a:prstGeom prst="rect">
            <a:avLst/>
          </a:prstGeom>
        </p:spPr>
      </p:pic>
      <p:sp>
        <p:nvSpPr>
          <p:cNvPr id="121" name="矩形: 圆角 120"/>
          <p:cNvSpPr/>
          <p:nvPr>
            <p:custDataLst>
              <p:tags r:id="rId49"/>
            </p:custDataLst>
          </p:nvPr>
        </p:nvSpPr>
        <p:spPr>
          <a:xfrm>
            <a:off x="5945970" y="3387195"/>
            <a:ext cx="3072519" cy="1964404"/>
          </a:xfrm>
          <a:prstGeom prst="roundRect">
            <a:avLst/>
          </a:prstGeom>
          <a:solidFill>
            <a:schemeClr val="bg1"/>
          </a:solidFill>
          <a:ln>
            <a:solidFill>
              <a:srgbClr val="D5A6E3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4" name="矩形 133"/>
          <p:cNvSpPr/>
          <p:nvPr>
            <p:custDataLst>
              <p:tags r:id="rId50"/>
            </p:custDataLst>
          </p:nvPr>
        </p:nvSpPr>
        <p:spPr>
          <a:xfrm>
            <a:off x="5945970" y="5558467"/>
            <a:ext cx="3136743" cy="1017392"/>
          </a:xfrm>
          <a:prstGeom prst="rect">
            <a:avLst/>
          </a:prstGeom>
          <a:solidFill>
            <a:schemeClr val="bg1"/>
          </a:solidFill>
          <a:ln>
            <a:solidFill>
              <a:srgbClr val="E092A3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5" name="矩形: 圆角 134"/>
          <p:cNvSpPr/>
          <p:nvPr>
            <p:custDataLst>
              <p:tags r:id="rId51"/>
            </p:custDataLst>
          </p:nvPr>
        </p:nvSpPr>
        <p:spPr>
          <a:xfrm>
            <a:off x="6722381" y="1183815"/>
            <a:ext cx="1289692" cy="1368930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>
            <p:custDataLst>
              <p:tags r:id="rId52"/>
            </p:custDataLst>
          </p:nvPr>
        </p:nvSpPr>
        <p:spPr>
          <a:xfrm>
            <a:off x="6776592" y="2243962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LLM</a:t>
            </a:r>
            <a:endParaRPr lang="zh-CN" altLang="en-US" sz="1400" dirty="0"/>
          </a:p>
        </p:txBody>
      </p:sp>
      <p:sp>
        <p:nvSpPr>
          <p:cNvPr id="137" name="矩形: 圆角 136"/>
          <p:cNvSpPr/>
          <p:nvPr>
            <p:custDataLst>
              <p:tags r:id="rId53"/>
            </p:custDataLst>
          </p:nvPr>
        </p:nvSpPr>
        <p:spPr>
          <a:xfrm>
            <a:off x="6738297" y="2670065"/>
            <a:ext cx="1289692" cy="359811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>
            <p:custDataLst>
              <p:tags r:id="rId54"/>
            </p:custDataLst>
          </p:nvPr>
        </p:nvSpPr>
        <p:spPr>
          <a:xfrm>
            <a:off x="6809473" y="2699251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Orchestrator</a:t>
            </a:r>
            <a:endParaRPr lang="zh-CN" altLang="en-US" sz="1400" dirty="0"/>
          </a:p>
        </p:txBody>
      </p:sp>
      <p:sp>
        <p:nvSpPr>
          <p:cNvPr id="139" name="矩形: 圆角 138"/>
          <p:cNvSpPr/>
          <p:nvPr>
            <p:custDataLst>
              <p:tags r:id="rId55"/>
            </p:custDataLst>
          </p:nvPr>
        </p:nvSpPr>
        <p:spPr>
          <a:xfrm>
            <a:off x="4632754" y="3586326"/>
            <a:ext cx="1209678" cy="543962"/>
          </a:xfrm>
          <a:prstGeom prst="roundRect">
            <a:avLst/>
          </a:prstGeom>
          <a:solidFill>
            <a:schemeClr val="bg1"/>
          </a:solidFill>
          <a:ln>
            <a:solidFill>
              <a:srgbClr val="3F87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Vector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[0.41,…,0.02]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40" name="矩形: 圆角 139"/>
          <p:cNvSpPr/>
          <p:nvPr>
            <p:custDataLst>
              <p:tags r:id="rId56"/>
            </p:custDataLst>
          </p:nvPr>
        </p:nvSpPr>
        <p:spPr>
          <a:xfrm>
            <a:off x="332162" y="5433514"/>
            <a:ext cx="1161147" cy="434452"/>
          </a:xfrm>
          <a:prstGeom prst="roundRect">
            <a:avLst/>
          </a:prstGeom>
          <a:solidFill>
            <a:schemeClr val="bg1"/>
          </a:solidFill>
          <a:ln>
            <a:solidFill>
              <a:srgbClr val="EB9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rgbClr val="EB99A7"/>
                </a:solidFill>
              </a:rPr>
              <a:t>Grounding</a:t>
            </a:r>
          </a:p>
          <a:p>
            <a:pPr algn="ctr"/>
            <a:r>
              <a:rPr lang="en-US" altLang="zh-CN" sz="1300" dirty="0">
                <a:solidFill>
                  <a:srgbClr val="EB99A7"/>
                </a:solidFill>
              </a:rPr>
              <a:t>Context</a:t>
            </a:r>
            <a:endParaRPr lang="zh-CN" altLang="en-US" sz="1300" dirty="0">
              <a:solidFill>
                <a:srgbClr val="EB99A7"/>
              </a:solidFill>
            </a:endParaRPr>
          </a:p>
        </p:txBody>
      </p:sp>
      <p:sp>
        <p:nvSpPr>
          <p:cNvPr id="142" name="文本框 141"/>
          <p:cNvSpPr txBox="1"/>
          <p:nvPr>
            <p:custDataLst>
              <p:tags r:id="rId57"/>
            </p:custDataLst>
          </p:nvPr>
        </p:nvSpPr>
        <p:spPr>
          <a:xfrm>
            <a:off x="5671519" y="3430587"/>
            <a:ext cx="365772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7030A0"/>
                </a:solidFill>
                <a:latin typeface="Arial Bold" panose="020B0604020202090204" charset="0"/>
                <a:cs typeface="Arial Bold" panose="020B0604020202090204" charset="0"/>
              </a:rPr>
              <a:t>Short-term(Working) </a:t>
            </a:r>
          </a:p>
          <a:p>
            <a:pPr algn="ctr"/>
            <a:r>
              <a:rPr lang="en-US" altLang="zh-CN" sz="2000" b="1" dirty="0">
                <a:solidFill>
                  <a:srgbClr val="7030A0"/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rgbClr val="7030A0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45" name="文本框 144"/>
          <p:cNvSpPr txBox="1"/>
          <p:nvPr>
            <p:custDataLst>
              <p:tags r:id="rId58"/>
            </p:custDataLst>
          </p:nvPr>
        </p:nvSpPr>
        <p:spPr>
          <a:xfrm>
            <a:off x="6064139" y="4173694"/>
            <a:ext cx="378744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EB99A7"/>
                </a:solidFill>
              </a:rPr>
              <a:t>Prompt Structure: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EB99A7"/>
                </a:solidFill>
              </a:rPr>
              <a:t>Available Tools: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Additional context: [ ... ]</a:t>
            </a:r>
          </a:p>
          <a:p>
            <a:pPr>
              <a:spcBef>
                <a:spcPts val="200"/>
              </a:spcBef>
            </a:pPr>
            <a:r>
              <a:rPr lang="en-US" altLang="zh-CN" sz="1400" dirty="0">
                <a:solidFill>
                  <a:srgbClr val="92D050"/>
                </a:solidFill>
              </a:rPr>
              <a:t>Reasoning and action history: [ ... ]</a:t>
            </a:r>
            <a:endParaRPr lang="zh-CN" altLang="en-US" sz="1400" dirty="0">
              <a:solidFill>
                <a:srgbClr val="92D050"/>
              </a:solidFill>
            </a:endParaRPr>
          </a:p>
        </p:txBody>
      </p:sp>
      <p:sp>
        <p:nvSpPr>
          <p:cNvPr id="146" name="文本框 145"/>
          <p:cNvSpPr txBox="1"/>
          <p:nvPr>
            <p:custDataLst>
              <p:tags r:id="rId59"/>
            </p:custDataLst>
          </p:nvPr>
        </p:nvSpPr>
        <p:spPr>
          <a:xfrm>
            <a:off x="5449247" y="5835440"/>
            <a:ext cx="365772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E092A3"/>
                </a:solidFill>
                <a:latin typeface="Arial Bold" panose="020B0604020202090204" charset="0"/>
                <a:cs typeface="Arial Bold" panose="020B0604020202090204" charset="0"/>
              </a:rPr>
              <a:t>Procedural</a:t>
            </a:r>
          </a:p>
          <a:p>
            <a:pPr algn="ctr"/>
            <a:r>
              <a:rPr lang="en-US" altLang="zh-CN" sz="2000" b="1" dirty="0">
                <a:solidFill>
                  <a:srgbClr val="E092A3"/>
                </a:solidFill>
                <a:latin typeface="Arial Bold" panose="020B0604020202090204" charset="0"/>
                <a:cs typeface="Arial Bold" panose="020B0604020202090204" charset="0"/>
              </a:rPr>
              <a:t>Memory</a:t>
            </a:r>
            <a:endParaRPr lang="zh-CN" altLang="en-US" sz="2000" b="1" dirty="0">
              <a:solidFill>
                <a:srgbClr val="E092A3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149" name="矩形: 圆角 148"/>
          <p:cNvSpPr/>
          <p:nvPr>
            <p:custDataLst>
              <p:tags r:id="rId60"/>
            </p:custDataLst>
          </p:nvPr>
        </p:nvSpPr>
        <p:spPr>
          <a:xfrm>
            <a:off x="7802698" y="6133772"/>
            <a:ext cx="1091585" cy="4192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Tool Registry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50" name="矩形: 圆角 149"/>
          <p:cNvSpPr/>
          <p:nvPr>
            <p:custDataLst>
              <p:tags r:id="rId61"/>
            </p:custDataLst>
          </p:nvPr>
        </p:nvSpPr>
        <p:spPr>
          <a:xfrm>
            <a:off x="7310755" y="5647227"/>
            <a:ext cx="1091585" cy="4192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Prompt</a:t>
            </a:r>
          </a:p>
          <a:p>
            <a:pPr algn="ctr"/>
            <a:r>
              <a:rPr lang="en-US" altLang="zh-CN" sz="1300" dirty="0">
                <a:solidFill>
                  <a:schemeClr val="tx1"/>
                </a:solidFill>
              </a:rPr>
              <a:t> Registry</a:t>
            </a:r>
            <a:endParaRPr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54" name="文本框 153"/>
          <p:cNvSpPr txBox="1"/>
          <p:nvPr>
            <p:custDataLst>
              <p:tags r:id="rId62"/>
            </p:custDataLst>
          </p:nvPr>
        </p:nvSpPr>
        <p:spPr>
          <a:xfrm>
            <a:off x="6776592" y="820692"/>
            <a:ext cx="118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Core</a:t>
            </a:r>
            <a:endParaRPr lang="zh-CN" altLang="en-US" sz="1400" dirty="0"/>
          </a:p>
        </p:txBody>
      </p:sp>
      <p:cxnSp>
        <p:nvCxnSpPr>
          <p:cNvPr id="168" name="直接箭头连接符 167"/>
          <p:cNvCxnSpPr/>
          <p:nvPr>
            <p:custDataLst>
              <p:tags r:id="rId63"/>
            </p:custDataLst>
          </p:nvPr>
        </p:nvCxnSpPr>
        <p:spPr>
          <a:xfrm flipV="1">
            <a:off x="1514694" y="2852088"/>
            <a:ext cx="532234" cy="454779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>
            <p:custDataLst>
              <p:tags r:id="rId64"/>
            </p:custDataLst>
          </p:nvPr>
        </p:nvCxnSpPr>
        <p:spPr>
          <a:xfrm>
            <a:off x="3000421" y="2170099"/>
            <a:ext cx="0" cy="368179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>
            <p:custDataLst>
              <p:tags r:id="rId65"/>
            </p:custDataLst>
          </p:nvPr>
        </p:nvCxnSpPr>
        <p:spPr>
          <a:xfrm flipH="1">
            <a:off x="3288433" y="2170099"/>
            <a:ext cx="545292" cy="347008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箭头连接符 176"/>
          <p:cNvCxnSpPr/>
          <p:nvPr>
            <p:custDataLst>
              <p:tags r:id="rId66"/>
            </p:custDataLst>
          </p:nvPr>
        </p:nvCxnSpPr>
        <p:spPr>
          <a:xfrm flipV="1">
            <a:off x="4006151" y="2909605"/>
            <a:ext cx="534014" cy="17468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/>
          <p:cNvCxnSpPr/>
          <p:nvPr>
            <p:custDataLst>
              <p:tags r:id="rId67"/>
            </p:custDataLst>
          </p:nvPr>
        </p:nvCxnSpPr>
        <p:spPr>
          <a:xfrm>
            <a:off x="2232406" y="2179743"/>
            <a:ext cx="508530" cy="342162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/>
          <p:nvPr>
            <p:custDataLst>
              <p:tags r:id="rId68"/>
            </p:custDataLst>
          </p:nvPr>
        </p:nvCxnSpPr>
        <p:spPr>
          <a:xfrm flipV="1">
            <a:off x="1464431" y="3162384"/>
            <a:ext cx="582497" cy="1880632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箭头连接符 187"/>
          <p:cNvCxnSpPr/>
          <p:nvPr>
            <p:custDataLst>
              <p:tags r:id="rId69"/>
            </p:custDataLst>
          </p:nvPr>
        </p:nvCxnSpPr>
        <p:spPr>
          <a:xfrm flipV="1">
            <a:off x="7436376" y="5260441"/>
            <a:ext cx="0" cy="415358"/>
          </a:xfrm>
          <a:prstGeom prst="straightConnector1">
            <a:avLst/>
          </a:prstGeom>
          <a:ln w="38100">
            <a:solidFill>
              <a:srgbClr val="E092A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>
            <p:custDataLst>
              <p:tags r:id="rId70"/>
            </p:custDataLst>
          </p:nvPr>
        </p:nvCxnSpPr>
        <p:spPr>
          <a:xfrm flipV="1">
            <a:off x="7169676" y="3035532"/>
            <a:ext cx="0" cy="415358"/>
          </a:xfrm>
          <a:prstGeom prst="straightConnector1">
            <a:avLst/>
          </a:prstGeom>
          <a:ln w="38100">
            <a:solidFill>
              <a:srgbClr val="D5A6E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/>
          <p:cNvCxnSpPr/>
          <p:nvPr>
            <p:custDataLst>
              <p:tags r:id="rId71"/>
            </p:custDataLst>
          </p:nvPr>
        </p:nvCxnSpPr>
        <p:spPr>
          <a:xfrm>
            <a:off x="7601056" y="3106795"/>
            <a:ext cx="0" cy="353066"/>
          </a:xfrm>
          <a:prstGeom prst="straightConnector1">
            <a:avLst/>
          </a:prstGeom>
          <a:ln w="38100">
            <a:solidFill>
              <a:srgbClr val="D5A6E3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文本框 195"/>
          <p:cNvSpPr txBox="1"/>
          <p:nvPr>
            <p:custDataLst>
              <p:tags r:id="rId72"/>
            </p:custDataLst>
          </p:nvPr>
        </p:nvSpPr>
        <p:spPr>
          <a:xfrm>
            <a:off x="2441591" y="2470281"/>
            <a:ext cx="16654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0070C0"/>
                </a:solidFill>
                <a:latin typeface="Arial Bold" panose="020B0604020202090204" charset="0"/>
                <a:cs typeface="Arial Bold" panose="020B0604020202090204" charset="0"/>
              </a:rPr>
              <a:t>Occasionally Stored Memory</a:t>
            </a:r>
            <a:endParaRPr lang="zh-CN" altLang="en-US" sz="1800" b="1" dirty="0">
              <a:solidFill>
                <a:srgbClr val="0070C0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cxnSp>
        <p:nvCxnSpPr>
          <p:cNvPr id="197" name="直接箭头连接符 196"/>
          <p:cNvCxnSpPr/>
          <p:nvPr>
            <p:custDataLst>
              <p:tags r:id="rId73"/>
            </p:custDataLst>
          </p:nvPr>
        </p:nvCxnSpPr>
        <p:spPr>
          <a:xfrm flipH="1">
            <a:off x="5462775" y="2235507"/>
            <a:ext cx="1733402" cy="560404"/>
          </a:xfrm>
          <a:prstGeom prst="straightConnector1">
            <a:avLst/>
          </a:prstGeom>
          <a:ln w="38100">
            <a:solidFill>
              <a:srgbClr val="4B8F92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接箭头连接符 199"/>
          <p:cNvCxnSpPr/>
          <p:nvPr>
            <p:custDataLst>
              <p:tags r:id="rId74"/>
            </p:custDataLst>
          </p:nvPr>
        </p:nvCxnSpPr>
        <p:spPr>
          <a:xfrm flipH="1">
            <a:off x="5359809" y="1585005"/>
            <a:ext cx="1861904" cy="167966"/>
          </a:xfrm>
          <a:prstGeom prst="straightConnector1">
            <a:avLst/>
          </a:prstGeom>
          <a:ln w="38100">
            <a:solidFill>
              <a:srgbClr val="4B8F92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>
            <a:stCxn id="105" idx="1"/>
          </p:cNvCxnSpPr>
          <p:nvPr>
            <p:custDataLst>
              <p:tags r:id="rId75"/>
            </p:custDataLst>
          </p:nvPr>
        </p:nvCxnSpPr>
        <p:spPr>
          <a:xfrm flipH="1">
            <a:off x="3655206" y="3145376"/>
            <a:ext cx="759269" cy="456425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/>
          <p:cNvCxnSpPr/>
          <p:nvPr>
            <p:custDataLst>
              <p:tags r:id="rId76"/>
            </p:custDataLst>
          </p:nvPr>
        </p:nvCxnSpPr>
        <p:spPr>
          <a:xfrm flipH="1">
            <a:off x="3110215" y="4179849"/>
            <a:ext cx="255884" cy="29248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>
            <p:custDataLst>
              <p:tags r:id="rId77"/>
            </p:custDataLst>
          </p:nvPr>
        </p:nvCxnSpPr>
        <p:spPr>
          <a:xfrm>
            <a:off x="5413098" y="3120525"/>
            <a:ext cx="140650" cy="477167"/>
          </a:xfrm>
          <a:prstGeom prst="straightConnector1">
            <a:avLst/>
          </a:prstGeom>
          <a:ln w="38100"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>
            <a:endCxn id="99" idx="0"/>
          </p:cNvCxnSpPr>
          <p:nvPr>
            <p:custDataLst>
              <p:tags r:id="rId78"/>
            </p:custDataLst>
          </p:nvPr>
        </p:nvCxnSpPr>
        <p:spPr>
          <a:xfrm flipH="1">
            <a:off x="4623617" y="4141654"/>
            <a:ext cx="715336" cy="313410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>
            <p:custDataLst>
              <p:tags r:id="rId79"/>
            </p:custDataLst>
          </p:nvPr>
        </p:nvCxnSpPr>
        <p:spPr>
          <a:xfrm flipH="1">
            <a:off x="3804431" y="4771134"/>
            <a:ext cx="201720" cy="448055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>
            <a:endCxn id="81" idx="2"/>
          </p:cNvCxnSpPr>
          <p:nvPr>
            <p:custDataLst>
              <p:tags r:id="rId80"/>
            </p:custDataLst>
          </p:nvPr>
        </p:nvCxnSpPr>
        <p:spPr>
          <a:xfrm>
            <a:off x="2944511" y="5314972"/>
            <a:ext cx="413915" cy="302791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>
            <p:custDataLst>
              <p:tags r:id="rId81"/>
            </p:custDataLst>
          </p:nvPr>
        </p:nvCxnSpPr>
        <p:spPr>
          <a:xfrm flipV="1">
            <a:off x="4140818" y="5109502"/>
            <a:ext cx="2443481" cy="673512"/>
          </a:xfrm>
          <a:prstGeom prst="straightConnector1">
            <a:avLst/>
          </a:prstGeom>
          <a:ln w="38100">
            <a:solidFill>
              <a:srgbClr val="FFC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/>
          <p:cNvSpPr txBox="1"/>
          <p:nvPr>
            <p:custDataLst>
              <p:tags r:id="rId82"/>
            </p:custDataLst>
          </p:nvPr>
        </p:nvSpPr>
        <p:spPr>
          <a:xfrm>
            <a:off x="89552" y="5143193"/>
            <a:ext cx="20179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tx2">
                    <a:lumMod val="75000"/>
                  </a:schemeClr>
                </a:solidFill>
              </a:rPr>
              <a:t>Documentation</a:t>
            </a:r>
            <a:endParaRPr lang="zh-CN" alt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12"/>
          <p:cNvSpPr/>
          <p:nvPr>
            <p:custDataLst>
              <p:tags r:id="rId1"/>
            </p:custDataLst>
          </p:nvPr>
        </p:nvSpPr>
        <p:spPr>
          <a:xfrm>
            <a:off x="614680" y="5920105"/>
            <a:ext cx="7985760" cy="73088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: 圆角 12"/>
          <p:cNvSpPr/>
          <p:nvPr>
            <p:custDataLst>
              <p:tags r:id="rId2"/>
            </p:custDataLst>
          </p:nvPr>
        </p:nvSpPr>
        <p:spPr>
          <a:xfrm>
            <a:off x="42545" y="901065"/>
            <a:ext cx="9144000" cy="3650615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工具使用</a:t>
            </a:r>
          </a:p>
        </p:txBody>
      </p:sp>
      <p:sp>
        <p:nvSpPr>
          <p:cNvPr id="13" name="文字方塊 5"/>
          <p:cNvSpPr txBox="1"/>
          <p:nvPr>
            <p:custDataLst>
              <p:tags r:id="rId3"/>
            </p:custDataLst>
          </p:nvPr>
        </p:nvSpPr>
        <p:spPr>
          <a:xfrm>
            <a:off x="190500" y="1457325"/>
            <a:ext cx="78105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0" dirty="0"/>
              <a:t>如果遇到</a:t>
            </a:r>
            <a:r>
              <a:rPr lang="zh-CN" altLang="zh-TW" sz="1800" b="0" dirty="0"/>
              <a:t>根据</a:t>
            </a:r>
            <a:r>
              <a:rPr lang="zh-TW" altLang="en-US" sz="1800" b="0" dirty="0"/>
              <a:t>你的</a:t>
            </a:r>
            <a:r>
              <a:rPr lang="zh-CN" altLang="zh-TW" sz="1800" b="0" dirty="0"/>
              <a:t>知识无法</a:t>
            </a:r>
            <a:r>
              <a:rPr lang="zh-TW" altLang="en-US" sz="1800" b="0" dirty="0"/>
              <a:t>回答的</a:t>
            </a:r>
            <a:r>
              <a:rPr lang="zh-CN" altLang="zh-TW" sz="1800" b="0" dirty="0"/>
              <a:t>问题</a:t>
            </a:r>
            <a:r>
              <a:rPr lang="zh-TW" altLang="en-US" sz="1800" b="0" dirty="0"/>
              <a:t>，使用工具</a:t>
            </a:r>
            <a:endParaRPr lang="en-US" altLang="zh-TW" sz="1800" b="0" dirty="0"/>
          </a:p>
          <a:p>
            <a:endParaRPr lang="en-US" altLang="zh-TW" sz="1800" b="0" dirty="0"/>
          </a:p>
          <a:p>
            <a:r>
              <a:rPr lang="zh-TW" altLang="en-US" sz="1800" b="0" dirty="0"/>
              <a:t>把使用工具的指令放在 &lt;tool&gt; 和 &lt;/tool&gt; </a:t>
            </a:r>
            <a:r>
              <a:rPr lang="zh-CN" altLang="zh-TW" sz="1800" b="0" dirty="0"/>
              <a:t>中间</a:t>
            </a:r>
            <a:r>
              <a:rPr lang="zh-TW" altLang="en-US" sz="1800" b="0" dirty="0"/>
              <a:t>，使用完工具</a:t>
            </a:r>
            <a:r>
              <a:rPr lang="zh-CN" altLang="zh-TW" sz="1800" b="0" dirty="0"/>
              <a:t>后</a:t>
            </a:r>
            <a:r>
              <a:rPr lang="zh-TW" altLang="en-US" sz="1800" b="0" dirty="0"/>
              <a:t>你</a:t>
            </a:r>
            <a:r>
              <a:rPr lang="zh-CN" altLang="zh-TW" sz="1800" b="0" dirty="0"/>
              <a:t>会</a:t>
            </a:r>
            <a:r>
              <a:rPr lang="zh-TW" altLang="en-US" sz="1800" b="0" dirty="0"/>
              <a:t>得到</a:t>
            </a:r>
            <a:r>
              <a:rPr lang="zh-CN" altLang="zh-TW" sz="1800" b="0" dirty="0"/>
              <a:t>输出</a:t>
            </a:r>
            <a:r>
              <a:rPr lang="zh-TW" altLang="en-US" sz="1800" b="0" dirty="0"/>
              <a:t>，放在 &lt;output&gt; 和 &lt;/output&gt; </a:t>
            </a:r>
            <a:r>
              <a:rPr lang="zh-CN" altLang="zh-TW" sz="1800" b="0" dirty="0"/>
              <a:t>中间</a:t>
            </a:r>
          </a:p>
        </p:txBody>
      </p:sp>
      <p:sp>
        <p:nvSpPr>
          <p:cNvPr id="14" name="文字方塊 8"/>
          <p:cNvSpPr txBox="1"/>
          <p:nvPr>
            <p:custDataLst>
              <p:tags r:id="rId4"/>
            </p:custDataLst>
          </p:nvPr>
        </p:nvSpPr>
        <p:spPr>
          <a:xfrm>
            <a:off x="228600" y="2791460"/>
            <a:ext cx="815340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TW" sz="1800" b="0" dirty="0"/>
              <a:t>现在</a:t>
            </a:r>
            <a:r>
              <a:rPr lang="zh-TW" altLang="en-US" sz="1800" b="0" dirty="0"/>
              <a:t>你可以使用的工具如下：</a:t>
            </a:r>
          </a:p>
          <a:p>
            <a:r>
              <a:rPr lang="zh-CN" altLang="zh-TW" sz="1800" b="0" dirty="0"/>
              <a:t>查询</a:t>
            </a:r>
            <a:r>
              <a:rPr lang="zh-TW" altLang="en-US" sz="1800" b="0" dirty="0"/>
              <a:t>某地、某</a:t>
            </a:r>
            <a:r>
              <a:rPr lang="zh-CN" altLang="zh-TW" sz="1800" b="0" dirty="0"/>
              <a:t>时温度</a:t>
            </a:r>
            <a:r>
              <a:rPr lang="zh-TW" altLang="en-US" sz="1800" b="0" dirty="0"/>
              <a:t>的函式 Temperature(location, time)，使用</a:t>
            </a:r>
            <a:r>
              <a:rPr lang="zh-CN" altLang="zh-TW" sz="1800" b="0" dirty="0"/>
              <a:t>范</a:t>
            </a:r>
            <a:r>
              <a:rPr lang="zh-TW" altLang="en-US" sz="1800" b="0" dirty="0"/>
              <a:t>例：Temperature('台北', '2025.02.22 14:26') </a:t>
            </a:r>
          </a:p>
        </p:txBody>
      </p:sp>
      <p:sp>
        <p:nvSpPr>
          <p:cNvPr id="15" name="文字方塊 10"/>
          <p:cNvSpPr txBox="1"/>
          <p:nvPr>
            <p:custDataLst>
              <p:tags r:id="rId5"/>
            </p:custDataLst>
          </p:nvPr>
        </p:nvSpPr>
        <p:spPr>
          <a:xfrm>
            <a:off x="247650" y="3905250"/>
            <a:ext cx="7677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日那天下午 </a:t>
            </a:r>
            <a:r>
              <a:rPr lang="en-US" altLang="zh-TW" sz="1800" b="0" dirty="0"/>
              <a:t>2:00 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广州气温</a:t>
            </a:r>
            <a:r>
              <a:rPr lang="zh-TW" altLang="en-US" sz="1800" b="0" dirty="0"/>
              <a:t>如何</a:t>
            </a:r>
          </a:p>
        </p:txBody>
      </p:sp>
      <p:sp>
        <p:nvSpPr>
          <p:cNvPr id="18" name="文字方塊 18"/>
          <p:cNvSpPr txBox="1"/>
          <p:nvPr>
            <p:custDataLst>
              <p:tags r:id="rId6"/>
            </p:custDataLst>
          </p:nvPr>
        </p:nvSpPr>
        <p:spPr>
          <a:xfrm>
            <a:off x="8030210" y="1667510"/>
            <a:ext cx="1251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如何使用所有工具</a:t>
            </a:r>
          </a:p>
        </p:txBody>
      </p:sp>
      <p:sp>
        <p:nvSpPr>
          <p:cNvPr id="27" name="文字方塊 19"/>
          <p:cNvSpPr txBox="1"/>
          <p:nvPr>
            <p:custDataLst>
              <p:tags r:id="rId7"/>
            </p:custDataLst>
          </p:nvPr>
        </p:nvSpPr>
        <p:spPr>
          <a:xfrm>
            <a:off x="8030210" y="2919095"/>
            <a:ext cx="1212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特定工具使用方式</a:t>
            </a:r>
          </a:p>
        </p:txBody>
      </p:sp>
      <p:sp>
        <p:nvSpPr>
          <p:cNvPr id="28" name="文字方塊 20"/>
          <p:cNvSpPr txBox="1"/>
          <p:nvPr>
            <p:custDataLst>
              <p:tags r:id="rId8"/>
            </p:custDataLst>
          </p:nvPr>
        </p:nvSpPr>
        <p:spPr>
          <a:xfrm>
            <a:off x="5386705" y="3867150"/>
            <a:ext cx="2218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1"/>
          <p:cNvSpPr txBox="1"/>
          <p:nvPr>
            <p:custDataLst>
              <p:tags r:id="rId9"/>
            </p:custDataLst>
          </p:nvPr>
        </p:nvSpPr>
        <p:spPr>
          <a:xfrm>
            <a:off x="6407150" y="863600"/>
            <a:ext cx="2835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: 圓角 22"/>
          <p:cNvSpPr/>
          <p:nvPr>
            <p:custDataLst>
              <p:tags r:id="rId10"/>
            </p:custDataLst>
          </p:nvPr>
        </p:nvSpPr>
        <p:spPr>
          <a:xfrm>
            <a:off x="190500" y="1489075"/>
            <a:ext cx="7810500" cy="1139190"/>
          </a:xfrm>
          <a:prstGeom prst="roundRect">
            <a:avLst>
              <a:gd name="adj" fmla="val 10097"/>
            </a:avLst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: 圓角 23"/>
          <p:cNvSpPr/>
          <p:nvPr>
            <p:custDataLst>
              <p:tags r:id="rId11"/>
            </p:custDataLst>
          </p:nvPr>
        </p:nvSpPr>
        <p:spPr>
          <a:xfrm>
            <a:off x="190500" y="2773045"/>
            <a:ext cx="7810500" cy="937895"/>
          </a:xfrm>
          <a:prstGeom prst="roundRect">
            <a:avLst>
              <a:gd name="adj" fmla="val 10097"/>
            </a:avLst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: 圓角 24"/>
          <p:cNvSpPr/>
          <p:nvPr>
            <p:custDataLst>
              <p:tags r:id="rId12"/>
            </p:custDataLst>
          </p:nvPr>
        </p:nvSpPr>
        <p:spPr>
          <a:xfrm>
            <a:off x="95250" y="3905885"/>
            <a:ext cx="5295900" cy="393700"/>
          </a:xfrm>
          <a:prstGeom prst="roundRect">
            <a:avLst>
              <a:gd name="adj" fmla="val 10097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: 圓角 25"/>
          <p:cNvSpPr/>
          <p:nvPr>
            <p:custDataLst>
              <p:tags r:id="rId13"/>
            </p:custDataLst>
          </p:nvPr>
        </p:nvSpPr>
        <p:spPr>
          <a:xfrm>
            <a:off x="95250" y="1384300"/>
            <a:ext cx="9015095" cy="2422525"/>
          </a:xfrm>
          <a:prstGeom prst="roundRect">
            <a:avLst>
              <a:gd name="adj" fmla="val 4705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: 圓角 6"/>
          <p:cNvSpPr/>
          <p:nvPr>
            <p:custDataLst>
              <p:tags r:id="rId14"/>
            </p:custDataLst>
          </p:nvPr>
        </p:nvSpPr>
        <p:spPr>
          <a:xfrm>
            <a:off x="3988435" y="4847762"/>
            <a:ext cx="1228725" cy="91846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语言</a:t>
            </a:r>
          </a:p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  <p:sp>
        <p:nvSpPr>
          <p:cNvPr id="44" name="文字方塊 29"/>
          <p:cNvSpPr txBox="1"/>
          <p:nvPr>
            <p:custDataLst>
              <p:tags r:id="rId15"/>
            </p:custDataLst>
          </p:nvPr>
        </p:nvSpPr>
        <p:spPr>
          <a:xfrm>
            <a:off x="946150" y="6173708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&lt;tool&gt;Temperature('</a:t>
            </a:r>
            <a:r>
              <a:rPr lang="zh-CN" altLang="en-US" sz="1800" b="0" dirty="0"/>
              <a:t>广州</a:t>
            </a:r>
            <a:r>
              <a:rPr lang="en-US" altLang="zh-TW" sz="1800" b="0" dirty="0"/>
              <a:t>', '2025.03.10 14:00')&lt;/tool&gt;</a:t>
            </a:r>
          </a:p>
        </p:txBody>
      </p:sp>
      <p:sp>
        <p:nvSpPr>
          <p:cNvPr id="46" name="文字方塊 20"/>
          <p:cNvSpPr txBox="1"/>
          <p:nvPr>
            <p:custDataLst>
              <p:tags r:id="rId16"/>
            </p:custDataLst>
          </p:nvPr>
        </p:nvSpPr>
        <p:spPr>
          <a:xfrm>
            <a:off x="6407150" y="6081395"/>
            <a:ext cx="2218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Text</a:t>
            </a:r>
          </a:p>
        </p:txBody>
      </p:sp>
      <p:cxnSp>
        <p:nvCxnSpPr>
          <p:cNvPr id="47" name="直接箭头连接符 46"/>
          <p:cNvCxnSpPr>
            <a:stCxn id="41" idx="2"/>
            <a:endCxn id="43" idx="0"/>
          </p:cNvCxnSpPr>
          <p:nvPr/>
        </p:nvCxnSpPr>
        <p:spPr>
          <a:xfrm flipH="1">
            <a:off x="4603115" y="4551680"/>
            <a:ext cx="11430" cy="295910"/>
          </a:xfrm>
          <a:prstGeom prst="straightConnector1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48" name="直接箭头连接符 47"/>
          <p:cNvCxnSpPr>
            <a:stCxn id="43" idx="2"/>
            <a:endCxn id="45" idx="0"/>
          </p:cNvCxnSpPr>
          <p:nvPr/>
        </p:nvCxnSpPr>
        <p:spPr>
          <a:xfrm>
            <a:off x="4603115" y="5765800"/>
            <a:ext cx="4445" cy="154305"/>
          </a:xfrm>
          <a:prstGeom prst="straightConnector1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8" grpId="0"/>
      <p:bldP spid="27" grpId="0"/>
      <p:bldP spid="28" grpId="0"/>
      <p:bldP spid="30" grpId="0"/>
      <p:bldP spid="31" grpId="0" bldLvl="0" animBg="1"/>
      <p:bldP spid="32" grpId="0" bldLvl="0" animBg="1"/>
      <p:bldP spid="34" grpId="0" bldLvl="0" animBg="1"/>
      <p:bldP spid="36" grpId="0" bldLvl="0" animBg="1"/>
      <p:bldP spid="44" grpId="0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/>
          <p:cNvSpPr/>
          <p:nvPr>
            <p:custDataLst>
              <p:tags r:id="rId1"/>
            </p:custDataLst>
          </p:nvPr>
        </p:nvSpPr>
        <p:spPr>
          <a:xfrm>
            <a:off x="544195" y="924560"/>
            <a:ext cx="8321040" cy="171323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工具使用</a:t>
            </a:r>
          </a:p>
        </p:txBody>
      </p:sp>
      <p:sp>
        <p:nvSpPr>
          <p:cNvPr id="11" name="文字方塊 10"/>
          <p:cNvSpPr txBox="1"/>
          <p:nvPr>
            <p:custDataLst>
              <p:tags r:id="rId2"/>
            </p:custDataLst>
          </p:nvPr>
        </p:nvSpPr>
        <p:spPr>
          <a:xfrm>
            <a:off x="1188085" y="1943612"/>
            <a:ext cx="767715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日那天下午 </a:t>
            </a:r>
            <a:r>
              <a:rPr lang="en-US" altLang="zh-TW" sz="1800" b="0" dirty="0"/>
              <a:t>2:00 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广州气温</a:t>
            </a:r>
            <a:r>
              <a:rPr lang="zh-TW" altLang="en-US" sz="1800" b="0" dirty="0"/>
              <a:t>如何</a:t>
            </a:r>
          </a:p>
        </p:txBody>
      </p:sp>
      <p:sp>
        <p:nvSpPr>
          <p:cNvPr id="21" name="文字方塊 20"/>
          <p:cNvSpPr txBox="1"/>
          <p:nvPr>
            <p:custDataLst>
              <p:tags r:id="rId3"/>
            </p:custDataLst>
          </p:nvPr>
        </p:nvSpPr>
        <p:spPr>
          <a:xfrm>
            <a:off x="6326825" y="1905512"/>
            <a:ext cx="2218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User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/>
          <p:cNvSpPr txBox="1"/>
          <p:nvPr>
            <p:custDataLst>
              <p:tags r:id="rId4"/>
            </p:custDataLst>
          </p:nvPr>
        </p:nvSpPr>
        <p:spPr>
          <a:xfrm>
            <a:off x="6326825" y="1345937"/>
            <a:ext cx="2835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Prompt</a:t>
            </a:r>
            <a:endParaRPr lang="zh-TW" altLang="en-US" sz="2400" b="1" dirty="0">
              <a:solidFill>
                <a:srgbClr val="0000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矩形: 圓角 24"/>
          <p:cNvSpPr/>
          <p:nvPr>
            <p:custDataLst>
              <p:tags r:id="rId5"/>
            </p:custDataLst>
          </p:nvPr>
        </p:nvSpPr>
        <p:spPr>
          <a:xfrm>
            <a:off x="1035684" y="1944615"/>
            <a:ext cx="5295891" cy="393729"/>
          </a:xfrm>
          <a:prstGeom prst="roundRect">
            <a:avLst>
              <a:gd name="adj" fmla="val 10097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: 圓角 25"/>
          <p:cNvSpPr/>
          <p:nvPr>
            <p:custDataLst>
              <p:tags r:id="rId6"/>
            </p:custDataLst>
          </p:nvPr>
        </p:nvSpPr>
        <p:spPr>
          <a:xfrm>
            <a:off x="1035686" y="1345937"/>
            <a:ext cx="5291140" cy="461665"/>
          </a:xfrm>
          <a:prstGeom prst="roundRect">
            <a:avLst>
              <a:gd name="adj" fmla="val 4705"/>
            </a:avLst>
          </a:prstGeom>
          <a:noFill/>
          <a:ln w="38100">
            <a:solidFill>
              <a:srgbClr val="0000FF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>
            <p:custDataLst>
              <p:tags r:id="rId7"/>
            </p:custDataLst>
          </p:nvPr>
        </p:nvSpPr>
        <p:spPr>
          <a:xfrm>
            <a:off x="1192620" y="1380138"/>
            <a:ext cx="501196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0" dirty="0"/>
              <a:t>工具使用方式 </a:t>
            </a:r>
            <a:r>
              <a:rPr lang="en-US" altLang="zh-TW" sz="1800" b="0" dirty="0"/>
              <a:t>……</a:t>
            </a:r>
            <a:endParaRPr lang="zh-TW" altLang="en-US" sz="1800" b="0" dirty="0"/>
          </a:p>
        </p:txBody>
      </p:sp>
      <p:sp>
        <p:nvSpPr>
          <p:cNvPr id="4" name="矩形: 圆角 12"/>
          <p:cNvSpPr/>
          <p:nvPr>
            <p:custDataLst>
              <p:tags r:id="rId8"/>
            </p:custDataLst>
          </p:nvPr>
        </p:nvSpPr>
        <p:spPr>
          <a:xfrm>
            <a:off x="2662688" y="5826393"/>
            <a:ext cx="6407019" cy="688316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矩形: 圓角 37"/>
          <p:cNvSpPr/>
          <p:nvPr>
            <p:custDataLst>
              <p:tags r:id="rId9"/>
            </p:custDataLst>
          </p:nvPr>
        </p:nvSpPr>
        <p:spPr>
          <a:xfrm>
            <a:off x="6171144" y="4143137"/>
            <a:ext cx="3060824" cy="3654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矩形: 圓角 36"/>
          <p:cNvSpPr/>
          <p:nvPr>
            <p:custDataLst>
              <p:tags r:id="rId10"/>
            </p:custDataLst>
          </p:nvPr>
        </p:nvSpPr>
        <p:spPr>
          <a:xfrm>
            <a:off x="1197875" y="4165083"/>
            <a:ext cx="5155433" cy="3654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  <a:prstDash val="sysDot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12"/>
          <p:cNvSpPr txBox="1"/>
          <p:nvPr>
            <p:custDataLst>
              <p:tags r:id="rId11"/>
            </p:custDataLst>
          </p:nvPr>
        </p:nvSpPr>
        <p:spPr>
          <a:xfrm>
            <a:off x="1064895" y="4130219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&lt;tool&gt;Temperature('</a:t>
            </a:r>
            <a:r>
              <a:rPr lang="zh-TW" altLang="en-US" sz="1800" b="0" dirty="0"/>
              <a:t>高雄</a:t>
            </a:r>
            <a:r>
              <a:rPr lang="en-US" altLang="zh-TW" sz="1800" b="0" dirty="0"/>
              <a:t>', '2025.03.10 14:00')&lt;/tool&gt;</a:t>
            </a:r>
          </a:p>
        </p:txBody>
      </p:sp>
      <p:cxnSp>
        <p:nvCxnSpPr>
          <p:cNvPr id="6" name="直線單箭頭接點 14"/>
          <p:cNvCxnSpPr/>
          <p:nvPr>
            <p:custDataLst>
              <p:tags r:id="rId12"/>
            </p:custDataLst>
          </p:nvPr>
        </p:nvCxnSpPr>
        <p:spPr>
          <a:xfrm flipH="1">
            <a:off x="4454207" y="2685839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3"/>
          <p:cNvSpPr txBox="1"/>
          <p:nvPr>
            <p:custDataLst>
              <p:tags r:id="rId13"/>
            </p:custDataLst>
          </p:nvPr>
        </p:nvSpPr>
        <p:spPr>
          <a:xfrm>
            <a:off x="6127602" y="4138245"/>
            <a:ext cx="324597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&lt;output&gt;</a:t>
            </a:r>
            <a:r>
              <a:rPr lang="zh-TW" altLang="en-US" sz="1800" b="0" dirty="0"/>
              <a:t>攝氏 </a:t>
            </a:r>
            <a:r>
              <a:rPr lang="en-US" altLang="zh-TW" sz="1800" b="0" dirty="0"/>
              <a:t>32 </a:t>
            </a:r>
            <a:r>
              <a:rPr lang="zh-TW" altLang="en-US" sz="1800" b="0" dirty="0"/>
              <a:t>度</a:t>
            </a:r>
            <a:r>
              <a:rPr lang="en-US" altLang="zh-TW" sz="1800" b="0" dirty="0"/>
              <a:t>&lt;/output&gt;</a:t>
            </a:r>
          </a:p>
        </p:txBody>
      </p:sp>
      <p:sp>
        <p:nvSpPr>
          <p:cNvPr id="9" name="文字方塊 4"/>
          <p:cNvSpPr txBox="1"/>
          <p:nvPr>
            <p:custDataLst>
              <p:tags r:id="rId14"/>
            </p:custDataLst>
          </p:nvPr>
        </p:nvSpPr>
        <p:spPr>
          <a:xfrm>
            <a:off x="225675" y="3620050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不需要呈现给用户看</a:t>
            </a:r>
          </a:p>
        </p:txBody>
      </p:sp>
      <p:sp>
        <p:nvSpPr>
          <p:cNvPr id="10" name="文字方塊 7"/>
          <p:cNvSpPr txBox="1"/>
          <p:nvPr>
            <p:custDataLst>
              <p:tags r:id="rId15"/>
            </p:custDataLst>
          </p:nvPr>
        </p:nvSpPr>
        <p:spPr>
          <a:xfrm>
            <a:off x="778919" y="5054040"/>
            <a:ext cx="179614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Agent </a:t>
            </a:r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先设定好的流程</a:t>
            </a:r>
          </a:p>
        </p:txBody>
      </p:sp>
      <p:sp>
        <p:nvSpPr>
          <p:cNvPr id="12" name="矩形: 圓角 9"/>
          <p:cNvSpPr/>
          <p:nvPr>
            <p:custDataLst>
              <p:tags r:id="rId16"/>
            </p:custDataLst>
          </p:nvPr>
        </p:nvSpPr>
        <p:spPr>
          <a:xfrm>
            <a:off x="2662374" y="5125534"/>
            <a:ext cx="2241096" cy="55430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4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Temperature</a:t>
            </a:r>
            <a:endParaRPr lang="zh-TW" altLang="en-US" sz="2400" b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7" name="直線單箭頭接點 11"/>
          <p:cNvCxnSpPr/>
          <p:nvPr>
            <p:custDataLst>
              <p:tags r:id="rId17"/>
            </p:custDataLst>
          </p:nvPr>
        </p:nvCxnSpPr>
        <p:spPr>
          <a:xfrm flipH="1">
            <a:off x="3791538" y="4698031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大括弧 13"/>
          <p:cNvSpPr/>
          <p:nvPr>
            <p:custDataLst>
              <p:tags r:id="rId18"/>
            </p:custDataLst>
          </p:nvPr>
        </p:nvSpPr>
        <p:spPr>
          <a:xfrm rot="5400000">
            <a:off x="3657264" y="2721181"/>
            <a:ext cx="274224" cy="3761236"/>
          </a:xfrm>
          <a:prstGeom prst="rightBrace">
            <a:avLst>
              <a:gd name="adj1" fmla="val 3956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右大括弧 16"/>
          <p:cNvSpPr/>
          <p:nvPr>
            <p:custDataLst>
              <p:tags r:id="rId19"/>
            </p:custDataLst>
          </p:nvPr>
        </p:nvSpPr>
        <p:spPr>
          <a:xfrm rot="5400000">
            <a:off x="7452360" y="3985260"/>
            <a:ext cx="253365" cy="1130935"/>
          </a:xfrm>
          <a:prstGeom prst="rightBrace">
            <a:avLst>
              <a:gd name="adj1" fmla="val 39564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17"/>
          <p:cNvSpPr txBox="1"/>
          <p:nvPr>
            <p:custDataLst>
              <p:tags r:id="rId20"/>
            </p:custDataLst>
          </p:nvPr>
        </p:nvSpPr>
        <p:spPr>
          <a:xfrm>
            <a:off x="7052437" y="3612992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不需要呈现给用户看</a:t>
            </a:r>
          </a:p>
        </p:txBody>
      </p:sp>
      <p:cxnSp>
        <p:nvCxnSpPr>
          <p:cNvPr id="24" name="直線單箭頭接點 26"/>
          <p:cNvCxnSpPr/>
          <p:nvPr>
            <p:custDataLst>
              <p:tags r:id="rId21"/>
            </p:custDataLst>
          </p:nvPr>
        </p:nvCxnSpPr>
        <p:spPr>
          <a:xfrm flipV="1">
            <a:off x="7575983" y="4674752"/>
            <a:ext cx="0" cy="6883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9"/>
          <p:cNvCxnSpPr/>
          <p:nvPr>
            <p:custDataLst>
              <p:tags r:id="rId22"/>
            </p:custDataLst>
          </p:nvPr>
        </p:nvCxnSpPr>
        <p:spPr>
          <a:xfrm>
            <a:off x="4922519" y="5398198"/>
            <a:ext cx="2653464" cy="783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>
            <p:custDataLst>
              <p:tags r:id="rId23"/>
            </p:custDataLst>
          </p:nvPr>
        </p:nvCxnSpPr>
        <p:spPr>
          <a:xfrm flipH="1" flipV="1">
            <a:off x="1332217" y="3945102"/>
            <a:ext cx="322603" cy="253549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>
            <p:custDataLst>
              <p:tags r:id="rId24"/>
            </p:custDataLst>
          </p:nvPr>
        </p:nvCxnSpPr>
        <p:spPr>
          <a:xfrm flipV="1">
            <a:off x="6670301" y="3892247"/>
            <a:ext cx="407821" cy="284027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/>
          <p:cNvSpPr txBox="1"/>
          <p:nvPr>
            <p:custDataLst>
              <p:tags r:id="rId25"/>
            </p:custDataLst>
          </p:nvPr>
        </p:nvSpPr>
        <p:spPr>
          <a:xfrm>
            <a:off x="2662688" y="6033107"/>
            <a:ext cx="6096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0" dirty="0"/>
              <a:t>2025 </a:t>
            </a:r>
            <a:r>
              <a:rPr lang="zh-TW" altLang="en-US" sz="1800" b="0" dirty="0"/>
              <a:t>年 </a:t>
            </a:r>
            <a:r>
              <a:rPr lang="en-US" altLang="zh-TW" sz="1800" b="0" dirty="0"/>
              <a:t>3 </a:t>
            </a:r>
            <a:r>
              <a:rPr lang="zh-TW" altLang="en-US" sz="1800" b="0" dirty="0"/>
              <a:t>月 </a:t>
            </a:r>
            <a:r>
              <a:rPr lang="en-US" altLang="zh-TW" sz="1800" b="0" dirty="0"/>
              <a:t>10 </a:t>
            </a:r>
            <a:r>
              <a:rPr lang="zh-TW" altLang="en-US" sz="1800" b="0" dirty="0"/>
              <a:t>日下午 </a:t>
            </a:r>
            <a:r>
              <a:rPr lang="en-US" altLang="zh-TW" sz="1800" b="0" dirty="0"/>
              <a:t>2:00</a:t>
            </a:r>
            <a:r>
              <a:rPr lang="zh-TW" altLang="en-US" sz="1800" b="0" dirty="0"/>
              <a:t>，</a:t>
            </a:r>
            <a:r>
              <a:rPr lang="zh-CN" altLang="zh-TW" sz="1800" b="0" dirty="0"/>
              <a:t>广州</a:t>
            </a:r>
            <a:r>
              <a:rPr lang="zh-TW" altLang="en-US" sz="1800" b="0" dirty="0"/>
              <a:t>的</a:t>
            </a:r>
            <a:r>
              <a:rPr lang="zh-CN" altLang="zh-TW" sz="1800" b="0" dirty="0"/>
              <a:t>气温为摄氏</a:t>
            </a:r>
            <a:r>
              <a:rPr lang="en-US" altLang="zh-TW" sz="1800" b="0" dirty="0"/>
              <a:t>32</a:t>
            </a:r>
            <a:r>
              <a:rPr lang="zh-TW" altLang="en-US" sz="1800" b="0" dirty="0"/>
              <a:t>度。</a:t>
            </a:r>
          </a:p>
        </p:txBody>
      </p:sp>
      <p:sp>
        <p:nvSpPr>
          <p:cNvPr id="39" name="文字方塊 40"/>
          <p:cNvSpPr txBox="1"/>
          <p:nvPr>
            <p:custDataLst>
              <p:tags r:id="rId26"/>
            </p:custDataLst>
          </p:nvPr>
        </p:nvSpPr>
        <p:spPr>
          <a:xfrm>
            <a:off x="543927" y="5972782"/>
            <a:ext cx="25936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b="0" dirty="0"/>
              <a:t>(</a:t>
            </a:r>
            <a:r>
              <a:rPr lang="zh-CN" altLang="en-US" sz="1800" b="0" dirty="0"/>
              <a:t>继续去做接龙</a:t>
            </a:r>
            <a:r>
              <a:rPr lang="zh-TW" altLang="en-US" sz="1800" b="0" dirty="0"/>
              <a:t> </a:t>
            </a:r>
            <a:r>
              <a:rPr lang="en-US" altLang="zh-TW" sz="1800" b="0" dirty="0"/>
              <a:t>……)</a:t>
            </a:r>
            <a:endParaRPr lang="zh-TW" altLang="en-US" sz="1800" b="0" dirty="0"/>
          </a:p>
        </p:txBody>
      </p:sp>
      <p:cxnSp>
        <p:nvCxnSpPr>
          <p:cNvPr id="42" name="直線單箭頭接點 42"/>
          <p:cNvCxnSpPr/>
          <p:nvPr>
            <p:custDataLst>
              <p:tags r:id="rId27"/>
            </p:custDataLst>
          </p:nvPr>
        </p:nvCxnSpPr>
        <p:spPr>
          <a:xfrm flipV="1">
            <a:off x="7974638" y="5723804"/>
            <a:ext cx="497962" cy="280253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方塊 17"/>
          <p:cNvSpPr txBox="1"/>
          <p:nvPr>
            <p:custDataLst>
              <p:tags r:id="rId28"/>
            </p:custDataLst>
          </p:nvPr>
        </p:nvSpPr>
        <p:spPr>
          <a:xfrm>
            <a:off x="7161022" y="5351622"/>
            <a:ext cx="265974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TW" sz="1800" b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用户看到的结果</a:t>
            </a:r>
          </a:p>
        </p:txBody>
      </p:sp>
      <p:cxnSp>
        <p:nvCxnSpPr>
          <p:cNvPr id="50" name="直線單箭頭接點 14"/>
          <p:cNvCxnSpPr/>
          <p:nvPr>
            <p:custDataLst>
              <p:tags r:id="rId29"/>
            </p:custDataLst>
          </p:nvPr>
        </p:nvCxnSpPr>
        <p:spPr>
          <a:xfrm flipH="1">
            <a:off x="4454842" y="3816139"/>
            <a:ext cx="1" cy="3839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圓角 6"/>
          <p:cNvSpPr/>
          <p:nvPr>
            <p:custDataLst>
              <p:tags r:id="rId30"/>
            </p:custDataLst>
          </p:nvPr>
        </p:nvSpPr>
        <p:spPr>
          <a:xfrm>
            <a:off x="3838575" y="3070397"/>
            <a:ext cx="1228725" cy="91846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语言</a:t>
            </a:r>
          </a:p>
          <a:p>
            <a:pPr algn="ctr"/>
            <a:r>
              <a:rPr lang="zh-CN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  <p:bldP spid="37" grpId="0" bldLvl="0" animBg="1"/>
      <p:bldP spid="8" grpId="0"/>
      <p:bldP spid="9" grpId="0"/>
      <p:bldP spid="10" grpId="0"/>
      <p:bldP spid="12" grpId="0" bldLvl="0" animBg="1"/>
      <p:bldP spid="19" grpId="0" bldLvl="0" animBg="1"/>
      <p:bldP spid="20" grpId="0" bldLvl="0" animBg="1"/>
      <p:bldP spid="23" grpId="0"/>
      <p:bldP spid="40" grpId="0"/>
      <p:bldP spid="39" grpId="0"/>
      <p:bldP spid="4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的优势</a:t>
            </a: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多基本组成</a:t>
            </a:r>
            <a:endParaRPr lang="en-US" altLang="zh-CN" dirty="0"/>
          </a:p>
          <a:p>
            <a:pPr marL="514350" indent="-514350">
              <a:buFont typeface="+mj-lt"/>
              <a:buAutoNum type="arabicPeriod" startAt="2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的通信</a:t>
            </a:r>
            <a:r>
              <a:rPr lang="en-US" altLang="zh-CN" dirty="0"/>
              <a:t>/</a:t>
            </a:r>
            <a:r>
              <a:rPr lang="zh-CN" altLang="en-US" dirty="0"/>
              <a:t>编排</a:t>
            </a:r>
            <a:endParaRPr lang="en-US" altLang="zh-CN" dirty="0"/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14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81881" y="1139917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对比单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的优势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sz="2800" b="0" dirty="0"/>
              <a:t>不同的agent设定不同的角色</a:t>
            </a:r>
            <a:r>
              <a:rPr lang="zh-CN" altLang="en-US" sz="2800" b="0" dirty="0"/>
              <a:t>。</a:t>
            </a:r>
          </a:p>
          <a:p>
            <a:pPr lvl="1"/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每个agent具有不同的功能，从而整体提供更高级的功能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。</a:t>
            </a:r>
          </a:p>
          <a:p>
            <a:pPr lvl="1"/>
            <a:endParaRPr lang="en-US" altLang="zh-CN" sz="2000" b="0" dirty="0">
              <a:latin typeface="+mj-ea"/>
              <a:ea typeface="+mj-ea"/>
              <a:cs typeface="+mj-ea"/>
            </a:endParaRPr>
          </a:p>
          <a:p>
            <a:r>
              <a:rPr sz="2800" b="0" dirty="0"/>
              <a:t>不同的agent之间能够进行交互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产生合作、竞争或辩论的关系，以有效地模拟复杂的现实环境。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3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181881" y="1139917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系统的总体架构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sz="2800" b="0" dirty="0"/>
              <a:t>agent所处环境种类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沙箱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真实物理世界</a:t>
            </a:r>
          </a:p>
          <a:p>
            <a:pPr lvl="1"/>
            <a:r>
              <a:rPr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无环境(不需要环境或文本环境)</a:t>
            </a:r>
          </a:p>
          <a:p>
            <a:r>
              <a:rPr sz="2800" b="0" dirty="0"/>
              <a:t>agent</a:t>
            </a:r>
            <a:r>
              <a:rPr lang="en-US" sz="2800" b="0" dirty="0"/>
              <a:t> profile(</a:t>
            </a:r>
            <a:r>
              <a:rPr sz="2800" b="0" dirty="0"/>
              <a:t>画像</a:t>
            </a:r>
            <a:r>
              <a:rPr lang="en-US" sz="2800" b="0" dirty="0"/>
              <a:t>)</a:t>
            </a:r>
            <a:r>
              <a:rPr sz="2800" b="0" dirty="0"/>
              <a:t>来源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预定义（人工生成）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模型生成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根据真实数据集派生（例如，数据集中存在某一个虚拟人物的详细介绍，直接把这个赋予给agent）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41045" y="1152525"/>
            <a:ext cx="7818755" cy="537464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多</a:t>
            </a:r>
            <a:r>
              <a:rPr lang="en-US" altLang="zh-CN" dirty="0"/>
              <a:t>Agent</a:t>
            </a:r>
            <a:r>
              <a:rPr lang="zh-CN" altLang="en-US" dirty="0"/>
              <a:t>系统</a:t>
            </a:r>
          </a:p>
        </p:txBody>
      </p:sp>
      <p:sp>
        <p:nvSpPr>
          <p:cNvPr id="3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364126" y="1450432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0" dirty="0"/>
              <a:t>多</a:t>
            </a:r>
            <a:r>
              <a:rPr lang="en-US" altLang="zh-CN" sz="2800" b="0" dirty="0"/>
              <a:t>Agent</a:t>
            </a:r>
            <a:r>
              <a:rPr lang="zh-CN" altLang="en-US" sz="2800" b="0" dirty="0"/>
              <a:t>系统的通信</a:t>
            </a:r>
          </a:p>
          <a:p>
            <a:pPr marL="0" indent="0">
              <a:buNone/>
            </a:pPr>
            <a:endParaRPr lang="zh-CN" altLang="en-US" sz="2800" b="0" dirty="0"/>
          </a:p>
          <a:p>
            <a:r>
              <a:rPr lang="zh-CN" sz="2800" b="0" dirty="0"/>
              <a:t>通信范式</a:t>
            </a:r>
            <a:endParaRPr sz="2800" b="0" dirty="0"/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合作</a:t>
            </a:r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辩论</a:t>
            </a: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竞争</a:t>
            </a:r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r>
              <a:rPr lang="zh-CN" sz="2800" b="0" dirty="0"/>
              <a:t>通信结构</a:t>
            </a:r>
            <a:endParaRPr sz="2800" b="0" dirty="0"/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层级结构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去中心化结构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中心化结构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共享信息池</a:t>
            </a:r>
          </a:p>
          <a:p>
            <a:pPr marL="0" indent="0">
              <a:buNone/>
            </a:pPr>
            <a:endParaRPr lang="zh-CN" altLang="en-US" sz="2800" b="0" dirty="0"/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  <p:pic>
        <p:nvPicPr>
          <p:cNvPr id="2" name="图片 1" descr="QQ_17491149297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085" y="1722755"/>
            <a:ext cx="4526915" cy="448183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273050" y="908050"/>
            <a:ext cx="8768080" cy="540067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/>
              <a:t>概览四个热门开源 AI Agent 框架</a:t>
            </a:r>
          </a:p>
          <a:p>
            <a:pPr marL="514350" indent="-514350">
              <a:buFont typeface="+mj-lt"/>
              <a:buAutoNum type="arabicPeriod"/>
            </a:pPr>
            <a:endParaRPr dirty="0"/>
          </a:p>
          <a:p>
            <a:pPr marL="514350" indent="-514350">
              <a:buFont typeface="+mj-lt"/>
              <a:buAutoNum type="arabicPeriod" startAt="2"/>
            </a:pPr>
            <a:r>
              <a:rPr lang="zh-CN" dirty="0"/>
              <a:t>对比</a:t>
            </a:r>
            <a:r>
              <a:rPr dirty="0"/>
              <a:t>两种差异化的架构方案</a:t>
            </a:r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38" name="picture 3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 rot="21600000">
            <a:off x="509729" y="2422075"/>
            <a:ext cx="8125001" cy="3816797"/>
          </a:xfrm>
          <a:prstGeom prst="rect">
            <a:avLst/>
          </a:prstGeom>
        </p:spPr>
      </p:pic>
      <p:sp>
        <p:nvSpPr>
          <p:cNvPr id="40" name="textbox 40"/>
          <p:cNvSpPr/>
          <p:nvPr>
            <p:custDataLst>
              <p:tags r:id="rId2"/>
            </p:custDataLst>
          </p:nvPr>
        </p:nvSpPr>
        <p:spPr>
          <a:xfrm>
            <a:off x="673722" y="142637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45"/>
              </a:lnSpc>
            </a:pP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四个热门开源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Agent</a:t>
            </a:r>
            <a:r>
              <a:rPr sz="2300" b="1" kern="0" spc="27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框架：</a:t>
            </a:r>
            <a:r>
              <a:rPr sz="2300" b="1" kern="0" spc="25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G</a:t>
            </a:r>
            <a:r>
              <a:rPr sz="2300" b="1" kern="0" spc="-4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itHub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Trends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2" name="textbox 40"/>
          <p:cNvSpPr/>
          <p:nvPr>
            <p:custDataLst>
              <p:tags r:id="rId1"/>
            </p:custDataLst>
          </p:nvPr>
        </p:nvSpPr>
        <p:spPr>
          <a:xfrm>
            <a:off x="604507" y="99330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2700" algn="l" rtl="0" eaLnBrk="0">
              <a:lnSpc>
                <a:spcPts val="3045"/>
              </a:lnSpc>
            </a:pP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四个热门开源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Agent</a:t>
            </a:r>
            <a:r>
              <a:rPr sz="2300" b="1" kern="0" spc="27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-1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框架</a:t>
            </a:r>
            <a:endParaRPr lang="zh-CN" sz="23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10"/>
        </p:blipFill>
        <p:spPr>
          <a:xfrm>
            <a:off x="604520" y="1548765"/>
            <a:ext cx="4210050" cy="2744470"/>
          </a:xfrm>
          <a:prstGeom prst="rect">
            <a:avLst/>
          </a:prstGeom>
        </p:spPr>
      </p:pic>
      <p:pic>
        <p:nvPicPr>
          <p:cNvPr id="7" name="图片 6" descr="QQ_17491160024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0540" y="1548765"/>
            <a:ext cx="3150870" cy="2753995"/>
          </a:xfrm>
          <a:prstGeom prst="rect">
            <a:avLst/>
          </a:prstGeom>
        </p:spPr>
      </p:pic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12"/>
        </p:blipFill>
        <p:spPr>
          <a:xfrm>
            <a:off x="604520" y="4293466"/>
            <a:ext cx="4572000" cy="2448098"/>
          </a:xfrm>
          <a:prstGeom prst="rect">
            <a:avLst/>
          </a:prstGeom>
        </p:spPr>
      </p:pic>
      <p:pic>
        <p:nvPicPr>
          <p:cNvPr id="13" name="图片 12" descr="QQ_17491163056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88610" y="4615180"/>
            <a:ext cx="3554095" cy="2091690"/>
          </a:xfrm>
          <a:prstGeom prst="rect">
            <a:avLst/>
          </a:prstGeom>
        </p:spPr>
      </p:pic>
      <p:sp>
        <p:nvSpPr>
          <p:cNvPr id="15" name="textbox 40"/>
          <p:cNvSpPr/>
          <p:nvPr>
            <p:custDataLst>
              <p:tags r:id="rId4"/>
            </p:custDataLst>
          </p:nvPr>
        </p:nvSpPr>
        <p:spPr>
          <a:xfrm>
            <a:off x="956310" y="479933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AutoGen</a:t>
            </a:r>
            <a:endParaRPr lang="en-US" sz="18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6" name="textbox 40"/>
          <p:cNvSpPr/>
          <p:nvPr>
            <p:custDataLst>
              <p:tags r:id="rId5"/>
            </p:custDataLst>
          </p:nvPr>
        </p:nvSpPr>
        <p:spPr>
          <a:xfrm>
            <a:off x="2273935" y="163322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CrewAI</a:t>
            </a:r>
          </a:p>
        </p:txBody>
      </p:sp>
      <p:sp>
        <p:nvSpPr>
          <p:cNvPr id="17" name="textbox 40"/>
          <p:cNvSpPr/>
          <p:nvPr>
            <p:custDataLst>
              <p:tags r:id="rId6"/>
            </p:custDataLst>
          </p:nvPr>
        </p:nvSpPr>
        <p:spPr>
          <a:xfrm>
            <a:off x="5832475" y="165735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LangGraph</a:t>
            </a:r>
          </a:p>
        </p:txBody>
      </p:sp>
      <p:sp>
        <p:nvSpPr>
          <p:cNvPr id="18" name="textbox 40"/>
          <p:cNvSpPr/>
          <p:nvPr>
            <p:custDataLst>
              <p:tags r:id="rId7"/>
            </p:custDataLst>
          </p:nvPr>
        </p:nvSpPr>
        <p:spPr>
          <a:xfrm>
            <a:off x="6195060" y="461518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LlamaIndex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9319-4574-81A2-4D8E-1A92164B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3AC5E92-2A43-A00B-14F6-F2007C9C8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3" name="矩形: 圆角 12">
            <a:extLst>
              <a:ext uri="{FF2B5EF4-FFF2-40B4-BE49-F238E27FC236}">
                <a16:creationId xmlns:a16="http://schemas.microsoft.com/office/drawing/2014/main" id="{C278CEED-EEF2-F331-0790-926BC784E2C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83760" y="1090295"/>
            <a:ext cx="4332605" cy="56172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72EBEE7F-6B2E-D337-C2B5-2641C92C55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05740" y="1090295"/>
            <a:ext cx="4210050" cy="5617210"/>
          </a:xfrm>
          <a:prstGeom prst="roundRect">
            <a:avLst>
              <a:gd name="adj" fmla="val 3216"/>
            </a:avLst>
          </a:prstGeom>
          <a:solidFill>
            <a:schemeClr val="bg1"/>
          </a:solidFill>
          <a:ln>
            <a:gradFill>
              <a:gsLst>
                <a:gs pos="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B34009-1C87-CE4A-0296-46DD8C34DE0F}"/>
              </a:ext>
            </a:extLst>
          </p:cNvPr>
          <p:cNvPicPr/>
          <p:nvPr>
            <p:custDataLst>
              <p:tags r:id="rId3"/>
            </p:custDataLst>
          </p:nvPr>
        </p:nvPicPr>
        <p:blipFill>
          <a:blip r:embed="rId16"/>
        </p:blipFill>
        <p:spPr>
          <a:xfrm>
            <a:off x="205740" y="1270000"/>
            <a:ext cx="4210050" cy="2744470"/>
          </a:xfrm>
          <a:prstGeom prst="rect">
            <a:avLst/>
          </a:prstGeom>
        </p:spPr>
      </p:pic>
      <p:pic>
        <p:nvPicPr>
          <p:cNvPr id="8" name="图片 7" descr="QQ_1749116002464">
            <a:extLst>
              <a:ext uri="{FF2B5EF4-FFF2-40B4-BE49-F238E27FC236}">
                <a16:creationId xmlns:a16="http://schemas.microsoft.com/office/drawing/2014/main" id="{735DAAF9-661C-C916-4CB6-4E1FD3ECDF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5146675" y="1223645"/>
            <a:ext cx="3406775" cy="29775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3D9359D-1694-2188-9BD4-F0C2F2B56527}"/>
              </a:ext>
            </a:extLst>
          </p:cNvPr>
          <p:cNvPicPr/>
          <p:nvPr>
            <p:custDataLst>
              <p:tags r:id="rId5"/>
            </p:custDataLst>
          </p:nvPr>
        </p:nvPicPr>
        <p:blipFill>
          <a:blip r:embed="rId18"/>
        </p:blipFill>
        <p:spPr>
          <a:xfrm>
            <a:off x="498475" y="4429760"/>
            <a:ext cx="3890010" cy="2186940"/>
          </a:xfrm>
          <a:prstGeom prst="rect">
            <a:avLst/>
          </a:prstGeom>
        </p:spPr>
      </p:pic>
      <p:pic>
        <p:nvPicPr>
          <p:cNvPr id="11" name="图片 10" descr="QQ_1749116305660">
            <a:extLst>
              <a:ext uri="{FF2B5EF4-FFF2-40B4-BE49-F238E27FC236}">
                <a16:creationId xmlns:a16="http://schemas.microsoft.com/office/drawing/2014/main" id="{ED193527-B6CD-3628-4DB9-941AC06969E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388610" y="4429760"/>
            <a:ext cx="3554095" cy="2091690"/>
          </a:xfrm>
          <a:prstGeom prst="rect">
            <a:avLst/>
          </a:prstGeom>
        </p:spPr>
      </p:pic>
      <p:sp>
        <p:nvSpPr>
          <p:cNvPr id="12" name="textbox 40">
            <a:extLst>
              <a:ext uri="{FF2B5EF4-FFF2-40B4-BE49-F238E27FC236}">
                <a16:creationId xmlns:a16="http://schemas.microsoft.com/office/drawing/2014/main" id="{7D0A3B42-72AF-281C-E17F-32D9583BBAA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927860" y="410718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AutoGen</a:t>
            </a:r>
            <a:endParaRPr lang="en-US" sz="1800" b="1" kern="0" spc="-10" dirty="0">
              <a:solidFill>
                <a:schemeClr val="tx1">
                  <a:alpha val="100000"/>
                </a:schemeClr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4" name="textbox 40">
            <a:extLst>
              <a:ext uri="{FF2B5EF4-FFF2-40B4-BE49-F238E27FC236}">
                <a16:creationId xmlns:a16="http://schemas.microsoft.com/office/drawing/2014/main" id="{D1BD58DB-3266-AED4-009A-C06AFE1CBFD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997075" y="118935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CrewAI</a:t>
            </a:r>
          </a:p>
        </p:txBody>
      </p:sp>
      <p:sp>
        <p:nvSpPr>
          <p:cNvPr id="19" name="textbox 40">
            <a:extLst>
              <a:ext uri="{FF2B5EF4-FFF2-40B4-BE49-F238E27FC236}">
                <a16:creationId xmlns:a16="http://schemas.microsoft.com/office/drawing/2014/main" id="{90C25AE0-6472-6307-0782-4A9B2090A974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509385" y="129222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LangGraph</a:t>
            </a:r>
          </a:p>
        </p:txBody>
      </p:sp>
      <p:sp>
        <p:nvSpPr>
          <p:cNvPr id="20" name="textbox 40">
            <a:extLst>
              <a:ext uri="{FF2B5EF4-FFF2-40B4-BE49-F238E27FC236}">
                <a16:creationId xmlns:a16="http://schemas.microsoft.com/office/drawing/2014/main" id="{F745EDD1-0607-47D9-E58E-D1417FEEC03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568440" y="4017645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LlamaIndex</a:t>
            </a:r>
          </a:p>
        </p:txBody>
      </p:sp>
      <p:sp>
        <p:nvSpPr>
          <p:cNvPr id="21" name="textbox 40">
            <a:extLst>
              <a:ext uri="{FF2B5EF4-FFF2-40B4-BE49-F238E27FC236}">
                <a16:creationId xmlns:a16="http://schemas.microsoft.com/office/drawing/2014/main" id="{39F82C25-A1D0-2FC6-A939-A261771C409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05727" y="1009815"/>
            <a:ext cx="630364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1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你人</a:t>
            </a:r>
            <a:r>
              <a:rPr lang="en-US" altLang="zh-CN" sz="1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</a:t>
            </a:r>
          </a:p>
        </p:txBody>
      </p:sp>
      <p:sp>
        <p:nvSpPr>
          <p:cNvPr id="22" name="textbox 40">
            <a:extLst>
              <a:ext uri="{FF2B5EF4-FFF2-40B4-BE49-F238E27FC236}">
                <a16:creationId xmlns:a16="http://schemas.microsoft.com/office/drawing/2014/main" id="{205ACDD3-AC80-AE14-CF81-21A0431DE63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819910" y="81153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拟人协作</a:t>
            </a:r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4025862F-9D1A-7815-ACAA-EECB4063E0F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651625" y="842010"/>
            <a:ext cx="223202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流程控制</a:t>
            </a:r>
          </a:p>
        </p:txBody>
      </p:sp>
    </p:spTree>
    <p:extLst>
      <p:ext uri="{BB962C8B-B14F-4D97-AF65-F5344CB8AC3E}">
        <p14:creationId xmlns:p14="http://schemas.microsoft.com/office/powerpoint/2010/main" val="10117174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A1CF-6AD3-FD14-7935-D172B5ED5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BBB5597-A3CC-1577-1E4D-04A56AAC3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2225040"/>
            <a:ext cx="4503420" cy="292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600" b="0" dirty="0">
              <a:latin typeface="+mj-lt"/>
              <a:ea typeface="Arial" panose="020B0604020202090204"/>
              <a:cs typeface="+mj-lt"/>
            </a:endParaRPr>
          </a:p>
          <a:p>
            <a:pPr marL="190500" indent="-177800" algn="l" rtl="0" eaLnBrk="0">
              <a:lnSpc>
                <a:spcPct val="123000"/>
              </a:lnSpc>
            </a:pP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•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 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AutoGen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是最早专注于构建多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代理对话式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</a:t>
            </a:r>
            <a:r>
              <a:rPr sz="1600" b="0" kern="0" spc="-2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I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应用的开源框架。</a:t>
            </a:r>
            <a:r>
              <a:rPr sz="1600" b="0" kern="0" spc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它简化了基于</a:t>
            </a:r>
            <a:r>
              <a:rPr sz="1600" b="0" kern="0" spc="2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LLM</a:t>
            </a:r>
            <a:r>
              <a:rPr sz="1600" b="0" kern="0" spc="2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的多代理系统的创建过程， 支持代理之间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的自主交互。</a:t>
            </a:r>
          </a:p>
          <a:p>
            <a:pPr marL="190500" indent="-177800" algn="l" rtl="0" eaLnBrk="0">
              <a:lnSpc>
                <a:spcPct val="123000"/>
              </a:lnSpc>
            </a:pPr>
            <a:endParaRPr sz="1600" b="0" kern="0" spc="-30" dirty="0">
              <a:solidFill>
                <a:srgbClr val="3B3838">
                  <a:alpha val="100000"/>
                </a:srgbClr>
              </a:solidFill>
              <a:latin typeface="+mj-lt"/>
              <a:ea typeface="Microsoft JhengHei"/>
              <a:cs typeface="+mj-lt"/>
            </a:endParaRPr>
          </a:p>
          <a:p>
            <a:pPr marL="190500" indent="-177800" algn="l" rtl="0" eaLnBrk="0">
              <a:lnSpc>
                <a:spcPct val="123000"/>
              </a:lnSpc>
            </a:pPr>
            <a:endParaRPr sz="1600" b="0" dirty="0">
              <a:latin typeface="+mj-lt"/>
              <a:ea typeface="Microsoft JhengHei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•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Arial" panose="020B0604020202090204"/>
                <a:cs typeface="+mj-lt"/>
              </a:rPr>
              <a:t> 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AutoGen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允许开发者定义具有不同角色和能力的多个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A</a:t>
            </a:r>
            <a:r>
              <a:rPr sz="1600" b="0" kern="0" spc="-1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I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代理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，</a:t>
            </a:r>
            <a:r>
              <a:rPr sz="1600" b="0" kern="0" spc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这些代理可以相互协作以完成复杂任务。</a:t>
            </a:r>
            <a:r>
              <a:rPr sz="1600" b="0" kern="0" spc="-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框架提供了灵活的对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话管理，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 </a:t>
            </a:r>
            <a:r>
              <a:rPr sz="1600" b="0" kern="0" spc="-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</a:rPr>
              <a:t>以及自定义的代理行为设计。</a:t>
            </a:r>
            <a:endParaRPr sz="1600" b="0" dirty="0">
              <a:latin typeface="+mj-lt"/>
              <a:ea typeface="Microsoft JhengHei"/>
              <a:cs typeface="+mj-lt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	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AutoGen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300" b="1" kern="0" spc="2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开创性的多代理对话式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</a:t>
            </a:r>
            <a:r>
              <a:rPr sz="2300" b="1" kern="0" spc="-3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</a:t>
            </a:r>
            <a:r>
              <a:rPr sz="2300" b="1" kern="0" spc="32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应用框架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2" name="图片 1" descr="QQ_1749117008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55" y="2030095"/>
            <a:ext cx="4221480" cy="404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820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6ED63-A5A3-B1FA-24DA-71F4E95D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68110DDC-1C6A-7F7B-017C-3263E9617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84150" indent="-171450" algn="l" defTabSz="914400" rtl="0" eaLnBrk="0" hangingPunct="1">
              <a:lnSpc>
                <a:spcPct val="146000"/>
              </a:lnSpc>
              <a:buFont typeface="Arial" panose="020B0604020202090204" pitchFamily="34" charset="0"/>
              <a:buChar char="•"/>
            </a:pP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优势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提供高级抽象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的多代理协作模式</a:t>
            </a:r>
            <a:r>
              <a:rPr lang="zh-CN" altLang="en-US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，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简化了复杂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</a:t>
            </a:r>
            <a:r>
              <a:rPr sz="1600" b="0" kern="0" spc="-13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I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系统的开发</a:t>
            </a:r>
            <a:r>
              <a:rPr lang="zh-CN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；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支持灵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活的代理角色定义和自定义行为，</a:t>
            </a:r>
            <a:r>
              <a:rPr sz="1600" b="0" kern="0" spc="1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适合快速原型开发和实验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620"/>
              </a:spcBef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劣势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对底层流程控制的精细调整能力较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弱；在处理需要严格顺序控制的复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杂工作流时可能不够灵活</a:t>
            </a:r>
            <a:r>
              <a:rPr sz="1600" b="0" kern="0" spc="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4150" indent="-171450" algn="l" defTabSz="914400" rtl="0" eaLnBrk="0" hangingPunct="1">
              <a:lnSpc>
                <a:spcPct val="143000"/>
              </a:lnSpc>
              <a:spcBef>
                <a:spcPts val="510"/>
              </a:spcBef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机会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随着更多领域采用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</a:t>
            </a:r>
            <a:r>
              <a:rPr sz="1600" b="0" kern="0" spc="-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I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协作系统，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AutoGen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可以成为快速部署多代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理解决方案的首选工具；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通过与低级框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架的集成</a:t>
            </a:r>
            <a:r>
              <a:rPr lang="zh-CN"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，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可以提供更全面的解决方案。</a:t>
            </a:r>
            <a:endParaRPr sz="1600" b="0" dirty="0">
              <a:latin typeface="+mj-lt"/>
              <a:ea typeface="Microsoft JhengHei"/>
              <a:cs typeface="+mj-lt"/>
            </a:endParaRPr>
          </a:p>
          <a:p>
            <a:pPr marL="183515" indent="-171450" algn="l" defTabSz="914400" rtl="0" eaLnBrk="0" hangingPunct="1">
              <a:lnSpc>
                <a:spcPct val="135000"/>
              </a:lnSpc>
              <a:buFont typeface="Arial" panose="020B0604020202090204" pitchFamily="34" charset="0"/>
              <a:buChar char="•"/>
            </a:pPr>
            <a:r>
              <a:rPr sz="1600" b="0" kern="0" spc="80" dirty="0">
                <a:solidFill>
                  <a:srgbClr val="C1420A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威胁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：</a:t>
            </a:r>
            <a:r>
              <a:rPr sz="1600" b="0" kern="0" spc="1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随着低级框架逐渐增加高级抽象功能，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可能会削弱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AutoGen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在易用性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方面的优势</a:t>
            </a:r>
            <a:r>
              <a:rPr lang="zh-CN"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；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用户可能因为需要更精细的控制而转向底层框架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+mj-lt"/>
                <a:ea typeface="Microsoft JhengHei"/>
                <a:cs typeface="+mj-lt"/>
                <a:sym typeface="+mn-ea"/>
              </a:rPr>
              <a:t>。</a:t>
            </a:r>
            <a:endParaRPr sz="1600" b="0" dirty="0">
              <a:latin typeface="+mj-lt"/>
              <a:ea typeface="Microsoft JhengHei"/>
              <a:cs typeface="+mj-lt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	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AutoGen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2300" b="1" kern="0" spc="2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开创性的多代理对话式</a:t>
            </a:r>
            <a:r>
              <a:rPr sz="2300" b="1" kern="0" spc="2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A</a:t>
            </a:r>
            <a:r>
              <a:rPr sz="2300" b="1" kern="0" spc="-36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I</a:t>
            </a:r>
            <a:r>
              <a:rPr sz="2300" b="1" kern="0" spc="32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应用框架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2" name="图片 1" descr="QQ_17491170087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2261870"/>
            <a:ext cx="382079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09813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78B0-9F85-2CEB-5BC5-48236C29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B5431F4-EB2E-DC5C-B3F1-6684C6A79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4" name="textbox 124"/>
          <p:cNvSpPr/>
          <p:nvPr/>
        </p:nvSpPr>
        <p:spPr>
          <a:xfrm>
            <a:off x="68580" y="2647315"/>
            <a:ext cx="4503420" cy="292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CrewAI 是一个尖端框架， 用于编排角色扮演、 自主  A I 代理。 它通过培养协作智能， 使代理能够无缝协作， 处理复杂任务。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CrewAI 允许开发者创建具有特定角色、 目标和工具的 A I 代理， 并将它们组织成一个协同工作的团队。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CrewAI： 编排角色扮演、 自主 A I 代理的框架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3" name="图片 2" descr="QQ_17491171966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375" y="2288540"/>
            <a:ext cx="437134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18256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D81C1-D8A7-E309-AC64-BFA449B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E973FC-8587-CCA2-8801-B606ABFED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CrewAI： 编排角色扮演、 自主 A I 代理的框架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3" name="图片 2" descr="QQ_17491171966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905" y="2269490"/>
            <a:ext cx="3943985" cy="3094355"/>
          </a:xfrm>
          <a:prstGeom prst="rect">
            <a:avLst/>
          </a:prstGeom>
        </p:spPr>
      </p:pic>
      <p:sp>
        <p:nvSpPr>
          <p:cNvPr id="2" name="textbox 124"/>
          <p:cNvSpPr/>
          <p:nvPr>
            <p:custDataLst>
              <p:tags r:id="rId1"/>
            </p:custDataLst>
          </p:nvPr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defTabSz="914400" rtl="0" eaLnBrk="0" hangingPunct="1">
              <a:lnSpc>
                <a:spcPct val="145000"/>
              </a:lnSpc>
            </a:pP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00B05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优势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：专注于角色扮演和团队协作，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提供直观的代理定义和任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务分配机制；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支持顺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序和层次化的任务执行，平衡了易用性和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流程控制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2245" indent="-170180" algn="l" defTabSz="914400" rtl="0" eaLnBrk="0" hangingPunct="1">
              <a:lnSpc>
                <a:spcPct val="134000"/>
              </a:lnSpc>
              <a:spcBef>
                <a:spcPts val="700"/>
              </a:spcBef>
            </a:pP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2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80" dirty="0">
                <a:solidFill>
                  <a:srgbClr val="FF000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劣势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：可能在处理高度动态或需要复杂状态管理的场景时不够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灵活；与底层系统和工具的集成可能不如低级框架深入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0975" indent="-168275" algn="l" defTabSz="914400" rtl="0" eaLnBrk="0" hangingPunct="1">
              <a:lnSpc>
                <a:spcPct val="146000"/>
              </a:lnSpc>
              <a:spcBef>
                <a:spcPts val="675"/>
              </a:spcBef>
            </a:pPr>
            <a:r>
              <a:rPr sz="1600" b="0" kern="0" spc="7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7030A0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机会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：在需要模拟人类团队协作的应用场景中有巨大潜力，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如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教育、 培训和决策支持系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统；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可以通过增加更多预定义角色和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任务模板来简化用户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使用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0"/>
              </a:spcBef>
            </a:pPr>
            <a:r>
              <a:rPr sz="1600" b="0" kern="0" spc="7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Arial" panose="020B0604020202090204"/>
                <a:cs typeface="Times New Roman Bold Italic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C1420A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威胁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：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如果用户需求转向更精细的流程控制，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可能会失去一些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市场份额给低级框架</a:t>
            </a:r>
            <a:r>
              <a:rPr sz="1600" b="0" kern="0" spc="-2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Bold Italic" panose="02020503050405090304" charset="0"/>
                <a:ea typeface="Microsoft JhengHei"/>
                <a:cs typeface="Times New Roman Bold Italic" panose="02020503050405090304" charset="0"/>
                <a:sym typeface="+mn-ea"/>
              </a:rPr>
              <a:t>。</a:t>
            </a:r>
            <a:endParaRPr sz="1600" b="0" dirty="0">
              <a:latin typeface="Times New Roman Bold Italic" panose="02020503050405090304" charset="0"/>
              <a:ea typeface="Microsoft JhengHei"/>
              <a:cs typeface="Times New Roman Bold Italic" panose="0202050305040509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23522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67D8-FABF-7B11-3D7A-352BE95F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16375F4E-BA81-A924-142B-BD604840E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sp>
        <p:nvSpPr>
          <p:cNvPr id="126" name="textbox 126"/>
          <p:cNvSpPr/>
          <p:nvPr/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LangGraph：基于图结构的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sp>
        <p:nvSpPr>
          <p:cNvPr id="124" name="textbox 124"/>
          <p:cNvSpPr/>
          <p:nvPr>
            <p:custDataLst>
              <p:tags r:id="rId1"/>
            </p:custDataLst>
          </p:nvPr>
        </p:nvSpPr>
        <p:spPr>
          <a:xfrm>
            <a:off x="140335" y="1888490"/>
            <a:ext cx="4503420" cy="396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LangGraph 是一个用于构建基于图结构的代理应用。 它允许开       发者将复杂的 A I 任务分解为相互连接的节点和边， 每个节点代       表一个特定的操作或决策点。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LangGraph 支持循环和分支逻辑， 提供内置的状态持久化机制，    并支持人机交互工作流。 该框架的设计理念是使 A I 工作流更加       模块化、 可视化和可控。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它可独立使用， 或与  LangChain 和 LangSmith 无缝集成， 为开   发者提供了强大的工具来创建高度灵活和可扩展的语言处理系统。</a:t>
            </a:r>
          </a:p>
        </p:txBody>
      </p:sp>
      <p:pic>
        <p:nvPicPr>
          <p:cNvPr id="7" name="图片 6" descr="QQ_1749128515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45" y="1888490"/>
            <a:ext cx="4286885" cy="411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596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E2D1-5E00-9E9B-F647-A9AD457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038E4525-92A6-BE0B-0914-1638637C4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7" name="图片 6" descr="QQ_17491285151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395" y="2054860"/>
            <a:ext cx="3997960" cy="3841115"/>
          </a:xfrm>
          <a:prstGeom prst="rect">
            <a:avLst/>
          </a:prstGeom>
        </p:spPr>
      </p:pic>
      <p:sp>
        <p:nvSpPr>
          <p:cNvPr id="2" name="textbox 124"/>
          <p:cNvSpPr/>
          <p:nvPr>
            <p:custDataLst>
              <p:tags r:id="rId1"/>
            </p:custDataLst>
          </p:nvPr>
        </p:nvSpPr>
        <p:spPr>
          <a:xfrm>
            <a:off x="68580" y="1732280"/>
            <a:ext cx="4852670" cy="483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82245" indent="-170180" algn="l" defTabSz="914400" rtl="0" eaLnBrk="0" hangingPunct="1">
              <a:lnSpc>
                <a:spcPct val="133000"/>
              </a:lnSpc>
            </a:pPr>
            <a:r>
              <a:rPr sz="1600" kern="0" spc="6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kern="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kern="0" spc="60" dirty="0">
                <a:solidFill>
                  <a:srgbClr val="00B05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优势</a:t>
            </a:r>
            <a:r>
              <a:rPr sz="160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kern="0" spc="21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比较全面地支持循环和分支，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提供内置持久性，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支持人机交互工作流；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与</a:t>
            </a:r>
            <a:r>
              <a:rPr sz="1600" b="0" kern="0" spc="1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LangChain</a:t>
            </a:r>
            <a:r>
              <a:rPr sz="1600" b="0" kern="0" spc="1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生态系统集成非常良好， 也可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以独立使用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9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</a:p>
          <a:p>
            <a:pPr marL="182245" indent="-170180" algn="l" defTabSz="914400" rtl="0" eaLnBrk="0" hangingPunct="1">
              <a:lnSpc>
                <a:spcPct val="133000"/>
              </a:lnSpc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r>
              <a:rPr sz="1600" b="0" kern="0" spc="7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spc="1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70" dirty="0">
                <a:solidFill>
                  <a:srgbClr val="FF000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劣势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学习曲线可能较陡；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在简单任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务上可能</a:t>
            </a: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endParaRPr sz="1600" b="0" kern="0" spc="60" dirty="0">
              <a:solidFill>
                <a:srgbClr val="3B3838">
                  <a:alpha val="100000"/>
                </a:srgbClr>
              </a:solidFill>
              <a:latin typeface="Times New Roman Regular" panose="02020503050405090304" charset="0"/>
              <a:ea typeface="Microsoft JhengHei"/>
              <a:cs typeface="Times New Roman Regular" panose="02020503050405090304" charset="0"/>
              <a:sym typeface="+mn-ea"/>
            </a:endParaRP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显得过于复杂。</a:t>
            </a:r>
          </a:p>
          <a:p>
            <a:pPr marL="12700" algn="l" defTabSz="914400" rtl="0" eaLnBrk="0" hangingPunct="1">
              <a:lnSpc>
                <a:spcPts val="1100"/>
              </a:lnSpc>
              <a:spcBef>
                <a:spcPts val="735"/>
              </a:spcBef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79705" indent="-167640" algn="l" defTabSz="914400" rtl="0" eaLnBrk="0" hangingPunct="1">
              <a:lnSpc>
                <a:spcPct val="146000"/>
              </a:lnSpc>
              <a:spcBef>
                <a:spcPts val="520"/>
              </a:spcBef>
            </a:pP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80" dirty="0">
                <a:solidFill>
                  <a:srgbClr val="7030A0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机会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在需要复杂决策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树的应用中有巨大潜力，</a:t>
            </a:r>
            <a:r>
              <a:rPr sz="1600" b="0" kern="0" spc="10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可以与其他</a:t>
            </a:r>
            <a:r>
              <a:rPr sz="1600" b="0" kern="0" spc="11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A</a:t>
            </a:r>
            <a:r>
              <a:rPr sz="1600" b="0" kern="0" spc="-1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I</a:t>
            </a:r>
            <a:r>
              <a:rPr sz="1600" b="0" kern="0" spc="1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工具和框架集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     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成，</a:t>
            </a:r>
            <a:r>
              <a:rPr sz="1600" b="0" kern="0" spc="12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增强功能</a:t>
            </a:r>
            <a:r>
              <a:rPr sz="1600" b="0" kern="0" spc="-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algn="l" defTabSz="914400" rtl="0" eaLnBrk="0" hangingPunct="1">
              <a:lnSpc>
                <a:spcPct val="102000"/>
              </a:lnSpc>
            </a:pPr>
            <a:endParaRPr sz="1600" b="0" dirty="0">
              <a:latin typeface="Times New Roman Regular" panose="02020503050405090304" charset="0"/>
              <a:ea typeface="Arial" panose="020B0604020202090204"/>
              <a:cs typeface="Times New Roman Regular" panose="02020503050405090304" charset="0"/>
            </a:endParaRPr>
          </a:p>
          <a:p>
            <a:pPr marL="179705" indent="-167640" algn="l" defTabSz="914400" rtl="0" eaLnBrk="0" hangingPunct="1">
              <a:lnSpc>
                <a:spcPct val="135000"/>
              </a:lnSpc>
              <a:spcBef>
                <a:spcPts val="5"/>
              </a:spcBef>
            </a:pPr>
            <a:r>
              <a:rPr sz="1600" b="0" kern="0" spc="6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•</a:t>
            </a:r>
            <a:r>
              <a:rPr sz="1600" b="0" kern="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  <a:sym typeface="+mn-ea"/>
              </a:rPr>
              <a:t>    </a:t>
            </a:r>
            <a:r>
              <a:rPr sz="1600" b="0" kern="0" spc="60" dirty="0">
                <a:solidFill>
                  <a:srgbClr val="C1420A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威胁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：</a:t>
            </a:r>
            <a:r>
              <a:rPr sz="1600" b="0" kern="0" spc="14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可能面临来自更简单、 直观框架的竞争；</a:t>
            </a:r>
            <a:r>
              <a:rPr sz="1600" b="0" kern="0" spc="17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6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图结构的复杂性可能影响性</a:t>
            </a:r>
            <a:r>
              <a:rPr sz="1600" b="0" kern="0" spc="5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能，</a:t>
            </a:r>
            <a:r>
              <a:rPr sz="1600" b="0" kern="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特别是在大规模应用中</a:t>
            </a:r>
            <a:r>
              <a:rPr sz="1600" b="0" kern="0" spc="3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 </a:t>
            </a:r>
            <a:r>
              <a:rPr sz="1600" b="0" kern="0" spc="80" dirty="0">
                <a:solidFill>
                  <a:srgbClr val="3B3838">
                    <a:alpha val="100000"/>
                  </a:srgbClr>
                </a:solidFill>
                <a:latin typeface="Times New Roman Regular" panose="02020503050405090304" charset="0"/>
                <a:ea typeface="Microsoft JhengHei"/>
                <a:cs typeface="Times New Roman Regular" panose="02020503050405090304" charset="0"/>
                <a:sym typeface="+mn-ea"/>
              </a:rPr>
              <a:t>。</a:t>
            </a: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  <a:p>
            <a:pPr marL="184150" indent="-171450" algn="l" defTabSz="914400" rtl="0" eaLnBrk="0" hangingPunct="1">
              <a:lnSpc>
                <a:spcPct val="135000"/>
              </a:lnSpc>
              <a:spcBef>
                <a:spcPts val="0"/>
              </a:spcBef>
            </a:pPr>
            <a:endParaRPr sz="1600" b="0" dirty="0">
              <a:latin typeface="Times New Roman Regular" panose="02020503050405090304" charset="0"/>
              <a:ea typeface="Microsoft JhengHei"/>
              <a:cs typeface="Times New Roman Regular" panose="02020503050405090304" charset="0"/>
            </a:endParaRPr>
          </a:p>
        </p:txBody>
      </p:sp>
      <p:sp>
        <p:nvSpPr>
          <p:cNvPr id="3" name="textbox 126"/>
          <p:cNvSpPr/>
          <p:nvPr>
            <p:custDataLst>
              <p:tags r:id="rId2"/>
            </p:custDataLst>
          </p:nvPr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LangGraph：基于图结构的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</p:spTree>
    <p:extLst>
      <p:ext uri="{BB962C8B-B14F-4D97-AF65-F5344CB8AC3E}">
        <p14:creationId xmlns:p14="http://schemas.microsoft.com/office/powerpoint/2010/main" val="1905271919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61036-79E2-42F8-56B0-69A9844D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C73578A5-3BF4-5B95-223B-8C675CC8D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框架介绍</a:t>
            </a: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sp>
        <p:nvSpPr>
          <p:cNvPr id="3" name="textbox 126"/>
          <p:cNvSpPr/>
          <p:nvPr>
            <p:custDataLst>
              <p:tags r:id="rId1"/>
            </p:custDataLst>
          </p:nvPr>
        </p:nvSpPr>
        <p:spPr>
          <a:xfrm>
            <a:off x="-220151" y="988225"/>
            <a:ext cx="704405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580390" algn="l" rtl="0" eaLnBrk="0">
              <a:lnSpc>
                <a:spcPts val="3045"/>
              </a:lnSpc>
              <a:tabLst>
                <a:tab pos="676910" algn="l"/>
              </a:tabLst>
            </a:pP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</a:t>
            </a:r>
            <a:r>
              <a:rPr lang="en-US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lamaIndex</a:t>
            </a:r>
            <a:r>
              <a:rPr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强调</a:t>
            </a:r>
            <a:r>
              <a:rPr lang="en-US" alt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RAG</a:t>
            </a:r>
            <a:r>
              <a:rPr lang="zh-CN" altLang="en-US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的</a:t>
            </a:r>
            <a:r>
              <a:rPr lang="zh-CN" sz="2300" b="1" kern="0" spc="30" dirty="0">
                <a:solidFill>
                  <a:schemeClr val="tx1">
                    <a:alpha val="100000"/>
                  </a:schemeClr>
                </a:solidFill>
                <a:latin typeface="Microsoft JhengHei"/>
                <a:ea typeface="Microsoft JhengHei"/>
                <a:cs typeface="Microsoft JhengHei"/>
              </a:rPr>
              <a:t>智能体开发框架</a:t>
            </a:r>
          </a:p>
        </p:txBody>
      </p:sp>
      <p:sp>
        <p:nvSpPr>
          <p:cNvPr id="124" name="textbox 124"/>
          <p:cNvSpPr/>
          <p:nvPr>
            <p:custDataLst>
              <p:tags r:id="rId2"/>
            </p:custDataLst>
          </p:nvPr>
        </p:nvSpPr>
        <p:spPr>
          <a:xfrm>
            <a:off x="140335" y="1933575"/>
            <a:ext cx="3890645" cy="396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LlamaIndex 是一个用于将外部数据（如本地文档、数据库、网页等）连接到大型语言模型（LLMs）上的开源框架。它的核心作用是帮助你构建 基于文档的问答系统</a:t>
            </a: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endParaRPr sz="1600" b="0" dirty="0">
              <a:latin typeface="+mj-lt"/>
              <a:ea typeface="宋体" charset="0"/>
              <a:cs typeface="+mj-lt"/>
            </a:endParaRPr>
          </a:p>
          <a:p>
            <a:pPr marL="179705" indent="-167640" algn="l" rtl="0" eaLnBrk="0">
              <a:lnSpc>
                <a:spcPct val="125000"/>
              </a:lnSpc>
              <a:spcBef>
                <a:spcPts val="285"/>
              </a:spcBef>
            </a:pPr>
            <a:r>
              <a:rPr sz="1600" b="0" dirty="0">
                <a:latin typeface="+mj-lt"/>
                <a:ea typeface="宋体" charset="0"/>
                <a:cs typeface="+mj-lt"/>
              </a:rPr>
              <a:t>•   Llama Deploy 使用服务、 任务和消息队列的概念，   通过控制平面和编排器管理系统状态和服务交互。</a:t>
            </a:r>
          </a:p>
        </p:txBody>
      </p:sp>
      <p:pic>
        <p:nvPicPr>
          <p:cNvPr id="6" name="图片 5" descr="QQ_174912915199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055" y="2160905"/>
            <a:ext cx="4839970" cy="30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37743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4366-35DB-E4A5-E20C-8F1FC6D7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2E04397A-AA16-172F-AC0D-7EBC46723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156" y="0"/>
            <a:ext cx="9144000" cy="765175"/>
          </a:xfrm>
        </p:spPr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框架对比</a:t>
            </a:r>
            <a:r>
              <a:rPr lang="en-US" altLang="zh-CN" dirty="0"/>
              <a:t>(LangGraph vs. </a:t>
            </a:r>
            <a:r>
              <a:rPr lang="en-US" altLang="zh-CN" dirty="0" err="1"/>
              <a:t>Llamalndex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50" y="3165475"/>
            <a:ext cx="4392294" cy="7620"/>
          </a:xfrm>
          <a:prstGeom prst="rect">
            <a:avLst/>
          </a:prstGeom>
        </p:spPr>
      </p:pic>
      <p:pic>
        <p:nvPicPr>
          <p:cNvPr id="5" name="图片 4" descr="QQ_17491294269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5" y="2266950"/>
            <a:ext cx="3621405" cy="4150360"/>
          </a:xfrm>
          <a:prstGeom prst="rect">
            <a:avLst/>
          </a:prstGeom>
        </p:spPr>
      </p:pic>
      <p:pic>
        <p:nvPicPr>
          <p:cNvPr id="7" name="图片 6" descr="QQ_17491294369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80" y="2968625"/>
            <a:ext cx="4371340" cy="3255645"/>
          </a:xfrm>
          <a:prstGeom prst="rect">
            <a:avLst/>
          </a:prstGeom>
        </p:spPr>
      </p:pic>
      <p:sp>
        <p:nvSpPr>
          <p:cNvPr id="8" name="textbox 40"/>
          <p:cNvSpPr/>
          <p:nvPr>
            <p:custDataLst>
              <p:tags r:id="rId1"/>
            </p:custDataLst>
          </p:nvPr>
        </p:nvSpPr>
        <p:spPr>
          <a:xfrm>
            <a:off x="516255" y="1310005"/>
            <a:ext cx="6825615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状态图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 vs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事件驱动：实现一个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503050405090304" charset="0"/>
                <a:ea typeface="Arial" panose="020B0604020202090204"/>
                <a:cs typeface="Times New Roman Regular" panose="02020503050405090304" charset="0"/>
              </a:rPr>
              <a:t>ReAct Agent</a:t>
            </a:r>
          </a:p>
        </p:txBody>
      </p:sp>
    </p:spTree>
    <p:extLst>
      <p:ext uri="{BB962C8B-B14F-4D97-AF65-F5344CB8AC3E}">
        <p14:creationId xmlns:p14="http://schemas.microsoft.com/office/powerpoint/2010/main" val="986717373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A5412-34B0-5367-44D4-AD0420113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950A9F6C-A809-225A-3A4B-3B14F964B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框架对比</a:t>
            </a:r>
            <a:r>
              <a:rPr lang="en-US" altLang="zh-CN" dirty="0"/>
              <a:t>(LangGraph vs. </a:t>
            </a:r>
            <a:r>
              <a:rPr lang="en-US" altLang="zh-CN" dirty="0" err="1"/>
              <a:t>Llamalndex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内容占位符 1"/>
          <p:cNvSpPr txBox="1"/>
          <p:nvPr>
            <p:custDataLst>
              <p:tags r:id="rId1"/>
            </p:custDataLst>
          </p:nvPr>
        </p:nvSpPr>
        <p:spPr bwMode="auto">
          <a:xfrm>
            <a:off x="364126" y="1450432"/>
            <a:ext cx="8780053" cy="502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n"/>
              <a:defRPr kumimoji="1" sz="2600" kern="1200">
                <a:solidFill>
                  <a:schemeClr val="folHlink"/>
                </a:solidFill>
                <a:latin typeface="+mn-lt"/>
                <a:ea typeface="+mn-ea"/>
                <a:cs typeface="+mn-cs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00"/>
              </a:buClr>
              <a:buFont typeface="Wingdings" panose="05000000000000000000" pitchFamily="2" charset="2"/>
              <a:buChar char="o"/>
              <a:defRPr kumimoji="1" sz="2300" kern="1200">
                <a:solidFill>
                  <a:srgbClr val="009900"/>
                </a:solidFill>
                <a:latin typeface="+mn-lt"/>
                <a:ea typeface="+mn-ea"/>
                <a:cs typeface="+mn-cs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kumimoji="1" sz="2000" kern="1200">
                <a:solidFill>
                  <a:srgbClr val="0099CC"/>
                </a:solidFill>
                <a:latin typeface="+mn-lt"/>
                <a:ea typeface="+mn-ea"/>
                <a:cs typeface="+mn-cs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kumimoji="1" sz="2000" kern="1200">
                <a:solidFill>
                  <a:srgbClr val="99CC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sz="2800" b="0" dirty="0"/>
          </a:p>
          <a:p>
            <a:r>
              <a:rPr lang="zh-CN" sz="2800" b="0" dirty="0"/>
              <a:t>会话记忆（</a:t>
            </a:r>
            <a:r>
              <a:rPr lang="en-US" altLang="zh-CN" sz="2800" b="0" dirty="0"/>
              <a:t>Memory</a:t>
            </a:r>
            <a:r>
              <a:rPr lang="zh-CN" sz="2800" b="0" dirty="0"/>
              <a:t>）</a:t>
            </a:r>
            <a:endParaRPr sz="2800" b="0" dirty="0"/>
          </a:p>
          <a:p>
            <a:pPr lvl="1"/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LangGraph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支持图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(Graph)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级别和节点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(Node)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级别的存储</a:t>
            </a:r>
          </a:p>
          <a:p>
            <a:pPr lvl="1"/>
            <a:r>
              <a:rPr 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Llamalndex 的其他组件（如检索器和查询引擎）集成良好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灵活性上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 </a:t>
            </a:r>
            <a:r>
              <a:rPr lang="en-US" sz="2000" b="0" dirty="0">
                <a:solidFill>
                  <a:schemeClr val="tx1"/>
                </a:solidFill>
                <a:latin typeface="+mj-ea"/>
                <a:ea typeface="+mj-ea"/>
                <a:cs typeface="+mj-ea"/>
              </a:rPr>
              <a:t>LangGraph &gt; LlamaIndex</a:t>
            </a:r>
          </a:p>
          <a:p>
            <a:pPr lvl="1"/>
            <a:endParaRPr sz="2000" b="0" dirty="0">
              <a:solidFill>
                <a:schemeClr val="tx1"/>
              </a:solidFill>
              <a:latin typeface="+mj-ea"/>
              <a:ea typeface="+mj-ea"/>
              <a:cs typeface="+mj-ea"/>
            </a:endParaRPr>
          </a:p>
          <a:p>
            <a:r>
              <a:rPr lang="zh-CN" sz="2800" b="0" dirty="0"/>
              <a:t>人机交互（</a:t>
            </a:r>
            <a:r>
              <a:rPr lang="en-US" altLang="zh-CN" sz="2800" b="0" dirty="0"/>
              <a:t>Human in the loop</a:t>
            </a:r>
            <a:r>
              <a:rPr lang="zh-CN" sz="2800" b="0" dirty="0"/>
              <a:t>）</a:t>
            </a:r>
            <a:endParaRPr sz="2800" b="0" dirty="0"/>
          </a:p>
          <a:p>
            <a:pPr lvl="1"/>
            <a:r>
              <a:rPr lang="en-US" altLang="zh-CN" sz="2000" b="0" dirty="0">
                <a:solidFill>
                  <a:schemeClr val="tx1"/>
                </a:solidFill>
              </a:rPr>
              <a:t>LangGraph </a:t>
            </a:r>
            <a:r>
              <a:rPr lang="zh-CN" altLang="en-US" sz="2000" b="0" dirty="0">
                <a:solidFill>
                  <a:schemeClr val="tx1"/>
                </a:solidFill>
              </a:rPr>
              <a:t>提供多种人机交互方式：断点、等待、用户输入等</a:t>
            </a:r>
          </a:p>
          <a:p>
            <a:pPr lvl="1"/>
            <a:r>
              <a:rPr lang="en-US" altLang="zh-CN" sz="2000" b="0" dirty="0">
                <a:solidFill>
                  <a:schemeClr val="tx1"/>
                </a:solidFill>
              </a:rPr>
              <a:t>LlamaIndex</a:t>
            </a:r>
            <a:r>
              <a:rPr lang="zh-CN" altLang="en-US" sz="2000" b="0" dirty="0">
                <a:solidFill>
                  <a:schemeClr val="tx1"/>
                </a:solidFill>
              </a:rPr>
              <a:t>支持在工作流中插入人类反馈步骤，可根据人类输入修改内容。</a:t>
            </a:r>
          </a:p>
          <a:p>
            <a:pPr lvl="1"/>
            <a:r>
              <a:rPr lang="zh-CN" altLang="en-US" sz="2000" b="0" dirty="0">
                <a:solidFill>
                  <a:schemeClr val="tx1"/>
                </a:solidFill>
              </a:rPr>
              <a:t>功能性上</a:t>
            </a:r>
            <a:r>
              <a:rPr lang="en-US" altLang="zh-CN" sz="2000" b="0" dirty="0">
                <a:solidFill>
                  <a:schemeClr val="tx1"/>
                </a:solidFill>
              </a:rPr>
              <a:t> LangGraph &gt; LlamaIndex</a:t>
            </a:r>
          </a:p>
          <a:p>
            <a:pPr lvl="1"/>
            <a:endParaRPr lang="zh-CN" altLang="en-US" b="0" dirty="0"/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13951454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40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1.1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AI 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定义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1.2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的基本组件：推理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规划、记忆、工具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多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系统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1.4 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LangGraph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LlamaIndex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AutoGen</a:t>
            </a:r>
            <a:r>
              <a:rPr lang="zh-CN" altLang="en-US" sz="2000" dirty="0" err="1">
                <a:solidFill>
                  <a:schemeClr val="bg1">
                    <a:lumMod val="65000"/>
                  </a:schemeClr>
                </a:solidFill>
              </a:rPr>
              <a:t>等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框架的介绍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en-US" altLang="ja-JP" sz="2000" dirty="0">
                <a:solidFill>
                  <a:srgbClr val="000000"/>
                </a:solidFill>
              </a:rPr>
              <a:t>.1 </a:t>
            </a:r>
            <a:r>
              <a:rPr sz="2000" dirty="0">
                <a:solidFill>
                  <a:srgbClr val="000000"/>
                </a:solidFill>
              </a:rPr>
              <a:t>SmartAgents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  <a:r>
              <a:rPr sz="2000" dirty="0">
                <a:solidFill>
                  <a:srgbClr val="000000"/>
                </a:solidFill>
              </a:rPr>
              <a:t>  </a:t>
            </a:r>
            <a:r>
              <a:rPr lang="en-US" sz="2000" dirty="0">
                <a:solidFill>
                  <a:srgbClr val="000000"/>
                </a:solidFill>
              </a:rPr>
              <a:t>Planning + </a:t>
            </a:r>
            <a:r>
              <a:rPr sz="2000" dirty="0">
                <a:solidFill>
                  <a:srgbClr val="000000"/>
                </a:solidFill>
              </a:rPr>
              <a:t>Memory + Tool-Using Multi-Agent </a:t>
            </a:r>
            <a:r>
              <a:rPr lang="en-US" sz="2000" dirty="0">
                <a:solidFill>
                  <a:srgbClr val="000000"/>
                </a:solidFill>
              </a:rPr>
              <a:t>Project</a:t>
            </a:r>
            <a:endParaRPr sz="2000" dirty="0">
              <a:solidFill>
                <a:srgbClr val="000000"/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包含</a:t>
            </a:r>
            <a:r>
              <a:rPr lang="en-US" altLang="zh-CN" sz="2000" dirty="0">
                <a:solidFill>
                  <a:srgbClr val="000000"/>
                </a:solidFill>
              </a:rPr>
              <a:t>Agent</a:t>
            </a:r>
            <a:r>
              <a:rPr lang="zh-CN" altLang="en-US" sz="2000" dirty="0">
                <a:solidFill>
                  <a:srgbClr val="000000"/>
                </a:solidFill>
              </a:rPr>
              <a:t>推理</a:t>
            </a:r>
            <a:r>
              <a:rPr lang="en-US" altLang="zh-CN" sz="2000" dirty="0">
                <a:solidFill>
                  <a:srgbClr val="000000"/>
                </a:solidFill>
              </a:rPr>
              <a:t>/</a:t>
            </a:r>
            <a:r>
              <a:rPr lang="zh-CN" altLang="en-US" sz="2000" dirty="0">
                <a:solidFill>
                  <a:srgbClr val="000000"/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设计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rgbClr val="000000"/>
                </a:solidFill>
              </a:rPr>
              <a:t>- </a:t>
            </a:r>
            <a:r>
              <a:rPr lang="zh-CN" altLang="en-US" sz="2000" dirty="0">
                <a:solidFill>
                  <a:srgbClr val="000000"/>
                </a:solidFill>
              </a:rPr>
              <a:t>要求使用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种以上工具</a:t>
            </a:r>
            <a:endParaRPr lang="en-US" altLang="zh-CN" sz="2000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设计实现一个多智能体系统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41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5" y="908050"/>
            <a:ext cx="8780145" cy="5726430"/>
          </a:xfrm>
        </p:spPr>
        <p:txBody>
          <a:bodyPr/>
          <a:lstStyle/>
          <a:p>
            <a:r>
              <a:rPr lang="zh-CN" altLang="en-US" dirty="0"/>
              <a:t>尝试利用开源的框架（推荐</a:t>
            </a:r>
            <a:r>
              <a:rPr lang="en-US" altLang="zh-CN" dirty="0"/>
              <a:t>LangGraph</a:t>
            </a:r>
            <a:r>
              <a:rPr lang="zh-CN" altLang="en-US" dirty="0"/>
              <a:t>、可以不造轮子）设计一个多智能体系统，要求：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场景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任务不限（任务求解、场景模拟、效率工具等）</a:t>
            </a:r>
          </a:p>
          <a:p>
            <a:pPr lvl="1"/>
            <a:r>
              <a:rPr dirty="0">
                <a:solidFill>
                  <a:schemeClr val="tx1"/>
                </a:solidFill>
              </a:rPr>
              <a:t>包含Agent推理/规划方法的实现</a:t>
            </a:r>
            <a:r>
              <a:rPr lang="zh-CN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ToT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ReAct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Reflection </a:t>
            </a:r>
            <a:r>
              <a:rPr lang="zh-CN" altLang="en-US" dirty="0">
                <a:solidFill>
                  <a:schemeClr val="tx1"/>
                </a:solidFill>
              </a:rPr>
              <a:t>等</a:t>
            </a:r>
            <a:r>
              <a:rPr lang="zh-CN" dirty="0">
                <a:solidFill>
                  <a:schemeClr val="tx1"/>
                </a:solidFill>
              </a:rPr>
              <a:t>）</a:t>
            </a:r>
            <a:endParaRPr dirty="0">
              <a:solidFill>
                <a:schemeClr val="tx1"/>
              </a:solidFill>
            </a:endParaRPr>
          </a:p>
          <a:p>
            <a:pPr lvl="1"/>
            <a:r>
              <a:rPr dirty="0">
                <a:solidFill>
                  <a:schemeClr val="tx1"/>
                </a:solidFill>
              </a:rPr>
              <a:t>设计</a:t>
            </a:r>
            <a:r>
              <a:rPr lang="en-US" dirty="0">
                <a:solidFill>
                  <a:schemeClr val="tx1"/>
                </a:solidFill>
              </a:rPr>
              <a:t>2</a:t>
            </a:r>
            <a:r>
              <a:rPr dirty="0">
                <a:solidFill>
                  <a:schemeClr val="tx1"/>
                </a:solidFill>
              </a:rPr>
              <a:t>种以上记忆机制</a:t>
            </a:r>
            <a:r>
              <a:rPr lang="zh-CN" dirty="0">
                <a:solidFill>
                  <a:schemeClr val="tx1"/>
                </a:solidFill>
              </a:rPr>
              <a:t>（长期记忆、短期记忆）</a:t>
            </a:r>
            <a:endParaRPr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使用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种以上的工具（</a:t>
            </a:r>
            <a:r>
              <a:rPr lang="en-US" altLang="zh-CN" dirty="0">
                <a:solidFill>
                  <a:schemeClr val="tx1"/>
                </a:solidFill>
              </a:rPr>
              <a:t>rag</a:t>
            </a:r>
            <a:r>
              <a:rPr lang="zh-CN" altLang="en-US" dirty="0">
                <a:solidFill>
                  <a:schemeClr val="tx1"/>
                </a:solidFill>
              </a:rPr>
              <a:t>检索、搜索引擎、计算工具等）也可自己定义工具。</a:t>
            </a:r>
            <a:endParaRPr lang="en-US" altLang="zh-CN" b="1" dirty="0">
              <a:solidFill>
                <a:schemeClr val="accent6"/>
              </a:solidFill>
            </a:endParaRPr>
          </a:p>
          <a:p>
            <a:r>
              <a:rPr lang="zh-CN" altLang="en-US" b="1" dirty="0">
                <a:solidFill>
                  <a:schemeClr val="accent6"/>
                </a:solidFill>
              </a:rPr>
              <a:t>说明</a:t>
            </a:r>
            <a:r>
              <a:rPr lang="en-US" altLang="zh-CN" b="1" dirty="0">
                <a:solidFill>
                  <a:schemeClr val="accent6"/>
                </a:solidFill>
              </a:rPr>
              <a:t>1</a:t>
            </a:r>
            <a:r>
              <a:rPr lang="zh-CN" altLang="en-US" b="1" dirty="0">
                <a:solidFill>
                  <a:schemeClr val="accent6"/>
                </a:solidFill>
              </a:rPr>
              <a:t>：尽量在已有的框架下去设计这些要素，这样可以避免无用的劳动。</a:t>
            </a:r>
          </a:p>
          <a:p>
            <a:r>
              <a:rPr lang="en-US" altLang="zh-CN" b="1" dirty="0">
                <a:solidFill>
                  <a:schemeClr val="accent2"/>
                </a:solidFill>
              </a:rPr>
              <a:t>说明2：模型api的使用推荐：</a:t>
            </a:r>
            <a:r>
              <a:rPr lang="en-US" altLang="zh-CN" dirty="0">
                <a:solidFill>
                  <a:schemeClr val="accent2"/>
                </a:solidFill>
              </a:rPr>
              <a:t>https://dashscope.console.aliyun.com/billing</a:t>
            </a:r>
            <a:endParaRPr lang="en-US" altLang="zh-CN" b="1" dirty="0">
              <a:solidFill>
                <a:schemeClr val="accent2"/>
              </a:solidFill>
            </a:endParaRP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一个极其简单的示例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42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0825" y="908050"/>
            <a:ext cx="8780145" cy="5726430"/>
          </a:xfrm>
        </p:spPr>
        <p:txBody>
          <a:bodyPr/>
          <a:lstStyle/>
          <a:p>
            <a:r>
              <a:rPr dirty="0"/>
              <a:t>一个基于LangGraph的多智能体课堂辩论系统，用于模拟关于人工智能是否应该在教育领域全面应用的课堂讨论</a:t>
            </a:r>
            <a:r>
              <a:rPr lang="zh-CN" dirty="0"/>
              <a:t>。</a:t>
            </a:r>
            <a:endParaRPr dirty="0"/>
          </a:p>
          <a:p>
            <a:pPr lvl="1"/>
            <a:r>
              <a:rPr lang="zh-CN" altLang="en-US" dirty="0"/>
              <a:t>其中包括教师主持人和对立团队的多个AI</a:t>
            </a:r>
            <a:r>
              <a:rPr lang="en-US" altLang="zh-CN" dirty="0"/>
              <a:t> Agent</a:t>
            </a:r>
            <a:endParaRPr lang="zh-CN" altLang="en-US" dirty="0"/>
          </a:p>
          <a:p>
            <a:pPr lvl="1"/>
            <a:r>
              <a:rPr lang="zh-CN" altLang="en-US" dirty="0"/>
              <a:t>辩论遵循特定顺序（教师 → 正方1 → 反方1 → 正方2 → 反方2 → 正方3 → 反方3 → 教师）</a:t>
            </a:r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Agent</a:t>
            </a:r>
            <a:r>
              <a:rPr lang="zh-CN" altLang="en-US" dirty="0"/>
              <a:t>维护自己的辩论记忆</a:t>
            </a:r>
          </a:p>
          <a:p>
            <a:pPr lvl="1"/>
            <a:r>
              <a:rPr lang="zh-CN" altLang="en-US" dirty="0"/>
              <a:t>其中Con1</a:t>
            </a:r>
            <a:r>
              <a:rPr lang="en-US" altLang="zh-CN" dirty="0"/>
              <a:t> Agent</a:t>
            </a:r>
            <a:r>
              <a:rPr lang="zh-CN" altLang="en-US" dirty="0"/>
              <a:t>通过ReAct框架具有增强功能</a:t>
            </a:r>
          </a:p>
          <a:p>
            <a:pPr lvl="1"/>
            <a:r>
              <a:rPr lang="zh-CN" altLang="en-US" dirty="0"/>
              <a:t>自定义了一个示例搜索工具（没有具体实现）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b="1" dirty="0">
                <a:solidFill>
                  <a:schemeClr val="accent6"/>
                </a:solidFill>
                <a:sym typeface="+mn-ea"/>
              </a:rPr>
              <a:t>说明：具体实现细节请查看提供的代码文件。</a:t>
            </a:r>
            <a:endParaRPr lang="zh-CN" altLang="en-US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评分标准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8E30E0AE-C32F-496E-B2AA-D1BAC7225ABC}" type="slidenum">
              <a:rPr kumimoji="0" lang="en-US" altLang="ja-JP" sz="1400" b="0" smtClean="0">
                <a:solidFill>
                  <a:srgbClr val="A50021"/>
                </a:solidFill>
              </a:rPr>
              <a:t>43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184785" y="687070"/>
            <a:ext cx="8780145" cy="6087745"/>
          </a:xfrm>
        </p:spPr>
        <p:txBody>
          <a:bodyPr/>
          <a:lstStyle/>
          <a:p>
            <a:r>
              <a:rPr lang="zh-CN" altLang="en-US" dirty="0"/>
              <a:t>多智能体系统中智能体数目</a:t>
            </a:r>
            <a:r>
              <a:rPr lang="en-US" altLang="zh-CN" dirty="0"/>
              <a:t>&gt;=4</a:t>
            </a:r>
          </a:p>
          <a:p>
            <a:pPr lvl="1"/>
            <a:r>
              <a:rPr lang="zh-CN" altLang="en-US" sz="2600" dirty="0">
                <a:solidFill>
                  <a:schemeClr val="tx1"/>
                </a:solidFill>
              </a:rPr>
              <a:t>每个智能体的功能有良好定位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dirty="0">
                <a:solidFill>
                  <a:schemeClr val="tx1"/>
                </a:solidFill>
              </a:rPr>
              <a:t>每个智能体应该有适宜的</a:t>
            </a:r>
            <a:r>
              <a:rPr lang="zh-CN" altLang="en-US" dirty="0">
                <a:solidFill>
                  <a:schemeClr val="tx1"/>
                </a:solidFill>
              </a:rPr>
              <a:t>提示词适配自己的任务</a:t>
            </a:r>
          </a:p>
          <a:p>
            <a:pPr lvl="1"/>
            <a:r>
              <a:rPr lang="zh-CN" dirty="0">
                <a:solidFill>
                  <a:schemeClr val="tx1"/>
                </a:solidFill>
              </a:rPr>
              <a:t>智能体间分工和运行流程合理</a:t>
            </a:r>
            <a:endParaRPr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在系统中应至少实现一种智能体的推理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规划方法</a:t>
            </a:r>
          </a:p>
          <a:p>
            <a:pPr marL="471170" lvl="1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在系统中设计智能体的长期记忆和短期记忆</a:t>
            </a: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在系统中至少使用两种类型以上的工具调用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请至少包含以上工作，成绩按照工作量和任务场景下的实现效果进行评判</a:t>
            </a:r>
          </a:p>
          <a:p>
            <a:pPr marL="471170" lvl="1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 </a:t>
            </a:r>
          </a:p>
        </p:txBody>
      </p:sp>
      <p:sp>
        <p:nvSpPr>
          <p:cNvPr id="7172" name="灯片编号占位符 3"/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503050405090304" pitchFamily="18" charset="0"/>
                <a:ea typeface="MS PGothic" panose="020B0600070205080204" pitchFamily="34" charset="-128"/>
              </a:defRPr>
            </a:lvl9pPr>
          </a:lstStyle>
          <a:p>
            <a:fld id="{C8D85A13-3676-4B19-81F1-4C4D598EC2CA}" type="slidenum">
              <a:rPr kumimoji="0" lang="ja-JP" altLang="en-US" sz="1400" b="0" smtClean="0">
                <a:solidFill>
                  <a:srgbClr val="A50021"/>
                </a:solidFill>
                <a:latin typeface="Arial" panose="020B0604020202090204" pitchFamily="34" charset="0"/>
              </a:rPr>
              <a:t>44</a:t>
            </a:fld>
            <a:endParaRPr kumimoji="0" lang="en-US" altLang="ja-JP" sz="1400" b="0">
              <a:solidFill>
                <a:srgbClr val="A50021"/>
              </a:solidFill>
              <a:latin typeface="Arial" panose="020B060402020209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23875" y="765810"/>
            <a:ext cx="8620125" cy="600773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1.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理论课内容回顾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1.1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AI 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定义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1.2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的基本组件：推理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规划、记忆、工具</a:t>
            </a:r>
            <a:endParaRPr lang="en-US" altLang="ja-JP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1.3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多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系统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1.4 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LangGraph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LlamaIndex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2000" dirty="0" err="1">
                <a:solidFill>
                  <a:schemeClr val="bg1">
                    <a:lumMod val="65000"/>
                  </a:schemeClr>
                </a:solidFill>
              </a:rPr>
              <a:t>AutoGen</a:t>
            </a:r>
            <a:r>
              <a:rPr lang="zh-CN" altLang="en-US" sz="2000" dirty="0" err="1">
                <a:solidFill>
                  <a:schemeClr val="bg1">
                    <a:lumMod val="65000"/>
                  </a:schemeClr>
                </a:solidFill>
              </a:rPr>
              <a:t>等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框架的介绍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2.  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cs typeface="Times New Roman" panose="02020503050405090304" pitchFamily="18" charset="0"/>
              </a:rPr>
              <a:t>实验任务</a:t>
            </a:r>
            <a:endParaRPr lang="en-US" altLang="zh-CN" b="1" dirty="0">
              <a:solidFill>
                <a:schemeClr val="bg1">
                  <a:lumMod val="65000"/>
                </a:schemeClr>
              </a:solidFill>
              <a:cs typeface="Times New Roman" panose="02020503050405090304" pitchFamily="18" charset="0"/>
            </a:endParaRPr>
          </a:p>
          <a:p>
            <a:pPr marL="539750" indent="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en-US" altLang="ja-JP" sz="2000" dirty="0">
                <a:solidFill>
                  <a:schemeClr val="bg1">
                    <a:lumMod val="65000"/>
                  </a:schemeClr>
                </a:solidFill>
              </a:rPr>
              <a:t>.1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SmartAgents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Planning + </a:t>
            </a:r>
            <a:r>
              <a:rPr sz="2000" dirty="0">
                <a:solidFill>
                  <a:schemeClr val="bg1">
                    <a:lumMod val="65000"/>
                  </a:schemeClr>
                </a:solidFill>
              </a:rPr>
              <a:t>Memory + Tool-Using Multi-Agent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Project</a:t>
            </a:r>
            <a:endParaRPr sz="2000" dirty="0">
              <a:solidFill>
                <a:schemeClr val="bg1">
                  <a:lumMod val="65000"/>
                </a:schemeClr>
              </a:solidFill>
            </a:endParaRP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包含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Agent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推理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规划方法的实现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设计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种以上记忆机制</a:t>
            </a:r>
          </a:p>
          <a:p>
            <a:pPr marL="539750" indent="457200" eaLnBrk="1" hangingPunct="1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要求使用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</a:rPr>
              <a:t>种以上工具</a:t>
            </a:r>
            <a:endParaRPr lang="en-US" altLang="zh-CN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b="1" dirty="0">
                <a:solidFill>
                  <a:srgbClr val="A50021"/>
                </a:solidFill>
                <a:cs typeface="Times New Roman" panose="02020503050405090304" pitchFamily="18" charset="0"/>
              </a:rPr>
              <a:t>3.   </a:t>
            </a:r>
            <a:r>
              <a:rPr lang="zh-CN" altLang="en-US" b="1" dirty="0">
                <a:solidFill>
                  <a:srgbClr val="A50021"/>
                </a:solidFill>
                <a:cs typeface="Times New Roman" panose="02020503050405090304" pitchFamily="18" charset="0"/>
              </a:rPr>
              <a:t>作业提交说明</a:t>
            </a:r>
            <a:endParaRPr lang="en-US" altLang="zh-CN" b="1" dirty="0">
              <a:solidFill>
                <a:srgbClr val="A50021"/>
              </a:solidFill>
              <a:cs typeface="Times New Roman" panose="02020503050405090304" pitchFamily="18" charset="0"/>
            </a:endParaRPr>
          </a:p>
          <a:p>
            <a:pPr marL="495300" indent="-495300" eaLnBrk="1" hangingPunct="1">
              <a:lnSpc>
                <a:spcPct val="150000"/>
              </a:lnSpc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endParaRPr lang="en-US" altLang="zh-CN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>
            <a:extLst>
              <a:ext uri="{FF2B5EF4-FFF2-40B4-BE49-F238E27FC236}">
                <a16:creationId xmlns:a16="http://schemas.microsoft.com/office/drawing/2014/main" id="{113A87D0-FC79-F57A-1CBB-5A19E6A1C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作业提交说明</a:t>
            </a:r>
          </a:p>
        </p:txBody>
      </p:sp>
      <p:sp>
        <p:nvSpPr>
          <p:cNvPr id="25603" name="内容占位符 2">
            <a:extLst>
              <a:ext uri="{FF2B5EF4-FFF2-40B4-BE49-F238E27FC236}">
                <a16:creationId xmlns:a16="http://schemas.microsoft.com/office/drawing/2014/main" id="{7986AD1C-B666-5A92-DF95-F79664B813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49777"/>
            <a:ext cx="8374702" cy="5400675"/>
          </a:xfrm>
        </p:spPr>
        <p:txBody>
          <a:bodyPr/>
          <a:lstStyle/>
          <a:p>
            <a:r>
              <a:rPr lang="zh-CN" altLang="en-US" sz="2400" dirty="0"/>
              <a:t>压缩包命名</a:t>
            </a:r>
            <a:r>
              <a:rPr lang="zh-CN" altLang="en-US" sz="2400" dirty="0">
                <a:cs typeface="Times New Roman" panose="02020603050405020304" pitchFamily="18" charset="0"/>
              </a:rPr>
              <a:t>为：“学号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姓名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作业编号”，例：</a:t>
            </a:r>
            <a:r>
              <a:rPr lang="en-US" altLang="zh-CN" sz="2400" dirty="0">
                <a:cs typeface="Times New Roman" panose="02020603050405020304" pitchFamily="18" charset="0"/>
              </a:rPr>
              <a:t>20260625_</a:t>
            </a:r>
            <a:r>
              <a:rPr lang="zh-CN" altLang="en-US" sz="2400" dirty="0">
                <a:cs typeface="Times New Roman" panose="02020603050405020304" pitchFamily="18" charset="0"/>
              </a:rPr>
              <a:t>张三</a:t>
            </a:r>
            <a:r>
              <a:rPr lang="en-US" altLang="zh-CN" sz="2400" dirty="0">
                <a:cs typeface="Times New Roman" panose="02020603050405020304" pitchFamily="18" charset="0"/>
              </a:rPr>
              <a:t>_</a:t>
            </a:r>
            <a:r>
              <a:rPr lang="zh-CN" altLang="en-US" sz="2400" dirty="0">
                <a:cs typeface="Times New Roman" panose="02020603050405020304" pitchFamily="18" charset="0"/>
              </a:rPr>
              <a:t>实验七。</a:t>
            </a:r>
            <a:endParaRPr lang="en-US" altLang="zh-CN" sz="2400" dirty="0"/>
          </a:p>
          <a:p>
            <a:r>
              <a:rPr lang="zh-CN" altLang="en-US" sz="2400" dirty="0"/>
              <a:t>每次作业文件下包含两部分：</a:t>
            </a:r>
            <a:r>
              <a:rPr lang="en-US" altLang="zh-CN" sz="2400" dirty="0"/>
              <a:t>code</a:t>
            </a:r>
            <a:r>
              <a:rPr lang="zh-CN" altLang="en-US" sz="2400" dirty="0"/>
              <a:t>文件夹和实验报告</a:t>
            </a:r>
            <a:r>
              <a:rPr lang="en-US" altLang="zh-CN" sz="2400" dirty="0"/>
              <a:t>PDF</a:t>
            </a:r>
            <a:r>
              <a:rPr lang="zh-CN" altLang="en-US" sz="2400" dirty="0"/>
              <a:t>文件。</a:t>
            </a:r>
            <a:endParaRPr lang="en-US" altLang="zh-CN" sz="2400" dirty="0"/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code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文件夹：存放实验代码；</a:t>
            </a:r>
            <a:endParaRPr lang="en-US" altLang="zh-CN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PDF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文件格式参考发的模板。</a:t>
            </a:r>
            <a:endParaRPr lang="en-US" altLang="zh-CN" sz="2400" dirty="0"/>
          </a:p>
          <a:p>
            <a:r>
              <a:rPr lang="zh-CN" altLang="en-US" sz="2400" dirty="0"/>
              <a:t>如果需要更新提交的版本，则在后面加</a:t>
            </a:r>
            <a:r>
              <a:rPr lang="en-US" altLang="zh-CN" sz="2400" dirty="0"/>
              <a:t>_v2</a:t>
            </a:r>
            <a:r>
              <a:rPr lang="zh-CN" altLang="en-US" sz="2400" dirty="0"/>
              <a:t>，</a:t>
            </a:r>
            <a:r>
              <a:rPr lang="en-US" altLang="zh-CN" sz="2400" dirty="0"/>
              <a:t>_v3</a:t>
            </a:r>
            <a:r>
              <a:rPr lang="zh-CN" altLang="en-US" sz="2400" dirty="0"/>
              <a:t>。如第一版是“学号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.zip</a:t>
            </a:r>
            <a:r>
              <a:rPr lang="zh-CN" altLang="en-US" sz="2400" dirty="0"/>
              <a:t>”，第二版是“学号</a:t>
            </a:r>
            <a:r>
              <a:rPr lang="en-US" altLang="zh-CN" sz="2400" dirty="0"/>
              <a:t>_</a:t>
            </a:r>
            <a:r>
              <a:rPr lang="zh-CN" altLang="en-US" sz="2400" dirty="0"/>
              <a:t>姓名</a:t>
            </a:r>
            <a:r>
              <a:rPr lang="en-US" altLang="zh-CN" sz="2400" dirty="0"/>
              <a:t>_</a:t>
            </a:r>
            <a:r>
              <a:rPr lang="zh-CN" altLang="en-US" sz="2400" dirty="0"/>
              <a:t>作业编号</a:t>
            </a:r>
            <a:r>
              <a:rPr lang="en-US" altLang="zh-CN" sz="2400" dirty="0"/>
              <a:t>_v2.zip</a:t>
            </a:r>
            <a:r>
              <a:rPr lang="zh-CN" altLang="en-US" sz="2400" dirty="0"/>
              <a:t>”，依此类推。</a:t>
            </a:r>
            <a:endParaRPr lang="en-US" altLang="zh-CN" sz="2400" dirty="0"/>
          </a:p>
          <a:p>
            <a:r>
              <a:rPr lang="zh-CN" altLang="en-US" sz="2400" dirty="0"/>
              <a:t>截至日期：</a:t>
            </a:r>
            <a:r>
              <a:rPr lang="en-US" altLang="zh-CN" sz="2400" b="1" dirty="0">
                <a:solidFill>
                  <a:schemeClr val="accent2"/>
                </a:solidFill>
              </a:rPr>
              <a:t>2026</a:t>
            </a:r>
            <a:r>
              <a:rPr lang="zh-CN" altLang="en-US" sz="2400" b="1" dirty="0">
                <a:solidFill>
                  <a:schemeClr val="accent2"/>
                </a:solidFill>
              </a:rPr>
              <a:t>年</a:t>
            </a:r>
            <a:r>
              <a:rPr lang="en-US" altLang="zh-CN" sz="2400" b="1" dirty="0">
                <a:solidFill>
                  <a:schemeClr val="accent2"/>
                </a:solidFill>
              </a:rPr>
              <a:t>7</a:t>
            </a:r>
            <a:r>
              <a:rPr lang="zh-CN" altLang="en-US" sz="2400" b="1" dirty="0">
                <a:solidFill>
                  <a:schemeClr val="accent2"/>
                </a:solidFill>
              </a:rPr>
              <a:t>月</a:t>
            </a:r>
            <a:r>
              <a:rPr lang="en-US" altLang="zh-CN" sz="2400" b="1" dirty="0">
                <a:solidFill>
                  <a:schemeClr val="accent2"/>
                </a:solidFill>
              </a:rPr>
              <a:t>19</a:t>
            </a:r>
            <a:r>
              <a:rPr lang="zh-CN" altLang="en-US" sz="2400" b="1" dirty="0">
                <a:solidFill>
                  <a:schemeClr val="accent2"/>
                </a:solidFill>
              </a:rPr>
              <a:t>日晚</a:t>
            </a:r>
            <a:r>
              <a:rPr lang="en-US" altLang="zh-CN" sz="2400" b="1" dirty="0">
                <a:solidFill>
                  <a:schemeClr val="accent2"/>
                </a:solidFill>
              </a:rPr>
              <a:t>24</a:t>
            </a:r>
            <a:r>
              <a:rPr lang="zh-CN" altLang="en-US" sz="2400" b="1" dirty="0">
                <a:solidFill>
                  <a:schemeClr val="accent2"/>
                </a:solidFill>
              </a:rPr>
              <a:t>点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r>
              <a:rPr lang="zh-CN" altLang="en-US" sz="2400" dirty="0"/>
              <a:t>提交邮箱：</a:t>
            </a:r>
            <a:r>
              <a:rPr lang="en-US" altLang="zh-CN" sz="2400" dirty="0">
                <a:hlinkClick r:id="rId2"/>
              </a:rPr>
              <a:t>zhangyc8@mail2.sysu.edu.cn</a:t>
            </a:r>
            <a:r>
              <a:rPr lang="zh-CN" altLang="en-US" sz="2400" dirty="0"/>
              <a:t>。</a:t>
            </a:r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7459547B-D996-686A-C780-356FCCE3F9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16C6F3-7B10-4E5D-9F7F-9BE666DCD9BD}" type="slidenum">
              <a:rPr kumimoji="0" lang="en-US" altLang="ja-JP" sz="1400" b="0" smtClean="0">
                <a:solidFill>
                  <a:srgbClr val="A50021"/>
                </a:solidFill>
              </a:rPr>
              <a:pPr/>
              <a:t>45</a:t>
            </a:fld>
            <a:endParaRPr kumimoji="0" lang="en-US" altLang="ja-JP" sz="1400" b="0">
              <a:solidFill>
                <a:srgbClr val="A50021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mIxMjVhMWEyODFkZDhlOTgwMGFlMGQ3MTU5NDI5Y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asedaSample5">
  <a:themeElements>
    <a:clrScheme name="wasedaSample5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1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MS PGothic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pitchFamily="18" charset="0"/>
            <a:ea typeface="MS PGothic" panose="020B0600070205080204" pitchFamily="34" charset="-128"/>
          </a:defRPr>
        </a:defPPr>
      </a:lstStyle>
    </a:lnDef>
  </a:objectDefaults>
  <a:extraClrSchemeLst>
    <a:extraClrScheme>
      <a:clrScheme name="wasedaSample5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sedaSample5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sedaSample5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3159</Words>
  <Application>Microsoft Office PowerPoint</Application>
  <PresentationFormat>全屏显示(4:3)</PresentationFormat>
  <Paragraphs>475</Paragraphs>
  <Slides>45</Slides>
  <Notes>36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1" baseType="lpstr">
      <vt:lpstr>-apple-system</vt:lpstr>
      <vt:lpstr>微軟正黑體</vt:lpstr>
      <vt:lpstr>微軟正黑體</vt:lpstr>
      <vt:lpstr>Times New Roman Regular</vt:lpstr>
      <vt:lpstr>ui-sans-serif</vt:lpstr>
      <vt:lpstr>黑体</vt:lpstr>
      <vt:lpstr>宋体</vt:lpstr>
      <vt:lpstr>微软雅黑</vt:lpstr>
      <vt:lpstr>造字工房典黑体</vt:lpstr>
      <vt:lpstr>Arial</vt:lpstr>
      <vt:lpstr>Arial Bold</vt:lpstr>
      <vt:lpstr>Times New Roman</vt:lpstr>
      <vt:lpstr>Times New Roman Bold Italic</vt:lpstr>
      <vt:lpstr>Wingdings</vt:lpstr>
      <vt:lpstr>wasedaSample5</vt:lpstr>
      <vt:lpstr>Equation</vt:lpstr>
      <vt:lpstr>Artificial Intelligence 人工智能实验</vt:lpstr>
      <vt:lpstr>目录 </vt:lpstr>
      <vt:lpstr>目录 </vt:lpstr>
      <vt:lpstr>1.1 AI Agent定义</vt:lpstr>
      <vt:lpstr>1.1 AI Agent定义</vt:lpstr>
      <vt:lpstr>1.2 AI Agent基本组件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推理/规划</vt:lpstr>
      <vt:lpstr>1.2 记忆</vt:lpstr>
      <vt:lpstr>1.3 工具使用</vt:lpstr>
      <vt:lpstr>1.3 工具使用</vt:lpstr>
      <vt:lpstr>1.3 多Agent系统</vt:lpstr>
      <vt:lpstr>1.3 多Agent系统</vt:lpstr>
      <vt:lpstr>1.3 多Agent系统</vt:lpstr>
      <vt:lpstr>1.3 多Agent系统</vt:lpstr>
      <vt:lpstr>1.3 多Agent系统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框架介绍</vt:lpstr>
      <vt:lpstr>1.4 框架对比(LangGraph vs. Llamalndex)</vt:lpstr>
      <vt:lpstr>1.4 框架对比(LangGraph vs. Llamalndex)</vt:lpstr>
      <vt:lpstr>目录 </vt:lpstr>
      <vt:lpstr>2.1 设计实现一个多智能体系统</vt:lpstr>
      <vt:lpstr>2.1 一个极其简单的示例</vt:lpstr>
      <vt:lpstr>2.1 评分标准</vt:lpstr>
      <vt:lpstr>目录 </vt:lpstr>
      <vt:lpstr>3. 作业提交说明</vt:lpstr>
    </vt:vector>
  </TitlesOfParts>
  <Company>玄研究室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3-搜索算法</dc:title>
  <dc:creator>宇聪 张</dc:creator>
  <cp:lastModifiedBy>宇聪 张</cp:lastModifiedBy>
  <cp:revision>1160</cp:revision>
  <cp:lastPrinted>2025-06-06T01:59:42Z</cp:lastPrinted>
  <dcterms:created xsi:type="dcterms:W3CDTF">2025-06-06T01:59:42Z</dcterms:created>
  <dcterms:modified xsi:type="dcterms:W3CDTF">2026-06-10T08:54:50Z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5A50EF4F88A19004C56A4168CE879A53_43</vt:lpwstr>
  </property>
  <property fmtid="{D5CDD505-2E9C-101B-9397-08002B2CF9AE}" pid="3" name="KSOProductBuildVer">
    <vt:lpwstr>2052-6.10.1.8873</vt:lpwstr>
  </property>
</Properties>
</file>