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639" r:id="rId3"/>
    <p:sldId id="605" r:id="rId5"/>
    <p:sldId id="609" r:id="rId6"/>
    <p:sldId id="681" r:id="rId7"/>
    <p:sldId id="702" r:id="rId8"/>
    <p:sldId id="701" r:id="rId9"/>
    <p:sldId id="682" r:id="rId10"/>
    <p:sldId id="683" r:id="rId11"/>
    <p:sldId id="684" r:id="rId12"/>
    <p:sldId id="680" r:id="rId13"/>
    <p:sldId id="703" r:id="rId14"/>
    <p:sldId id="607" r:id="rId15"/>
  </p:sldIdLst>
  <p:sldSz cx="9144000" cy="6858000" type="screen4x3"/>
  <p:notesSz cx="6735445" cy="9865995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09FE0"/>
    <a:srgbClr val="FFCCFF"/>
    <a:srgbClr val="B8DCF4"/>
    <a:srgbClr val="FFFFCC"/>
    <a:srgbClr val="99FF99"/>
    <a:srgbClr val="E8ECF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3" autoAdjust="0"/>
    <p:restoredTop sz="94306" autoAdjust="0"/>
  </p:normalViewPr>
  <p:slideViewPr>
    <p:cSldViewPr snapToGrid="0" showGuides="1">
      <p:cViewPr varScale="1">
        <p:scale>
          <a:sx n="140" d="100"/>
          <a:sy n="140" d="100"/>
        </p:scale>
        <p:origin x="88" y="9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740" y="-114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034C6EE-4A99-467C-9965-50EEE77005D1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C4B0F1-E941-4AD4-8EB5-04747E843887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739775"/>
            <a:ext cx="4933950" cy="3700463"/>
          </a:xfrm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1800" dirty="0"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D4974D3-3103-4956-8804-74887D3BB162}" type="slidenum">
              <a:rPr lang="zh-CN" altLang="en-US" sz="1200" b="0" smtClean="0"/>
            </a:fld>
            <a:endParaRPr lang="zh-CN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685800" y="28876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A50021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 algn="ctr">
              <a:defRPr sz="4000">
                <a:solidFill>
                  <a:srgbClr val="A50021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  <a:endParaRPr lang="ja-JP" altLang="en-US" noProof="0"/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800">
                <a:solidFill>
                  <a:schemeClr val="folHlink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  <a:endParaRPr lang="ja-JP" altLang="en-US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28D9-E152-4420-A86D-30DF28F96CC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AF141-A5EC-4CFB-A958-86E1E10B0F1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1B3B4-78F3-45F0-BD7A-5A4B0B67E41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400B0-00DE-40A7-8918-3E30DB48DF7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B16E1-3542-4D7A-B514-ED013101ED3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0E1B8-4BBF-432F-A56B-E500C359658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6F008-80B0-4065-8639-FA522E78ABD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A297B-0CBD-41CE-A2CE-5D734000E69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50825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250825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836E-F560-4B02-9B15-A1904EAC68FB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BCFAB-D188-4040-96D5-887F570D26D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3413" y="6413500"/>
            <a:ext cx="198120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>
                <a:solidFill>
                  <a:srgbClr val="A50021"/>
                </a:solidFill>
              </a:defRPr>
            </a:lvl1pPr>
          </a:lstStyle>
          <a:p>
            <a:pPr>
              <a:defRPr/>
            </a:pPr>
            <a:fld id="{98481C38-1BE0-4570-8049-390C7BA11E2C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kumimoji="1" sz="3800" b="1" kern="1200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rgbClr val="009900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rgbClr val="0099CC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rgbClr val="99CC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/>
              <a:t>Artificial Intelligence</a:t>
            </a:r>
            <a:br>
              <a:rPr lang="en-US" altLang="zh-CN" dirty="0"/>
            </a:br>
            <a:r>
              <a:rPr lang="zh-CN" altLang="en-US" dirty="0"/>
              <a:t>人工智能实验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87460" y="5049522"/>
            <a:ext cx="293751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中山大学计算机学院</a:t>
            </a:r>
            <a:endParaRPr lang="en-US" altLang="zh-CN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altLang="zh-CN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2026</a:t>
            </a:r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年春季</a:t>
            </a:r>
            <a:endParaRPr lang="zh-CN" altLang="en-US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584200" y="3624223"/>
            <a:ext cx="7772400" cy="7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indent="17653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机器学习基础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875" y="785499"/>
            <a:ext cx="8620125" cy="598836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ja-JP" sz="2000" dirty="0">
                <a:cs typeface="Times New Roman" panose="02020603050405020304" pitchFamily="18" charset="0"/>
              </a:rPr>
              <a:t>         1.1 </a:t>
            </a:r>
            <a:r>
              <a:rPr lang="zh-CN" altLang="en-US" sz="2000" dirty="0">
                <a:cs typeface="Times New Roman" panose="02020603050405020304" pitchFamily="18" charset="0"/>
              </a:rPr>
              <a:t>人工神经网络介绍</a:t>
            </a:r>
            <a:r>
              <a:rPr lang="en-US" altLang="ja-JP" sz="2000" dirty="0">
                <a:cs typeface="Times New Roman" panose="02020603050405020304" pitchFamily="18" charset="0"/>
              </a:rPr>
              <a:t>         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      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ja-JP" sz="2000" dirty="0">
                <a:cs typeface="Times New Roman" panose="02020603050405020304" pitchFamily="18" charset="0"/>
              </a:rPr>
              <a:t>.1 </a:t>
            </a:r>
            <a:r>
              <a:rPr lang="zh-CN" altLang="en-US" sz="2000" dirty="0">
                <a:cs typeface="Times New Roman" panose="02020603050405020304" pitchFamily="18" charset="0"/>
              </a:rPr>
              <a:t>购房预测分类任务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20204" pitchFamily="34" charset="0"/>
              </a:rPr>
            </a:fld>
            <a:endParaRPr kumimoji="0" lang="en-US" altLang="ja-JP" sz="1400" b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760" y="2298580"/>
            <a:ext cx="4681653" cy="25237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87" y="4891583"/>
            <a:ext cx="4127455" cy="18695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579577"/>
            <a:ext cx="3019425" cy="695325"/>
          </a:xfrm>
          <a:prstGeom prst="rect">
            <a:avLst/>
          </a:prstGeom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642350" cy="1526091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神经网络采用了仿生学的思想，通过模拟生物神经网络的结构和功能来实现建模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3938"/>
            <a:ext cx="5622381" cy="26651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4" r="18357"/>
          <a:stretch>
            <a:fillRect/>
          </a:stretch>
        </p:blipFill>
        <p:spPr>
          <a:xfrm>
            <a:off x="5802551" y="3923938"/>
            <a:ext cx="2714663" cy="2430951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0825" y="908051"/>
            <a:ext cx="8642350" cy="26651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单层感知机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M-P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神经元模型参数需要事先设定好，为了能够自适应学习出所需要的参数，研究人员就提出了单层感知机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(Perceptron)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感知机的基本公式为：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𝑠𝑖𝑔𝑛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𝑤𝑥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𝑏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sign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为符号函数，当自变量为正数时取值为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，否则取值为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0825" y="908051"/>
            <a:ext cx="8642350" cy="26651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多层感知机（</a:t>
            </a:r>
            <a:r>
              <a:rPr lang="en-US" altLang="zh-CN" sz="2800" dirty="0">
                <a:cs typeface="Times New Roman" panose="02020603050405020304" pitchFamily="18" charset="0"/>
              </a:rPr>
              <a:t>Multi-Layer Perceptron</a:t>
            </a:r>
            <a:r>
              <a:rPr lang="zh-CN" altLang="en-US" sz="2800" dirty="0">
                <a:cs typeface="Times New Roman" panose="02020603050405020304" pitchFamily="18" charset="0"/>
              </a:rPr>
              <a:t>，简称</a:t>
            </a:r>
            <a:r>
              <a:rPr lang="en-US" altLang="zh-CN" sz="2800" dirty="0">
                <a:cs typeface="Times New Roman" panose="02020603050405020304" pitchFamily="18" charset="0"/>
              </a:rPr>
              <a:t>MLP</a:t>
            </a:r>
            <a:r>
              <a:rPr lang="zh-CN" altLang="en-US" sz="2800" dirty="0">
                <a:cs typeface="Times New Roman" panose="02020603050405020304" pitchFamily="18" charset="0"/>
              </a:rPr>
              <a:t>）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包含三个层次：一个输入层，一个或多个中间层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也叫隐藏层，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hidden layer)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和一个输出层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输入层与输出层的节点数是固定的，中间层则可以自由指定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MLP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通常还会引入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偏置单元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en-US" altLang="zh-CN" sz="2000" b="1" i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78" y="3953508"/>
            <a:ext cx="3232533" cy="24152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20" y="3953508"/>
            <a:ext cx="2906111" cy="24180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469119" y="4292801"/>
                <a:ext cx="2496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0" i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119" y="4292801"/>
                <a:ext cx="2496208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5" t="-50" r="16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516413" y="4949697"/>
                <a:ext cx="2585545" cy="1001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b="0" i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13" y="4949697"/>
                <a:ext cx="2585545" cy="1001428"/>
              </a:xfrm>
              <a:prstGeom prst="rect">
                <a:avLst/>
              </a:prstGeom>
              <a:blipFill rotWithShape="1">
                <a:blip r:embed="rId4"/>
                <a:stretch>
                  <a:fillRect l="-2" t="-51" r="19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0825" y="908051"/>
            <a:ext cx="8642350" cy="26651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激活函数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927100" lvl="1" indent="-4699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常用激活函数：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323975" lvl="2" indent="-469900">
              <a:lnSpc>
                <a:spcPct val="150000"/>
              </a:lnSpc>
              <a:defRPr/>
            </a:pPr>
            <a:r>
              <a:rPr lang="en-US" altLang="zh-CN" sz="17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sigmoid</a:t>
            </a:r>
            <a:r>
              <a:rPr lang="zh-CN" alt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700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Relu</a:t>
            </a:r>
            <a:r>
              <a:rPr lang="zh-CN" alt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7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tanh</a:t>
            </a:r>
            <a:endParaRPr lang="en-US" altLang="zh-CN" sz="17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476" y="2816836"/>
            <a:ext cx="2908858" cy="3530180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17572" y="2816836"/>
            <a:ext cx="2908858" cy="3530180"/>
          </a:xfrm>
          <a:prstGeom prst="rect">
            <a:avLst/>
          </a:prstGeom>
        </p:spPr>
      </p:pic>
      <p:pic>
        <p:nvPicPr>
          <p:cNvPr id="4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59668" y="2816836"/>
            <a:ext cx="2908858" cy="3530180"/>
          </a:xfrm>
          <a:prstGeom prst="rect">
            <a:avLst/>
          </a:prstGeom>
        </p:spPr>
      </p:pic>
      <p:pic>
        <p:nvPicPr>
          <p:cNvPr id="6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25" y="3841219"/>
            <a:ext cx="2677668" cy="1399032"/>
          </a:xfrm>
          <a:prstGeom prst="rect">
            <a:avLst/>
          </a:prstGeom>
        </p:spPr>
      </p:pic>
      <p:grpSp>
        <p:nvGrpSpPr>
          <p:cNvPr id="8" name="object 26"/>
          <p:cNvGrpSpPr/>
          <p:nvPr/>
        </p:nvGrpSpPr>
        <p:grpSpPr>
          <a:xfrm>
            <a:off x="3368899" y="3584708"/>
            <a:ext cx="5448300" cy="1749552"/>
            <a:chOff x="6225540" y="3806952"/>
            <a:chExt cx="5448300" cy="1749552"/>
          </a:xfrm>
        </p:grpSpPr>
        <p:pic>
          <p:nvPicPr>
            <p:cNvPr id="9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5540" y="3968496"/>
              <a:ext cx="2548127" cy="1588008"/>
            </a:xfrm>
            <a:prstGeom prst="rect">
              <a:avLst/>
            </a:prstGeom>
          </p:spPr>
        </p:pic>
        <p:pic>
          <p:nvPicPr>
            <p:cNvPr id="1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8048" y="3806952"/>
              <a:ext cx="2145792" cy="1729739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250825" y="5401218"/>
            <a:ext cx="26108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0" dirty="0"/>
              <a:t>(a) sigmoid</a:t>
            </a:r>
            <a:endParaRPr lang="en-US" altLang="zh-CN" sz="1600" b="0" dirty="0"/>
          </a:p>
          <a:p>
            <a:pPr algn="ctr">
              <a:lnSpc>
                <a:spcPct val="150000"/>
              </a:lnSpc>
            </a:pPr>
            <a:r>
              <a:rPr lang="zh-CN" altLang="en-US" sz="1600" b="0" dirty="0"/>
              <a:t>多用于多层神经网络</a:t>
            </a:r>
            <a:r>
              <a:rPr lang="en-US" altLang="zh-CN" sz="1600" b="0" dirty="0"/>
              <a:t>(MLP)</a:t>
            </a:r>
            <a:endParaRPr lang="en-US" altLang="zh-CN" sz="1600" b="0" dirty="0"/>
          </a:p>
        </p:txBody>
      </p:sp>
      <p:sp>
        <p:nvSpPr>
          <p:cNvPr id="17" name="文本框 16"/>
          <p:cNvSpPr txBox="1"/>
          <p:nvPr/>
        </p:nvSpPr>
        <p:spPr>
          <a:xfrm>
            <a:off x="3224445" y="5401218"/>
            <a:ext cx="26108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0" dirty="0"/>
              <a:t>(b) </a:t>
            </a:r>
            <a:r>
              <a:rPr lang="en-US" altLang="zh-CN" sz="1600" b="0" dirty="0" err="1"/>
              <a:t>ReLU</a:t>
            </a:r>
            <a:endParaRPr lang="en-US" altLang="zh-CN" sz="1600" b="0" dirty="0"/>
          </a:p>
          <a:p>
            <a:pPr algn="ctr">
              <a:lnSpc>
                <a:spcPct val="150000"/>
              </a:lnSpc>
            </a:pPr>
            <a:r>
              <a:rPr lang="zh-CN" altLang="en-US" sz="1600" b="0" dirty="0"/>
              <a:t>多用于深层神经网络</a:t>
            </a:r>
            <a:r>
              <a:rPr lang="en-US" altLang="zh-CN" sz="1600" b="0" dirty="0"/>
              <a:t>(DNN)</a:t>
            </a:r>
            <a:endParaRPr lang="en-US" altLang="zh-CN" sz="1600" b="0" dirty="0"/>
          </a:p>
        </p:txBody>
      </p:sp>
      <p:sp>
        <p:nvSpPr>
          <p:cNvPr id="18" name="文本框 17"/>
          <p:cNvSpPr txBox="1"/>
          <p:nvPr/>
        </p:nvSpPr>
        <p:spPr>
          <a:xfrm>
            <a:off x="6308658" y="5401218"/>
            <a:ext cx="26108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0" dirty="0"/>
              <a:t>(c) tanh</a:t>
            </a:r>
            <a:endParaRPr lang="en-US" altLang="zh-CN" sz="1600" b="0" dirty="0"/>
          </a:p>
          <a:p>
            <a:pPr algn="ctr">
              <a:lnSpc>
                <a:spcPct val="150000"/>
              </a:lnSpc>
            </a:pPr>
            <a:r>
              <a:rPr lang="zh-CN" altLang="en-US" sz="1600" b="0" dirty="0"/>
              <a:t>多用于深层神经网络</a:t>
            </a:r>
            <a:r>
              <a:rPr lang="en-US" altLang="zh-CN" sz="1600" b="0" dirty="0"/>
              <a:t>(DNN)</a:t>
            </a:r>
            <a:endParaRPr lang="en-US" altLang="zh-CN" sz="16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24466" y="3025644"/>
                <a:ext cx="2610877" cy="559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66" y="3025644"/>
                <a:ext cx="2610877" cy="559064"/>
              </a:xfrm>
              <a:prstGeom prst="rect">
                <a:avLst/>
              </a:prstGeom>
              <a:blipFill rotWithShape="1">
                <a:blip r:embed="rId5"/>
                <a:stretch>
                  <a:fillRect l="-12" t="-90" r="3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224445" y="3145858"/>
                <a:ext cx="26108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445" y="3145858"/>
                <a:ext cx="2610877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21" t="-20" r="1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300348" y="3035603"/>
                <a:ext cx="2610877" cy="574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𝑡𝑎𝑛ℎ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348" y="3035603"/>
                <a:ext cx="2610877" cy="574003"/>
              </a:xfrm>
              <a:prstGeom prst="rect">
                <a:avLst/>
              </a:prstGeom>
              <a:blipFill rotWithShape="1">
                <a:blip r:embed="rId7"/>
                <a:stretch>
                  <a:fillRect l="-20" t="-53" r="10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0825" y="908051"/>
                <a:ext cx="8642350" cy="502439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损失函数</a:t>
                </a:r>
                <a:endParaRPr lang="zh-CN" altLang="en-US" sz="2800" dirty="0"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作用：为了衡量网络表现是否良好，并为之后的网络参数优化提供指导。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常见的用在分类任务上的损失函数：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均方误差</a:t>
                </a:r>
                <a:r>
                  <a:rPr lang="en-US" altLang="zh-CN" sz="1800" dirty="0"/>
                  <a:t>(MSE):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</m:sub>
                    </m:sSub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trlPr>
                                          <a:rPr lang="en-US" altLang="zh-CN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18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交叉熵</a:t>
                </a:r>
                <a:r>
                  <a:rPr lang="en-US" altLang="zh-CN" sz="18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r>
                      <a:rPr lang="en-US" altLang="zh-C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trlP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sz="1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8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func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func>
                          <m:funcPr>
                            <m:ctrlP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trlP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zh-CN" altLang="en-US" sz="1800" dirty="0"/>
              </a:p>
              <a:p>
                <a:pPr marL="488950">
                  <a:lnSpc>
                    <a:spcPct val="150000"/>
                  </a:lnSpc>
                  <a:defRPr/>
                </a:pP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5" y="908051"/>
                <a:ext cx="8642350" cy="5024398"/>
              </a:xfrm>
              <a:blipFill rotWithShape="1">
                <a:blip r:embed="rId1"/>
                <a:stretch>
                  <a:fillRect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0825" y="908051"/>
                <a:ext cx="8642350" cy="502439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梯度下降</a:t>
                </a:r>
                <a:endParaRPr lang="zh-CN" altLang="en-US" sz="2800" dirty="0"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梯度定义：梯度是一个向量，表示某一函数在该点出的方向导数沿着该方向取得最大值。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也就是说该点处沿着梯度的方向变化最快，变化率最大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323975" lvl="2">
                  <a:lnSpc>
                    <a:spcPct val="150000"/>
                  </a:lnSpc>
                  <a:defRPr/>
                </a:pPr>
                <a:r>
                  <a:rPr lang="zh-CN" alt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沿着梯度方向容易找到函数最大值</a:t>
                </a:r>
                <a:endParaRPr lang="zh-CN" altLang="en-US" sz="17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323975" lvl="2">
                  <a:lnSpc>
                    <a:spcPct val="150000"/>
                  </a:lnSpc>
                  <a:defRPr/>
                </a:pPr>
                <a:r>
                  <a:rPr lang="zh-CN" alt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沿着梯度方向的反方向，容易找到函数最小值</a:t>
                </a:r>
                <a:endParaRPr lang="en-US" altLang="zh-CN" sz="17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梯度下降的一般公式为：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其中，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学习率，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是对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的梯度，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是参数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927100" lvl="1">
                  <a:lnSpc>
                    <a:spcPct val="150000"/>
                  </a:lnSpc>
                  <a:defRPr/>
                </a:pP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88950">
                  <a:lnSpc>
                    <a:spcPct val="150000"/>
                  </a:lnSpc>
                  <a:defRPr/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88950">
                  <a:lnSpc>
                    <a:spcPct val="150000"/>
                  </a:lnSpc>
                  <a:defRPr/>
                </a:pP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5" y="908051"/>
                <a:ext cx="8642350" cy="5024398"/>
              </a:xfrm>
              <a:blipFill rotWithShape="1">
                <a:blip r:embed="rId1"/>
                <a:stretch>
                  <a:fillRect b="-15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形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4645" y="4451539"/>
            <a:ext cx="4748530" cy="23561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人工神经网络介绍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0825" y="908051"/>
            <a:ext cx="8642350" cy="242950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学习率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927100" lvl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学习率限制了下一步能到达的地方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如果学习率太小，可能很难达到最小值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27100" lvl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如果学习率太大，则会错过最小值，无法收敛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449" y="3337560"/>
            <a:ext cx="6437102" cy="29811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购房预测分类任务</a:t>
            </a:r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D32D22D-C693-4902-9CF7-E5DCEBAA7E9F}" type="slidenum">
              <a:rPr kumimoji="0" lang="en-US" altLang="ja-JP" sz="1400" b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7408407" cy="58658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购房预测分类任务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利用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感知机算法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在给定数据集完成购房预测训练。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要求：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选择合适的损失函数，利用训练集完成网络训练，画出数据可视化图、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loss</a:t>
            </a:r>
            <a:r>
              <a:rPr lang="zh-CN" altLang="en-US" sz="1700">
                <a:solidFill>
                  <a:schemeClr val="tx1"/>
                </a:solidFill>
                <a:cs typeface="Times New Roman" panose="02020603050405020304" pitchFamily="18" charset="0"/>
              </a:rPr>
              <a:t>曲线图。</a:t>
            </a:r>
            <a:endParaRPr lang="en-US" altLang="zh-CN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单层感知机示例：</a:t>
            </a:r>
            <a:endParaRPr lang="zh-CN" altLang="en-US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" y="4490302"/>
            <a:ext cx="2359951" cy="15798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855" y="4432237"/>
            <a:ext cx="2440035" cy="16959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369" y="3772298"/>
            <a:ext cx="3906206" cy="273380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购房预测分类任务</a:t>
            </a:r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D32D22D-C693-4902-9CF7-E5DCEBAA7E9F}" type="slidenum">
              <a:rPr kumimoji="0" lang="en-US" altLang="ja-JP" sz="1400" b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0824" y="908050"/>
                <a:ext cx="8839387" cy="586581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购房预测分类任务</a:t>
                </a:r>
                <a:endParaRPr lang="en-US" altLang="zh-CN" sz="280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defRPr/>
                </a:pPr>
                <a:r>
                  <a:rPr lang="zh-CN" altLang="en-US" sz="2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利用</a:t>
                </a:r>
                <a:r>
                  <a:rPr lang="zh-CN" alt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感知机算法</a:t>
                </a:r>
                <a:r>
                  <a:rPr lang="zh-CN" altLang="en-US" sz="2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在给定数据集完成购房预测训练</a:t>
                </a:r>
                <a:endParaRPr lang="zh-CN" altLang="en-US" sz="20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marL="471170" lvl="1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 </a:t>
                </a:r>
                <a:r>
                  <a:rPr lang="en-US" altLang="zh-CN" sz="2000" u="sng" dirty="0">
                    <a:solidFill>
                      <a:srgbClr val="409FE0"/>
                    </a:solidFill>
                    <a:cs typeface="Times New Roman" panose="02020603050405020304" pitchFamily="18" charset="0"/>
                  </a:rPr>
                  <a:t>https://www.kaggle.com/c/house-prices-advanced-regression-techniques</a:t>
                </a:r>
                <a:endParaRPr lang="en-US" altLang="zh-CN" sz="2000" u="sng" dirty="0">
                  <a:solidFill>
                    <a:srgbClr val="409FE0"/>
                  </a:solidFill>
                  <a:cs typeface="Times New Roman" panose="02020603050405020304" pitchFamily="18" charset="0"/>
                </a:endParaRPr>
              </a:p>
              <a:p>
                <a:pPr marL="1196975" lvl="2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chemeClr val="tx1"/>
                    </a:solidFill>
                  </a:rPr>
                  <a:t>假定网络为多层感知机，网络输出为 </a:t>
                </a:r>
                <a14:m>
                  <m:oMath xmlns:m="http://schemas.openxmlformats.org/officeDocument/2006/math">
                    <m:r>
                      <a:rPr lang="en-US" altLang="zh-CN" sz="1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trlP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𝑀𝐿𝑃</m:t>
                        </m:r>
                        <m: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zh-CN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为房子的特征，</a:t>
                </a:r>
                <a:r>
                  <a:rPr lang="en-US" altLang="zh-CN" sz="1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5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𝑀𝐿𝑃</m:t>
                    </m:r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为多层神经网络，</a:t>
                </a:r>
                <a:r>
                  <a:rPr lang="en-US" altLang="zh-CN" sz="15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5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为</a:t>
                </a:r>
                <a:r>
                  <a:rPr lang="en-US" altLang="zh-CN" sz="1500" dirty="0">
                    <a:solidFill>
                      <a:schemeClr val="tx1"/>
                    </a:solidFill>
                  </a:rPr>
                  <a:t>MLP</a:t>
                </a:r>
                <a:r>
                  <a:rPr lang="zh-CN" altLang="en-US" sz="1500" dirty="0">
                    <a:solidFill>
                      <a:schemeClr val="tx1"/>
                    </a:solidFill>
                  </a:rPr>
                  <a:t>的参数，</a:t>
                </a:r>
                <a:r>
                  <a:rPr lang="en-US" altLang="zh-CN" sz="1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为预测的房价</a:t>
                </a:r>
                <a:endParaRPr lang="en-US" altLang="zh-CN" sz="1500" dirty="0">
                  <a:solidFill>
                    <a:schemeClr val="tx1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chemeClr val="tx1"/>
                    </a:solidFill>
                  </a:rPr>
                  <a:t>设置损失函数为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</m:sub>
                    </m:sSub>
                  </m:oMath>
                </a14:m>
                <a:r>
                  <a:rPr lang="zh-CN" altLang="en-US" sz="1500" dirty="0">
                    <a:solidFill>
                      <a:schemeClr val="tx1"/>
                    </a:solidFill>
                  </a:rPr>
                  <a:t>，并随机初始化网络参数</a:t>
                </a:r>
                <a:endParaRPr lang="en-US" altLang="zh-CN" sz="1500" dirty="0">
                  <a:solidFill>
                    <a:schemeClr val="tx1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chemeClr val="tx1"/>
                    </a:solidFill>
                  </a:rPr>
                  <a:t>当满足终止条件时，终止优化，否则继续</a:t>
                </a:r>
                <a:endParaRPr lang="en-US" altLang="zh-CN" sz="1500" dirty="0">
                  <a:solidFill>
                    <a:schemeClr val="tx1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rgbClr val="FF0000"/>
                    </a:solidFill>
                  </a:rPr>
                  <a:t>计算网络输出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1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𝑀𝐿𝑃</m:t>
                        </m:r>
                        <m:r>
                          <a:rPr lang="en-US" altLang="zh-CN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zh-CN" sz="1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500" dirty="0">
                    <a:solidFill>
                      <a:srgbClr val="FF0000"/>
                    </a:solidFill>
                  </a:rPr>
                  <a:t>，以及损失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</m:sub>
                    </m:sSub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𝑀𝐿𝑃</m:t>
                                </m:r>
                                <m:r>
                                  <a:rPr lang="en-US" altLang="zh-CN" sz="1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1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𝑡𝑟𝑎𝑖𝑛</m:t>
                                </m:r>
                              </m:sub>
                            </m:sSub>
                            <m: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  <m:sup>
                        <m:r>
                          <a:rPr lang="en-US" altLang="zh-CN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500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1500" dirty="0">
                    <a:solidFill>
                      <a:srgbClr val="FF0000"/>
                    </a:solidFill>
                  </a:rPr>
                  <a:t>Y</a:t>
                </a:r>
                <a:r>
                  <a:rPr lang="zh-CN" altLang="en-US" sz="1500" dirty="0">
                    <a:solidFill>
                      <a:srgbClr val="FF0000"/>
                    </a:solidFill>
                  </a:rPr>
                  <a:t>为真实房价</a:t>
                </a:r>
                <a:endParaRPr lang="en-US" altLang="zh-CN" sz="1500" dirty="0">
                  <a:solidFill>
                    <a:srgbClr val="FF0000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spcBef>
                    <a:spcPts val="360"/>
                  </a:spcBef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rgbClr val="FF0000"/>
                    </a:solidFill>
                  </a:rPr>
                  <a:t>对所有网络参数求导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5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5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sub>
                        </m:sSub>
                      </m:num>
                      <m:den>
                        <m:r>
                          <a:rPr lang="en-US" altLang="zh-CN" sz="15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5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endParaRPr lang="en-US" altLang="zh-CN" sz="1500" dirty="0">
                  <a:solidFill>
                    <a:srgbClr val="FF0000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spcBef>
                    <a:spcPts val="360"/>
                  </a:spcBef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rgbClr val="FF0000"/>
                    </a:solidFill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𝑀𝑆𝐸</m:t>
                            </m:r>
                          </m:sub>
                        </m:sSub>
                      </m:num>
                      <m:den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zh-CN" altLang="en-US" sz="1500" dirty="0">
                    <a:solidFill>
                      <a:srgbClr val="FF0000"/>
                    </a:solidFill>
                  </a:rPr>
                  <a:t>更新参数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zh-CN" altLang="en-US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15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sz="1500" dirty="0">
                    <a:solidFill>
                      <a:srgbClr val="FF0000"/>
                    </a:solidFill>
                  </a:rPr>
                  <a:t>为学习率（步长）</a:t>
                </a:r>
                <a:endParaRPr lang="en-US" altLang="zh-CN" sz="1500" dirty="0">
                  <a:solidFill>
                    <a:srgbClr val="FF0000"/>
                  </a:solidFill>
                </a:endParaRPr>
              </a:p>
              <a:p>
                <a:pPr marL="1196975" lvl="2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500" dirty="0">
                    <a:solidFill>
                      <a:schemeClr val="tx1"/>
                    </a:solidFill>
                  </a:rPr>
                  <a:t>跳转到</a:t>
                </a:r>
                <a:r>
                  <a:rPr lang="en-US" altLang="zh-CN" sz="1500" dirty="0">
                    <a:solidFill>
                      <a:schemeClr val="tx1"/>
                    </a:solidFill>
                  </a:rPr>
                  <a:t>3</a:t>
                </a:r>
                <a:endParaRPr lang="en-US" altLang="zh-CN" sz="1500" dirty="0">
                  <a:solidFill>
                    <a:schemeClr val="tx1"/>
                  </a:solidFill>
                </a:endParaRPr>
              </a:p>
              <a:p>
                <a:pPr marL="909320" lvl="2" indent="0">
                  <a:lnSpc>
                    <a:spcPct val="150000"/>
                  </a:lnSpc>
                  <a:buNone/>
                  <a:defRPr/>
                </a:pPr>
                <a:endParaRPr lang="en-US" altLang="zh-CN" sz="17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4" y="908050"/>
                <a:ext cx="8839387" cy="5865813"/>
              </a:xfrm>
              <a:blipFill rotWithShape="1">
                <a:blip r:embed="rId1"/>
                <a:stretch>
                  <a:fillRect l="-7" r="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作业提交说明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 noChangeArrowheads="1"/>
          </p:cNvSpPr>
          <p:nvPr>
            <p:ph idx="1"/>
          </p:nvPr>
        </p:nvSpPr>
        <p:spPr>
          <a:xfrm>
            <a:off x="250825" y="1149777"/>
            <a:ext cx="8374702" cy="5400675"/>
          </a:xfrm>
        </p:spPr>
        <p:txBody>
          <a:bodyPr/>
          <a:lstStyle/>
          <a:p>
            <a:r>
              <a:rPr lang="zh-CN" altLang="en-US" sz="2400" dirty="0"/>
              <a:t>压缩包命名</a:t>
            </a:r>
            <a:r>
              <a:rPr lang="zh-CN" altLang="en-US" sz="2400" dirty="0">
                <a:cs typeface="Times New Roman" panose="02020603050405020304" pitchFamily="18" charset="0"/>
              </a:rPr>
              <a:t>为：“学号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作业编号”，例：</a:t>
            </a:r>
            <a:r>
              <a:rPr lang="en-US" altLang="zh-CN" sz="2400" dirty="0">
                <a:cs typeface="Times New Roman" panose="02020603050405020304" pitchFamily="18" charset="0"/>
              </a:rPr>
              <a:t>20260528_</a:t>
            </a:r>
            <a:r>
              <a:rPr lang="zh-CN" altLang="en-US" sz="2400" dirty="0">
                <a:cs typeface="Times New Roman" panose="02020603050405020304" pitchFamily="18" charset="0"/>
              </a:rPr>
              <a:t>张三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cs typeface="Times New Roman" panose="02020603050405020304" pitchFamily="18" charset="0"/>
              </a:rPr>
              <a:t>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r>
              <a:rPr lang="zh-CN" altLang="en-US" sz="2400" dirty="0">
                <a:cs typeface="Times New Roman" panose="02020603050405020304" pitchFamily="18" charset="0"/>
              </a:rPr>
              <a:t>本次实验报告和决策树和为一次报告提交。</a:t>
            </a:r>
            <a:endParaRPr lang="en-US" altLang="zh-CN" sz="2400" dirty="0"/>
          </a:p>
          <a:p>
            <a:r>
              <a:rPr lang="zh-CN" altLang="en-US" sz="2400" dirty="0"/>
              <a:t>作业文件下包含两部分：</a:t>
            </a:r>
            <a:r>
              <a:rPr lang="en-US" altLang="zh-CN" sz="2400" dirty="0"/>
              <a:t>code</a:t>
            </a:r>
            <a:r>
              <a:rPr lang="zh-CN" altLang="en-US" sz="2400" dirty="0"/>
              <a:t>文件夹和实验报告</a:t>
            </a:r>
            <a:r>
              <a:rPr lang="en-US" altLang="zh-CN" sz="2400" dirty="0"/>
              <a:t>PDF</a:t>
            </a:r>
            <a:r>
              <a:rPr lang="zh-CN" altLang="en-US" sz="2400" dirty="0"/>
              <a:t>文件。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code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文件夹：存放实验代码；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文件格式参考发的模板。</a:t>
            </a:r>
            <a:endParaRPr lang="en-US" altLang="zh-CN" sz="2400" dirty="0"/>
          </a:p>
          <a:p>
            <a:r>
              <a:rPr lang="zh-CN" altLang="en-US" sz="2400" dirty="0"/>
              <a:t>截至日期：</a:t>
            </a:r>
            <a:r>
              <a:rPr lang="en-US" altLang="zh-CN" sz="2400" b="1" dirty="0">
                <a:solidFill>
                  <a:schemeClr val="accent2"/>
                </a:solidFill>
              </a:rPr>
              <a:t>2026</a:t>
            </a:r>
            <a:r>
              <a:rPr lang="zh-CN" altLang="en-US" sz="2400" b="1" dirty="0">
                <a:solidFill>
                  <a:schemeClr val="accent2"/>
                </a:solidFill>
              </a:rPr>
              <a:t>年</a:t>
            </a:r>
            <a:r>
              <a:rPr lang="en-US" altLang="zh-CN" sz="2400" b="1" dirty="0">
                <a:solidFill>
                  <a:schemeClr val="accent2"/>
                </a:solidFill>
              </a:rPr>
              <a:t>6</a:t>
            </a:r>
            <a:r>
              <a:rPr lang="zh-CN" altLang="en-US" sz="2400" b="1" dirty="0">
                <a:solidFill>
                  <a:schemeClr val="accent2"/>
                </a:solidFill>
              </a:rPr>
              <a:t>月</a:t>
            </a:r>
            <a:r>
              <a:rPr lang="en-US" altLang="zh-CN" sz="2400" b="1" dirty="0">
                <a:solidFill>
                  <a:schemeClr val="accent2"/>
                </a:solidFill>
              </a:rPr>
              <a:t>7</a:t>
            </a:r>
            <a:r>
              <a:rPr lang="zh-CN" altLang="en-US" sz="2400" b="1" dirty="0">
                <a:solidFill>
                  <a:schemeClr val="accent2"/>
                </a:solidFill>
              </a:rPr>
              <a:t>日晚</a:t>
            </a:r>
            <a:r>
              <a:rPr lang="en-US" altLang="zh-CN" sz="2400" b="1" dirty="0">
                <a:solidFill>
                  <a:schemeClr val="accent2"/>
                </a:solidFill>
              </a:rPr>
              <a:t>24</a:t>
            </a:r>
            <a:r>
              <a:rPr lang="zh-CN" altLang="en-US" sz="2400" b="1" dirty="0">
                <a:solidFill>
                  <a:schemeClr val="accent2"/>
                </a:solidFill>
              </a:rPr>
              <a:t>点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提交方式：超算习</a:t>
            </a:r>
            <a:r>
              <a:rPr lang="zh-CN" altLang="en-US" sz="2400" dirty="0"/>
              <a:t>堂</a:t>
            </a:r>
            <a:endParaRPr lang="zh-CN" altLang="en-US" sz="2400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516C6F3-7B10-4E5D-9F7F-9BE666DCD9BD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1916</Words>
  <Application>WPS 演示</Application>
  <PresentationFormat>全屏显示(4:3)</PresentationFormat>
  <Paragraphs>143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MS PGothic</vt:lpstr>
      <vt:lpstr>黑体</vt:lpstr>
      <vt:lpstr>MS PMincho</vt:lpstr>
      <vt:lpstr>Yu Gothic UI</vt:lpstr>
      <vt:lpstr>微软雅黑</vt:lpstr>
      <vt:lpstr>Cambria Math</vt:lpstr>
      <vt:lpstr>-apple-system</vt:lpstr>
      <vt:lpstr>Segoe Print</vt:lpstr>
      <vt:lpstr>Arial Unicode MS</vt:lpstr>
      <vt:lpstr>BatangChe</vt:lpstr>
      <vt:lpstr>-apple-system</vt:lpstr>
      <vt:lpstr>MS PMincho</vt:lpstr>
      <vt:lpstr>Wingdings</vt:lpstr>
      <vt:lpstr>wasedaSample5</vt:lpstr>
      <vt:lpstr>Artificial Intelligence 人工智能实验</vt:lpstr>
      <vt:lpstr>目录 </vt:lpstr>
      <vt:lpstr>1.1 人工神经网络介绍</vt:lpstr>
      <vt:lpstr>1.1 人工神经网络介绍</vt:lpstr>
      <vt:lpstr>1.1 人工神经网络介绍</vt:lpstr>
      <vt:lpstr>1.1 人工神经网络介绍</vt:lpstr>
      <vt:lpstr>1.1 人工神经网络介绍</vt:lpstr>
      <vt:lpstr>1.1 人工神经网络介绍</vt:lpstr>
      <vt:lpstr>1.1 人工神经网络介绍</vt:lpstr>
      <vt:lpstr>2.1 购房预测分类任务</vt:lpstr>
      <vt:lpstr>2.1 购房预测分类任务</vt:lpstr>
      <vt:lpstr>3. 作业提交说明</vt:lpstr>
    </vt:vector>
  </TitlesOfParts>
  <Company>玄研究室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4-机器学习基础</dc:title>
  <dc:creator>宇聪 张</dc:creator>
  <cp:lastModifiedBy>罗怡</cp:lastModifiedBy>
  <cp:revision>1148</cp:revision>
  <cp:lastPrinted>1999-07-29T07:50:00Z</cp:lastPrinted>
  <dcterms:created xsi:type="dcterms:W3CDTF">1999-04-15T12:11:00Z</dcterms:created>
  <dcterms:modified xsi:type="dcterms:W3CDTF">2026-05-27T03:16:55Z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4526719433354D77B2CAB4E5B83BD783_13</vt:lpwstr>
  </property>
</Properties>
</file>