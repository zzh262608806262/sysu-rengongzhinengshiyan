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639" r:id="rId2"/>
    <p:sldId id="605" r:id="rId3"/>
    <p:sldId id="609" r:id="rId4"/>
    <p:sldId id="616" r:id="rId5"/>
    <p:sldId id="617" r:id="rId6"/>
    <p:sldId id="619" r:id="rId7"/>
    <p:sldId id="618" r:id="rId8"/>
    <p:sldId id="620" r:id="rId9"/>
    <p:sldId id="614" r:id="rId10"/>
    <p:sldId id="622" r:id="rId11"/>
    <p:sldId id="621" r:id="rId12"/>
    <p:sldId id="627" r:id="rId13"/>
    <p:sldId id="628" r:id="rId14"/>
    <p:sldId id="629" r:id="rId15"/>
    <p:sldId id="630" r:id="rId16"/>
    <p:sldId id="606" r:id="rId17"/>
    <p:sldId id="632" r:id="rId18"/>
    <p:sldId id="633" r:id="rId19"/>
    <p:sldId id="641" r:id="rId20"/>
    <p:sldId id="640" r:id="rId21"/>
    <p:sldId id="625" r:id="rId22"/>
    <p:sldId id="624" r:id="rId23"/>
    <p:sldId id="642" r:id="rId24"/>
    <p:sldId id="607" r:id="rId25"/>
  </p:sldIdLst>
  <p:sldSz cx="9144000" cy="6858000" type="screen4x3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B8DCF4"/>
    <a:srgbClr val="409FE0"/>
    <a:srgbClr val="FFFFCC"/>
    <a:srgbClr val="99FF99"/>
    <a:srgbClr val="E8ECF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 autoAdjust="0"/>
    <p:restoredTop sz="95745" autoAdjust="0"/>
  </p:normalViewPr>
  <p:slideViewPr>
    <p:cSldViewPr snapToGrid="0">
      <p:cViewPr varScale="1">
        <p:scale>
          <a:sx n="128" d="100"/>
          <a:sy n="128" d="100"/>
        </p:scale>
        <p:origin x="88" y="40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740" y="-114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5A6FB858-78FB-EB08-3789-78A8670878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CAEF9A0C-77B2-8E67-E6B2-C852BC90DF5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4CC5B328-512E-C4C6-35C5-DE94A3A46D7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45FAFD14-46CB-93DB-CF17-D92A392BACB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6034C6EE-4A99-467C-9965-50EEE77005D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E3F1EE7-509D-3AE9-23FE-2B503B4FB6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E26F4BD-2FD8-5192-7A85-9F2AE64454F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2B01986-1D99-2E95-8678-498D9DA2688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13EAA4D7-F9C3-44E8-4755-68194F947E3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5BFC3DD6-AAD2-A281-6938-C0830A8BDA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B20E3499-CC0A-6250-4074-15AA16CA8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D0C4B0F1-E941-4AD4-8EB5-04747E84388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66AB9C92-E2B6-481A-AF5C-06C48BEF2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1700" y="739775"/>
            <a:ext cx="4933950" cy="3700463"/>
          </a:xfrm>
          <a:ln/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D3D18D4C-1468-4FF4-ADC3-9E6943E09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z="1800" dirty="0"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C37FF0F-F6BD-40EB-9751-6A34D4753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D4974D3-3103-4956-8804-74887D3BB162}" type="slidenum">
              <a:rPr lang="zh-CN" altLang="en-US" sz="1200" b="0" smtClean="0"/>
              <a:pPr/>
              <a:t>1</a:t>
            </a:fld>
            <a:endParaRPr lang="zh-CN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C7134C14-3C6D-EADB-094C-1EF17F374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876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A5002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 algn="ctr">
              <a:defRPr sz="4000">
                <a:solidFill>
                  <a:srgbClr val="A50021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800">
                <a:solidFill>
                  <a:schemeClr val="folHlink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6475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4046965-E17E-0CE5-0A98-F19E55374A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D28D9-E152-4420-A86D-30DF28F96CC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6180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4B933B0-F09E-7081-194C-DCBB5DFEF41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AF141-A5EC-4CFB-A958-86E1E10B0F1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8830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A28A5F-45F7-AF7A-52F5-23ED3D16FF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1B3B4-78F3-45F0-BD7A-5A4B0B67E41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567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FB32D68-B95E-F5EA-6BCD-0627A01180F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400B0-00DE-40A7-8918-3E30DB48DF7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1862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CDC57111-F1AB-FE24-ED69-F10F8F24F86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B16E1-3542-4D7A-B514-ED013101ED3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6821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9E33386-92A9-415E-F0B6-D637B285E8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0E1B8-4BBF-432F-A56B-E500C359658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327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20B2FC2-A9EF-2898-3FEB-F650B67D77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6F008-80B0-4065-8639-FA522E78ABD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3071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70EE6B-1D35-8F86-D7F2-334C6FF91B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A297B-0CBD-41CE-A2CE-5D734000E69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1722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250825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250825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786A5-D287-86BB-393F-289018C0082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1836E-F560-4B02-9B15-A1904EAC68F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650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50825" y="908050"/>
            <a:ext cx="8642350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2C6A760-ACB1-7415-81AC-9109D63E12D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BCFAB-D188-4040-96D5-887F570D26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7149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9E35E2-C99F-2F3F-1AB0-941138098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240DC6-295B-4A56-13F0-317F24695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72038" name="Rectangle 6">
            <a:extLst>
              <a:ext uri="{FF2B5EF4-FFF2-40B4-BE49-F238E27FC236}">
                <a16:creationId xmlns:a16="http://schemas.microsoft.com/office/drawing/2014/main" id="{21187D86-7313-7FCA-AD1E-61BAD6D6B5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83413" y="6413500"/>
            <a:ext cx="198120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solidFill>
                  <a:srgbClr val="A50021"/>
                </a:solidFill>
              </a:defRPr>
            </a:lvl1pPr>
          </a:lstStyle>
          <a:p>
            <a:pPr>
              <a:defRPr/>
            </a:pPr>
            <a:fld id="{98481C38-1BE0-4570-8049-390C7BA11E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indent="176213" algn="l" rtl="0" eaLnBrk="0" fontAlgn="base" hangingPunct="0">
        <a:spcBef>
          <a:spcPct val="0"/>
        </a:spcBef>
        <a:spcAft>
          <a:spcPct val="0"/>
        </a:spcAft>
        <a:defRPr kumimoji="1" sz="3800" b="1" kern="1200">
          <a:solidFill>
            <a:schemeClr val="bg1"/>
          </a:solidFill>
          <a:latin typeface="+mj-lt"/>
          <a:ea typeface="+mj-ea"/>
          <a:cs typeface="+mj-cs"/>
        </a:defRPr>
      </a:lvl1pPr>
      <a:lvl2pPr indent="176213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indent="176213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indent="176213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indent="176213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indent="176213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914400" indent="176213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371600" indent="176213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828800" indent="176213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rgbClr val="009900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rgbClr val="0099CC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rgbClr val="99CC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zhangyc8@mail2.sysu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9DC0CCD9-2590-401F-9A13-1FDA030F42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/>
              <a:t>Artificial Intelligence</a:t>
            </a:r>
            <a:br>
              <a:rPr lang="en-US" altLang="zh-CN" dirty="0"/>
            </a:br>
            <a:r>
              <a:rPr lang="zh-CN" altLang="en-US" dirty="0"/>
              <a:t>人工智能实验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0977FD-301E-482B-A585-2CBCC359B86A}"/>
              </a:ext>
            </a:extLst>
          </p:cNvPr>
          <p:cNvSpPr txBox="1"/>
          <p:nvPr/>
        </p:nvSpPr>
        <p:spPr>
          <a:xfrm>
            <a:off x="3087460" y="5049522"/>
            <a:ext cx="2969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中山大学计算机学院</a:t>
            </a:r>
            <a:endParaRPr lang="en-US" altLang="zh-CN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altLang="zh-CN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2025</a:t>
            </a:r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年春季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CF979FE-39E6-D24E-6377-07E2D6781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3624223"/>
            <a:ext cx="7772400" cy="7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indent="176213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indent="17621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indent="17621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indent="17621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indent="176213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indent="176213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indent="176213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indent="176213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indent="176213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归结原理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A0EB9630-7E21-B432-87E8-711FBEDB0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C8A23-B428-5489-FF97-4F6FA7EC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908050"/>
            <a:ext cx="8620125" cy="540067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ja-JP" sz="2000" dirty="0">
                <a:cs typeface="Times New Roman" panose="02020603050405020304" pitchFamily="18" charset="0"/>
              </a:rPr>
              <a:t>         1.1 </a:t>
            </a:r>
            <a:r>
              <a:rPr lang="zh-CN" altLang="en-US" sz="2000" dirty="0">
                <a:cs typeface="Times New Roman" panose="02020603050405020304" pitchFamily="18" charset="0"/>
              </a:rPr>
              <a:t>基本概念</a:t>
            </a:r>
            <a:r>
              <a:rPr lang="en-US" altLang="ja-JP" sz="2000" dirty="0">
                <a:cs typeface="Times New Roman" panose="02020603050405020304" pitchFamily="18" charset="0"/>
              </a:rPr>
              <a:t>        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ja-JP" sz="2000" dirty="0">
                <a:cs typeface="Times New Roman" panose="02020603050405020304" pitchFamily="18" charset="0"/>
              </a:rPr>
              <a:t>         1.2 </a:t>
            </a:r>
            <a:r>
              <a:rPr lang="zh-CN" altLang="en-US" sz="2000" dirty="0">
                <a:cs typeface="Times New Roman" panose="02020603050405020304" pitchFamily="18" charset="0"/>
              </a:rPr>
              <a:t>命题逻辑归结算法</a:t>
            </a:r>
            <a:endParaRPr lang="en-US" altLang="ja-JP" sz="2000" dirty="0">
              <a:cs typeface="Times New Roman" panose="0202060305040502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ja-JP" sz="2000" dirty="0">
                <a:cs typeface="Times New Roman" panose="02020603050405020304" pitchFamily="18" charset="0"/>
              </a:rPr>
              <a:t>         1.3 </a:t>
            </a:r>
            <a:r>
              <a:rPr lang="en-US" altLang="zh-CN" sz="2000" dirty="0"/>
              <a:t>MGU</a:t>
            </a:r>
            <a:r>
              <a:rPr lang="zh-CN" altLang="en-US" sz="2000" dirty="0"/>
              <a:t>（最一般合一）算法</a:t>
            </a:r>
            <a:endParaRPr lang="en-US" altLang="zh-CN" sz="2000" dirty="0"/>
          </a:p>
          <a:p>
            <a:pPr marL="495300" indent="-49530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    1.4 </a:t>
            </a:r>
            <a:r>
              <a:rPr lang="zh-CN" altLang="en-US" sz="2000" dirty="0"/>
              <a:t>一阶逻辑的归结算法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         2.1 </a:t>
            </a:r>
            <a:r>
              <a:rPr lang="zh-CN" altLang="en-US" sz="2000" dirty="0">
                <a:solidFill>
                  <a:srgbClr val="000000"/>
                </a:solidFill>
              </a:rPr>
              <a:t>要求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	  2.2 </a:t>
            </a:r>
            <a:r>
              <a:rPr lang="zh-CN" altLang="en-US" sz="2000" dirty="0">
                <a:solidFill>
                  <a:srgbClr val="000000"/>
                </a:solidFill>
              </a:rPr>
              <a:t>实验一（第三周作业）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	  2.3 </a:t>
            </a:r>
            <a:r>
              <a:rPr lang="zh-CN" altLang="en-US" sz="2000" dirty="0">
                <a:solidFill>
                  <a:srgbClr val="000000"/>
                </a:solidFill>
              </a:rPr>
              <a:t>实验二（第四周作业）</a:t>
            </a:r>
            <a:endParaRPr lang="en-US" altLang="zh-CN" b="1" dirty="0">
              <a:latin typeface="+mn-ea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32756FB9-ACD8-7280-663A-DBF44F8171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20204" pitchFamily="34" charset="0"/>
              </a:rPr>
              <a:pPr/>
              <a:t>2</a:t>
            </a:fld>
            <a:endParaRPr kumimoji="0" lang="en-US" altLang="ja-JP" sz="1400" b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6D7BF2A4-67DD-3B6E-CBFB-FE261391B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</a:t>
            </a:r>
            <a:r>
              <a:rPr lang="zh-CN" altLang="en-US"/>
              <a:t> 基本概念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4C6499-82AE-4CF9-2D4D-10EC216455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174038" cy="5400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以</a:t>
            </a:r>
            <a:r>
              <a:rPr lang="en-US" altLang="zh-CN" dirty="0"/>
              <a:t>Alpine Club</a:t>
            </a:r>
            <a:r>
              <a:rPr lang="zh-CN" altLang="en-US" dirty="0"/>
              <a:t>问题为例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buClr>
                <a:srgbClr val="CC0000"/>
              </a:buClr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Tony, Mike, and John belong to the Alpine Club.</a:t>
            </a:r>
          </a:p>
          <a:p>
            <a:pPr lvl="1" eaLnBrk="1" hangingPunct="1">
              <a:lnSpc>
                <a:spcPct val="150000"/>
              </a:lnSpc>
              <a:buClr>
                <a:srgbClr val="CC0000"/>
              </a:buClr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Every member of the Alpine Club who is not a skier is a mountain climber.</a:t>
            </a:r>
          </a:p>
          <a:p>
            <a:pPr lvl="1" eaLnBrk="1" hangingPunct="1">
              <a:lnSpc>
                <a:spcPct val="150000"/>
              </a:lnSpc>
              <a:buClr>
                <a:srgbClr val="CC0000"/>
              </a:buClr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Mountain climbers do not like rain, and anyone who does not like snow is not a skier.</a:t>
            </a:r>
          </a:p>
          <a:p>
            <a:pPr lvl="1" eaLnBrk="1" hangingPunct="1">
              <a:lnSpc>
                <a:spcPct val="150000"/>
              </a:lnSpc>
              <a:buClr>
                <a:srgbClr val="CC0000"/>
              </a:buClr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Mike dislikes whatever Tony likes, and likes whatever Tony dislikes.</a:t>
            </a:r>
          </a:p>
          <a:p>
            <a:pPr lvl="1" eaLnBrk="1" hangingPunct="1">
              <a:lnSpc>
                <a:spcPct val="150000"/>
              </a:lnSpc>
              <a:buClr>
                <a:srgbClr val="CC0000"/>
              </a:buClr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Tony likes rain and snow.</a:t>
            </a:r>
          </a:p>
          <a:p>
            <a:pPr lvl="1" eaLnBrk="1" hangingPunct="1">
              <a:lnSpc>
                <a:spcPct val="150000"/>
              </a:lnSpc>
              <a:buClr>
                <a:srgbClr val="CC0000"/>
              </a:buClr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Is there a member of the Alpine Club who is a mountain climber but not a skier?</a:t>
            </a:r>
            <a:endParaRPr lang="zh-CN" alt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DE0FD121-7915-DB12-54BA-C67318973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ACCE8C36-D7AC-2DE0-EECD-2C0B2603B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</a:t>
            </a:r>
            <a:r>
              <a:rPr lang="zh-CN" altLang="en-US"/>
              <a:t> 基本概念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08D4C3B3-AD68-CEE7-D18A-F70E784F6F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86813" cy="5400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Alpine Club</a:t>
            </a:r>
            <a:r>
              <a:rPr lang="zh-CN" altLang="en-US" dirty="0"/>
              <a:t>问题形式化为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已知条件（知识库）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Facts 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A(tony)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A(mike)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A(john)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L(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tony,rain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L(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tony,snow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提问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∃x(A(x) ∧C(x) ∧¬S(x))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是否成立</a:t>
            </a: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3C7948A-C111-BF1A-DF7B-5F90C9D1E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ADA4A3A-E593-4ED0-9AC7-7454AAA84094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4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9221" name="内容占位符 2">
            <a:extLst>
              <a:ext uri="{FF2B5EF4-FFF2-40B4-BE49-F238E27FC236}">
                <a16:creationId xmlns:a16="http://schemas.microsoft.com/office/drawing/2014/main" id="{C8831F35-7930-5343-0B23-1B0248CC3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2270125"/>
            <a:ext cx="5083175" cy="253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rgbClr val="0099CC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rgbClr val="99CC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rgbClr val="99CC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rgbClr val="99CC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rgbClr val="99CC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rgbClr val="99CC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2" eaLnBrk="1" hangingPunct="1">
              <a:lnSpc>
                <a:spcPct val="150000"/>
              </a:lnSpc>
              <a:buClr>
                <a:srgbClr val="C00000"/>
              </a:buClr>
            </a:pPr>
            <a:r>
              <a:rPr lang="en-US" altLang="zh-CN" sz="2000" b="0" dirty="0">
                <a:solidFill>
                  <a:schemeClr val="tx1"/>
                </a:solidFill>
                <a:cs typeface="Times New Roman" panose="02020603050405020304" pitchFamily="18" charset="0"/>
              </a:rPr>
              <a:t>Rules 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∀x(A(x) ∧¬S(x)) →C(x)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∀x(C(x) →¬L(</a:t>
            </a:r>
            <a:r>
              <a:rPr lang="en-US" altLang="zh-CN" sz="1800" b="0" dirty="0" err="1">
                <a:solidFill>
                  <a:schemeClr val="tx1"/>
                </a:solidFill>
                <a:cs typeface="Times New Roman" panose="02020603050405020304" pitchFamily="18" charset="0"/>
              </a:rPr>
              <a:t>x,rain</a:t>
            </a: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))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∀x(¬L(</a:t>
            </a:r>
            <a:r>
              <a:rPr lang="en-US" altLang="zh-CN" sz="1800" b="0" dirty="0" err="1">
                <a:solidFill>
                  <a:schemeClr val="tx1"/>
                </a:solidFill>
                <a:cs typeface="Times New Roman" panose="02020603050405020304" pitchFamily="18" charset="0"/>
              </a:rPr>
              <a:t>x,snow</a:t>
            </a: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) →¬S(x))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∀x(L(</a:t>
            </a:r>
            <a:r>
              <a:rPr lang="en-US" altLang="zh-CN" sz="1800" b="0" dirty="0" err="1">
                <a:solidFill>
                  <a:schemeClr val="tx1"/>
                </a:solidFill>
                <a:cs typeface="Times New Roman" panose="02020603050405020304" pitchFamily="18" charset="0"/>
              </a:rPr>
              <a:t>tony,x</a:t>
            </a: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) →¬L(</a:t>
            </a:r>
            <a:r>
              <a:rPr lang="en-US" altLang="zh-CN" sz="1800" b="0" dirty="0" err="1">
                <a:solidFill>
                  <a:schemeClr val="tx1"/>
                </a:solidFill>
                <a:cs typeface="Times New Roman" panose="02020603050405020304" pitchFamily="18" charset="0"/>
              </a:rPr>
              <a:t>mike,x</a:t>
            </a: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))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∀x(¬L(</a:t>
            </a:r>
            <a:r>
              <a:rPr lang="en-US" altLang="zh-CN" sz="1800" b="0" dirty="0" err="1">
                <a:solidFill>
                  <a:schemeClr val="tx1"/>
                </a:solidFill>
                <a:cs typeface="Times New Roman" panose="02020603050405020304" pitchFamily="18" charset="0"/>
              </a:rPr>
              <a:t>tony,x</a:t>
            </a: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) →L(</a:t>
            </a:r>
            <a:r>
              <a:rPr lang="en-US" altLang="zh-CN" sz="1800" b="0" dirty="0" err="1">
                <a:solidFill>
                  <a:schemeClr val="tx1"/>
                </a:solidFill>
                <a:cs typeface="Times New Roman" panose="02020603050405020304" pitchFamily="18" charset="0"/>
              </a:rPr>
              <a:t>mike,x</a:t>
            </a:r>
            <a:r>
              <a:rPr lang="en-US" altLang="zh-CN" sz="1800" b="0" dirty="0">
                <a:solidFill>
                  <a:schemeClr val="tx1"/>
                </a:solidFill>
                <a:cs typeface="Times New Roman" panose="02020603050405020304" pitchFamily="18" charset="0"/>
              </a:rPr>
              <a:t>))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3713BFCE-A714-D629-C0A4-84A8BB669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</a:t>
            </a:r>
            <a:r>
              <a:rPr lang="zh-CN" altLang="en-US"/>
              <a:t> 基本概念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3A3B5E72-8D8D-5AD6-38CF-1E9452B6BF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86813" cy="54006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相关概念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常量（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constant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）：任何类型的实体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俱乐部成员：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tony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mike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john</a:t>
            </a:r>
          </a:p>
          <a:p>
            <a:pPr lvl="2" eaLnBrk="1" hangingPunct="1">
              <a:lnSpc>
                <a:spcPct val="150000"/>
              </a:lnSpc>
              <a:defRPr/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天气类型：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rain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snow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变量（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variable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）：如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这类未知量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项（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term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）：可以理解为谓词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变量的参数项，由递归定义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变量是项（可以看成是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元函数）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t1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t2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t3……</a:t>
            </a:r>
            <a:r>
              <a:rPr lang="en-US" altLang="zh-CN" sz="2100" dirty="0" err="1">
                <a:solidFill>
                  <a:schemeClr val="tx1"/>
                </a:solidFill>
                <a:cs typeface="Times New Roman" panose="02020603050405020304" pitchFamily="18" charset="0"/>
              </a:rPr>
              <a:t>tn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是项，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f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元函数，则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f(t1,t2,,,,tn)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也是项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487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645C9797-36B5-9A67-1BDE-64F569111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2A4BCBA-29F0-454B-83B0-79C02FF0339A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5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0245" name="文本框 1">
            <a:extLst>
              <a:ext uri="{FF2B5EF4-FFF2-40B4-BE49-F238E27FC236}">
                <a16:creationId xmlns:a16="http://schemas.microsoft.com/office/drawing/2014/main" id="{49027BAA-1EEC-AAB5-3DDE-E4508EDC2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6075363"/>
            <a:ext cx="8037512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100" b="0">
                <a:solidFill>
                  <a:srgbClr val="00B050"/>
                </a:solidFill>
              </a:rPr>
              <a:t>Tips: </a:t>
            </a:r>
            <a:r>
              <a:rPr lang="zh-CN" altLang="en-US" sz="2100" b="0">
                <a:solidFill>
                  <a:srgbClr val="00B050"/>
                </a:solidFill>
              </a:rPr>
              <a:t>一阶逻辑中谓词不是项，即不能作为函数</a:t>
            </a:r>
            <a:r>
              <a:rPr lang="en-US" altLang="zh-CN" sz="2100" b="0">
                <a:solidFill>
                  <a:srgbClr val="00B050"/>
                </a:solidFill>
              </a:rPr>
              <a:t>/</a:t>
            </a:r>
            <a:r>
              <a:rPr lang="zh-CN" altLang="en-US" sz="2100" b="0">
                <a:solidFill>
                  <a:srgbClr val="00B050"/>
                </a:solidFill>
              </a:rPr>
              <a:t>谓词的参数，也就是不存在</a:t>
            </a:r>
            <a:r>
              <a:rPr lang="en-US" altLang="zh-CN" sz="2100" b="0">
                <a:solidFill>
                  <a:srgbClr val="00B050"/>
                </a:solidFill>
              </a:rPr>
              <a:t>f(P(x))</a:t>
            </a:r>
            <a:r>
              <a:rPr lang="zh-CN" altLang="en-US" sz="2100" b="0">
                <a:solidFill>
                  <a:srgbClr val="00B050"/>
                </a:solidFill>
              </a:rPr>
              <a:t>这种复合方式，但是二阶逻辑中是可以的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0D90BE3D-6B18-ECD6-1ECE-F777820A3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</a:t>
            </a:r>
            <a:r>
              <a:rPr lang="zh-CN" altLang="en-US"/>
              <a:t> 基本概念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0C01C0B7-5900-3145-7019-3F28EC4833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86813" cy="5400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相关概念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谓词（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predicate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）：谓词是对其参数（也叫做项，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term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）的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零元谓词：退化为命题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单元谓词（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unary predicate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）：只有一个参数，表示参数具备某种属性，如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A(x)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表示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属于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Alpine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俱乐部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多元谓词：有多个参数，表示参数之间的关系，如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L(</a:t>
            </a:r>
            <a:r>
              <a:rPr lang="en-US" altLang="zh-CN" sz="2100" dirty="0" err="1">
                <a:solidFill>
                  <a:schemeClr val="tx1"/>
                </a:solidFill>
                <a:cs typeface="Times New Roman" panose="02020603050405020304" pitchFamily="18" charset="0"/>
              </a:rPr>
              <a:t>x,y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表示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具有喜欢关系，即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喜欢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endParaRPr lang="zh-CN" altLang="en-US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2DAA9E32-8F40-17D0-3DBE-56A5476D3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10E5C33-22B1-40A6-ABF2-7CDF58BA8BD9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6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3EC54290-B092-028A-05A0-501A18392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</a:t>
            </a:r>
            <a:r>
              <a:rPr lang="zh-CN" altLang="en-US"/>
              <a:t> 基本概念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81FE22EB-3F71-76FC-D499-BF72C8B25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86813" cy="58658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相关概念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事实（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fact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）：谓词中变量实例化后得到事实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S(tony)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tony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skier</a:t>
            </a:r>
          </a:p>
          <a:p>
            <a:pPr lvl="2" eaLnBrk="1" hangingPunct="1">
              <a:lnSpc>
                <a:spcPct val="150000"/>
              </a:lnSpc>
              <a:defRPr/>
            </a:pP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L(tony, rain)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tony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喜欢下雨天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规则（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rule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）：也叫做公式，通过递归定义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t1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t2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t3……</a:t>
            </a:r>
            <a:r>
              <a:rPr lang="en-US" altLang="zh-CN" sz="2100" dirty="0" err="1">
                <a:solidFill>
                  <a:schemeClr val="tx1"/>
                </a:solidFill>
                <a:cs typeface="Times New Roman" panose="02020603050405020304" pitchFamily="18" charset="0"/>
              </a:rPr>
              <a:t>tn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是项，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元谓词，则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P(t1,t2,,,,tn)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是原子公式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t1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t2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是项，那么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t1=t2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是原子公式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是公式，那么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¬α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α˄β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α˅β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，∃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，∀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都是公式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909637" lvl="2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785BEFB3-B4B5-E21C-8E24-0ABE0FA9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C74AE36-0682-4DF3-938C-289CF0E6C47C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7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2293" name="文本框 5">
            <a:extLst>
              <a:ext uri="{FF2B5EF4-FFF2-40B4-BE49-F238E27FC236}">
                <a16:creationId xmlns:a16="http://schemas.microsoft.com/office/drawing/2014/main" id="{386F62BA-00D6-CE87-7C01-32929146B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6075363"/>
            <a:ext cx="8037512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100" b="0">
                <a:solidFill>
                  <a:srgbClr val="00B050"/>
                </a:solidFill>
              </a:rPr>
              <a:t>Tips:</a:t>
            </a:r>
            <a:r>
              <a:rPr lang="zh-CN" altLang="en-US" sz="2100" b="0">
                <a:solidFill>
                  <a:srgbClr val="00B050"/>
                </a:solidFill>
              </a:rPr>
              <a:t>由于</a:t>
            </a:r>
            <a:r>
              <a:rPr lang="en-US" altLang="zh-CN" sz="2100" b="0">
                <a:solidFill>
                  <a:srgbClr val="00B050"/>
                </a:solidFill>
              </a:rPr>
              <a:t> (</a:t>
            </a:r>
            <a:r>
              <a:rPr lang="el-GR" altLang="zh-CN" sz="2100" b="0">
                <a:solidFill>
                  <a:srgbClr val="00B050"/>
                </a:solidFill>
              </a:rPr>
              <a:t>α →β) </a:t>
            </a:r>
            <a:r>
              <a:rPr lang="zh-CN" altLang="en-US" sz="2100" b="0">
                <a:solidFill>
                  <a:srgbClr val="00B050"/>
                </a:solidFill>
              </a:rPr>
              <a:t>等价于</a:t>
            </a:r>
            <a:r>
              <a:rPr lang="en-US" altLang="zh-CN" sz="2100" b="0">
                <a:solidFill>
                  <a:srgbClr val="00B050"/>
                </a:solidFill>
              </a:rPr>
              <a:t> (¬</a:t>
            </a:r>
            <a:r>
              <a:rPr lang="el-GR" altLang="zh-CN" sz="2100" b="0">
                <a:solidFill>
                  <a:srgbClr val="00B050"/>
                </a:solidFill>
              </a:rPr>
              <a:t>α ∨β)</a:t>
            </a:r>
            <a:r>
              <a:rPr lang="zh-CN" altLang="en-US" sz="2100" b="0">
                <a:solidFill>
                  <a:srgbClr val="00B050"/>
                </a:solidFill>
              </a:rPr>
              <a:t>，</a:t>
            </a:r>
            <a:r>
              <a:rPr lang="en-US" altLang="zh-CN" sz="2100" b="0">
                <a:solidFill>
                  <a:srgbClr val="00B050"/>
                </a:solidFill>
              </a:rPr>
              <a:t> (</a:t>
            </a:r>
            <a:r>
              <a:rPr lang="el-GR" altLang="zh-CN" sz="2100" b="0">
                <a:solidFill>
                  <a:srgbClr val="00B050"/>
                </a:solidFill>
              </a:rPr>
              <a:t>α↔β) </a:t>
            </a:r>
            <a:r>
              <a:rPr lang="zh-CN" altLang="en-US" sz="2100" b="0">
                <a:solidFill>
                  <a:srgbClr val="00B050"/>
                </a:solidFill>
              </a:rPr>
              <a:t>等价于</a:t>
            </a:r>
            <a:r>
              <a:rPr lang="en-US" altLang="zh-CN" sz="2100" b="0">
                <a:solidFill>
                  <a:srgbClr val="00B050"/>
                </a:solidFill>
              </a:rPr>
              <a:t> (</a:t>
            </a:r>
            <a:r>
              <a:rPr lang="el-GR" altLang="zh-CN" sz="2100" b="0">
                <a:solidFill>
                  <a:srgbClr val="00B050"/>
                </a:solidFill>
              </a:rPr>
              <a:t>α →β) ∧(β →α</a:t>
            </a:r>
            <a:r>
              <a:rPr lang="en-US" altLang="zh-CN" sz="2100" b="0">
                <a:solidFill>
                  <a:srgbClr val="00B050"/>
                </a:solidFill>
              </a:rPr>
              <a:t>)</a:t>
            </a:r>
            <a:r>
              <a:rPr lang="zh-CN" altLang="en-US" sz="2100" b="0">
                <a:solidFill>
                  <a:srgbClr val="00B050"/>
                </a:solidFill>
              </a:rPr>
              <a:t>，所以在递归定义中我们没有加入</a:t>
            </a:r>
            <a:r>
              <a:rPr lang="el-GR" altLang="zh-CN" sz="2100" b="0">
                <a:solidFill>
                  <a:srgbClr val="00B050"/>
                </a:solidFill>
              </a:rPr>
              <a:t>→</a:t>
            </a:r>
            <a:r>
              <a:rPr lang="zh-CN" altLang="en-US" sz="2100" b="0">
                <a:solidFill>
                  <a:srgbClr val="00B050"/>
                </a:solidFill>
              </a:rPr>
              <a:t>和</a:t>
            </a:r>
            <a:r>
              <a:rPr lang="el-GR" altLang="zh-CN" sz="2100" b="0">
                <a:solidFill>
                  <a:srgbClr val="00B050"/>
                </a:solidFill>
              </a:rPr>
              <a:t>↔</a:t>
            </a:r>
            <a:r>
              <a:rPr lang="zh-CN" altLang="en-US" sz="2100" b="0">
                <a:solidFill>
                  <a:srgbClr val="00B050"/>
                </a:solidFill>
              </a:rPr>
              <a:t>，它们可以被已有符号替代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AF959170-1A42-89D8-8CE9-7CD51EC6F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</a:t>
            </a:r>
            <a:r>
              <a:rPr lang="zh-CN" altLang="en-US"/>
              <a:t> 基本概念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78F0C0A5-2AF6-AF83-B987-ABC9029A0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86813" cy="5624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相关概念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可满足性：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以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Alpine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俱乐部为例，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∃x(A(x) ∧C(x) ∧¬S(x))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是否成立就是在问，是否存在一组实例化（一组赋值），使得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A(x) ∧C(x) ∧¬S(x)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成立，这就是一个可满足性问题。对于该可满足性问题，只要能够找到一组赋值（在这里对应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{x}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的赋值），使得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A(x) ∧C(x) ∧¬S(x)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成立，那么“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A(x) ∧C(x) ∧¬S(x)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”是可满足的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逻辑蕴含和逻辑推论：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逻辑蕴含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 |= </a:t>
            </a:r>
            <a:r>
              <a:rPr lang="el-GR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指对于任意变量赋值，如果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正确，则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也正确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逻辑推论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 |- </a:t>
            </a:r>
            <a:r>
              <a:rPr lang="el-GR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指存在一条推理路径，从</a:t>
            </a:r>
            <a:r>
              <a:rPr lang="en-US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100" dirty="0">
                <a:solidFill>
                  <a:schemeClr val="tx1"/>
                </a:solidFill>
                <a:cs typeface="Times New Roman" panose="02020603050405020304" pitchFamily="18" charset="0"/>
              </a:rPr>
              <a:t>出发，推导证明</a:t>
            </a:r>
            <a:r>
              <a:rPr lang="el-GR" altLang="zh-CN" sz="21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endParaRPr lang="en-US" altLang="zh-CN" sz="2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DE0EE989-8B7A-AC75-837C-245C73BEC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1F4B987-A0EF-44E2-8A96-11F462300949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8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F2A01F4B-35C1-D493-25A3-168795D88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命题逻辑归结算法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0A0282BC-DBD6-39B2-91E4-2B3D14359A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13788" cy="577555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归结算法：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将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取否定，加入到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KB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当中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将更新的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KB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转换为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clausal form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得到新的子句集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反复调用单步归结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如果得到空子句，即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S|-()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，说明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KB ∧¬</a:t>
            </a:r>
            <a:r>
              <a:rPr lang="el-GR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α 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不可满足，算法终止，可得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KB |= </a:t>
            </a:r>
            <a:r>
              <a:rPr lang="el-GR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  <a:defRPr/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如果一直归结直到不产生新的子句，在这个过程中没有得到空子句，则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KB |= </a:t>
            </a:r>
            <a:r>
              <a:rPr lang="el-GR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不成立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769DAC9B-6C7F-C8C5-1E46-33909897D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93BC1EC-44D9-4F8E-9A8F-D2C21C541D6A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9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2D058588-5F8E-A434-7DF2-1E70C7930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命题逻辑归结算法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8ED73FF2-0DBA-B670-E11E-8C905A6E84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13788" cy="586581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归结算法：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Clausal  form (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便于计算机处理的形式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每一个子句对应一个元组，元组每一个元素是一个原子公式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原子公式的否定，元素之间的关系是析取关系，表示只要一个原子成立，该子句成立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如子句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¬child</a:t>
            </a:r>
            <a:r>
              <a:rPr lang="zh-CN" alt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˅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¬male</a:t>
            </a:r>
            <a:r>
              <a:rPr lang="zh-CN" alt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˅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boy</a:t>
            </a:r>
            <a:r>
              <a:rPr lang="zh-CN" alt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对应数据结构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(¬child,¬</a:t>
            </a:r>
            <a:r>
              <a:rPr lang="en-US" altLang="zh-CN" sz="1400" dirty="0" err="1">
                <a:solidFill>
                  <a:schemeClr val="tx1"/>
                </a:solidFill>
                <a:cs typeface="Times New Roman" panose="02020603050405020304" pitchFamily="18" charset="0"/>
              </a:rPr>
              <a:t>male,boy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，空子句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()</a:t>
            </a:r>
            <a:r>
              <a:rPr lang="zh-CN" alt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对应</a:t>
            </a:r>
            <a:r>
              <a:rPr lang="en-US" altLang="zh-CN" sz="1400" dirty="0">
                <a:solidFill>
                  <a:schemeClr val="tx1"/>
                </a:solidFill>
                <a:cs typeface="Times New Roman" panose="02020603050405020304" pitchFamily="18" charset="0"/>
              </a:rPr>
              <a:t>False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元组的集合组成子句集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，子句集中每个句子之间是合取关系，表示每一个子句都应该被满足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由于本次实验重点是归结算法，所以问题输入是已经转换过的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clausal form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，关于具体转换方式感兴趣的同学可以参考课件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单步归结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从两个子句中分别寻找相同的原子及其对应的原子否定</a:t>
            </a:r>
            <a:endParaRPr lang="en-US" altLang="zh-CN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去掉该原子并将两个子句合为一个，加入到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子句集合中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例如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(¬child,¬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female,girl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(child)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合并为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(¬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female,girl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97DE5046-FDC1-60D8-AF16-719F54073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2D4C19A-AC99-446F-9244-E8C5C0F196F1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10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E6622B03-A723-AAAA-48B7-CD6E25241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命题逻辑归结算法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984973D6-CB65-9A82-08CF-9DE152F0F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13788" cy="54006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/>
              <a:t>例子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3FCB9566-80F3-5860-F2C8-5CE4DC690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343EFC3-7729-49E0-8ACB-07E2FBA80CB2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11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BD2A1D-8E40-8AB2-AE2B-12BC56A40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809750"/>
            <a:ext cx="7920038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1D525384-0D3E-4E1A-B566-FAC02C43D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Most general unifier</a:t>
            </a:r>
            <a:r>
              <a:rPr lang="zh-CN" altLang="en-US"/>
              <a:t>算法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ED983CC9-80BE-AC23-D177-BC2D6A47F4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596313" cy="54006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最一般合一算法：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合一（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unifier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）：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通过变量替换使得两个子句能够被归结（有相同的原子），所以合一也被定义为使得两个原子公式等价的一组变量替换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赋值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由于一阶逻辑中存在变量，所以归结之前需要进行合一，如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(P(john),Q(</a:t>
            </a:r>
            <a:r>
              <a:rPr lang="en-US" altLang="zh-CN" sz="1700" dirty="0" err="1">
                <a:solidFill>
                  <a:schemeClr val="tx1"/>
                </a:solidFill>
                <a:cs typeface="Times New Roman" panose="02020603050405020304" pitchFamily="18" charset="0"/>
              </a:rPr>
              <a:t>fred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),R(x))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(¬P(y),R(</a:t>
            </a:r>
            <a:r>
              <a:rPr lang="en-US" altLang="zh-CN" sz="1700" dirty="0" err="1">
                <a:solidFill>
                  <a:schemeClr val="tx1"/>
                </a:solidFill>
                <a:cs typeface="Times New Roman" panose="02020603050405020304" pitchFamily="18" charset="0"/>
              </a:rPr>
              <a:t>susan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),R(y))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两个子句中，我们无法找到一样的原子及其对应的否定，但是不代表它们不能够归结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通过将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替换为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john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，我们得到了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(P(john),Q(</a:t>
            </a:r>
            <a:r>
              <a:rPr lang="en-US" altLang="zh-CN" sz="1700" dirty="0" err="1">
                <a:solidFill>
                  <a:schemeClr val="tx1"/>
                </a:solidFill>
                <a:cs typeface="Times New Roman" panose="02020603050405020304" pitchFamily="18" charset="0"/>
              </a:rPr>
              <a:t>fred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),R(x))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(¬P(john),R(</a:t>
            </a:r>
            <a:r>
              <a:rPr lang="en-US" altLang="zh-CN" sz="1700" dirty="0" err="1">
                <a:solidFill>
                  <a:schemeClr val="tx1"/>
                </a:solidFill>
                <a:cs typeface="Times New Roman" panose="02020603050405020304" pitchFamily="18" charset="0"/>
              </a:rPr>
              <a:t>susan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),R(john))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，此时我们两个子句分别存在原子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P(john)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和它的否定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¬P(john)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，可以进行归结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最一般合一：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指使得两个原子公式等价，最简单的一组变量替换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02AE9BAC-4E53-4289-24A5-48423536C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D1DA551-28BB-4697-A688-591697CC5ACB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12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48FC6724-B67C-76A9-C413-F4C1EC212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Most general unifier</a:t>
            </a:r>
            <a:r>
              <a:rPr lang="zh-CN" altLang="en-US"/>
              <a:t>算法</a:t>
            </a: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599F424E-6731-69E4-9D2A-01C4B74BE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A2EFBE1-BFC7-46B4-BED4-71BA2B4155DA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8437" name="文本框 4">
            <a:extLst>
              <a:ext uri="{FF2B5EF4-FFF2-40B4-BE49-F238E27FC236}">
                <a16:creationId xmlns:a16="http://schemas.microsoft.com/office/drawing/2014/main" id="{FE2E48EB-133D-B6EF-040B-7106DFC16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3" y="6251575"/>
            <a:ext cx="8645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100" b="0" dirty="0">
                <a:solidFill>
                  <a:srgbClr val="00B050"/>
                </a:solidFill>
              </a:rPr>
              <a:t>Tips:</a:t>
            </a:r>
            <a:r>
              <a:rPr lang="zh-CN" altLang="en-US" sz="2100" b="0" dirty="0">
                <a:solidFill>
                  <a:srgbClr val="00B050"/>
                </a:solidFill>
              </a:rPr>
              <a:t>变量替换是从两个原子公式中找到的，但是最后要施加给整个子句的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1FF3637-D5AB-D954-E3ED-ADF657A265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250825" y="908050"/>
            <a:ext cx="8413903" cy="5400675"/>
          </a:xfrm>
          <a:blipFill>
            <a:blip r:embed="rId2"/>
            <a:stretch>
              <a:fillRect l="-942" r="-304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D91CE92C-B482-BF8F-1AC6-DB374773B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Most general unifier</a:t>
            </a:r>
            <a:r>
              <a:rPr lang="zh-CN" altLang="en-US"/>
              <a:t>算法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E711516B-8278-800E-AECA-0D7293FB6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596313" cy="54006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>
                <a:cs typeface="Times New Roman" panose="02020603050405020304" pitchFamily="18" charset="0"/>
              </a:rPr>
              <a:t>例子：</a:t>
            </a:r>
            <a:endParaRPr lang="en-US" altLang="zh-CN" sz="240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P(f(a),g(x)) </a:t>
            </a:r>
            <a:r>
              <a:rPr lang="zh-CN" altLang="en-US" sz="2000">
                <a:solidFill>
                  <a:schemeClr val="tx1"/>
                </a:solidFill>
                <a:cs typeface="Times New Roman" panose="02020603050405020304" pitchFamily="18" charset="0"/>
              </a:rPr>
              <a:t>和 </a:t>
            </a: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P(y,y)</a:t>
            </a:r>
            <a:r>
              <a:rPr lang="zh-CN" altLang="en-US" sz="2000">
                <a:solidFill>
                  <a:schemeClr val="tx1"/>
                </a:solidFill>
                <a:cs typeface="Times New Roman" panose="02020603050405020304" pitchFamily="18" charset="0"/>
              </a:rPr>
              <a:t>无法合一</a:t>
            </a:r>
            <a:endParaRPr lang="en-US" altLang="zh-CN" sz="200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P(a,x,h(g(z))) </a:t>
            </a:r>
            <a:r>
              <a:rPr lang="zh-CN" altLang="en-US" sz="200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 P(z,h(y),h(y))</a:t>
            </a:r>
            <a:r>
              <a:rPr lang="zh-CN" altLang="en-US" sz="2000">
                <a:solidFill>
                  <a:schemeClr val="tx1"/>
                </a:solidFill>
                <a:cs typeface="Times New Roman" panose="02020603050405020304" pitchFamily="18" charset="0"/>
              </a:rPr>
              <a:t>最一般合一为</a:t>
            </a: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{z=a,x=h(g(a)),y=g(a)}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P(x,x) </a:t>
            </a:r>
            <a:r>
              <a:rPr lang="zh-CN" altLang="en-US" sz="200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solidFill>
                  <a:schemeClr val="tx1"/>
                </a:solidFill>
                <a:cs typeface="Times New Roman" panose="02020603050405020304" pitchFamily="18" charset="0"/>
              </a:rPr>
              <a:t> P(y,f(y))</a:t>
            </a:r>
            <a:r>
              <a:rPr lang="zh-CN" altLang="en-US" sz="2000">
                <a:solidFill>
                  <a:schemeClr val="tx1"/>
                </a:solidFill>
                <a:cs typeface="Times New Roman" panose="02020603050405020304" pitchFamily="18" charset="0"/>
              </a:rPr>
              <a:t>无法合一</a:t>
            </a:r>
            <a:endParaRPr lang="en-US" altLang="zh-CN" sz="200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C7494AD2-7E0F-3DED-E62D-087FEAB55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76972D6-A71C-40AA-8CE2-C641D28D2A65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14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F10DAD4B-000F-CF34-D49C-22D7D678C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一阶逻辑归结算法</a:t>
            </a: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D0779E1D-8714-4276-918D-2D4DC845D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713788" cy="54006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归结算法：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将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取否定，加入到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KB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当中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将更新的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KB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转换为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clausal form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得到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反复调用单步归结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如果得到空子句，即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S|-()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，说明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KB ∧¬</a:t>
            </a:r>
            <a:r>
              <a:rPr lang="el-GR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α 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不可满足，算法终止，可得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KB |= </a:t>
            </a:r>
            <a:r>
              <a:rPr lang="el-GR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如果一直归结直到不产生新的子句，在这个过程中没有得到空子句，则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KB |= </a:t>
            </a:r>
            <a:r>
              <a:rPr lang="el-GR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不成立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单步归结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使用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MGU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算法从两个子句中得到相同的原子，及其对应的原子否定</a:t>
            </a:r>
            <a:endParaRPr lang="en-US" altLang="zh-CN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去掉该原子并将两个子句合为一个，加入到</a:t>
            </a:r>
            <a:r>
              <a:rPr lang="en-US" altLang="zh-CN" sz="1700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子句集合中</a:t>
            </a:r>
            <a:endParaRPr lang="en-US" altLang="zh-CN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700" dirty="0">
                <a:solidFill>
                  <a:schemeClr val="tx1"/>
                </a:solidFill>
                <a:cs typeface="Times New Roman" panose="02020603050405020304" pitchFamily="18" charset="0"/>
              </a:rPr>
              <a:t>例如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(¬Student(x),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HardWorker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(x))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HardWorker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(sue))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合并为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(¬Student(sue))</a:t>
            </a:r>
            <a:endParaRPr lang="zh-CN" altLang="en-US" sz="17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D76EA0C3-BC5E-FF4E-1A3C-01146FC21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80FC1F6-957C-4B27-A8FF-ADD0221B76B6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15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C9762180-D353-30C9-3FED-DF641896A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要求</a:t>
            </a:r>
          </a:p>
        </p:txBody>
      </p:sp>
      <p:sp>
        <p:nvSpPr>
          <p:cNvPr id="50179" name="内容占位符 2">
            <a:extLst>
              <a:ext uri="{FF2B5EF4-FFF2-40B4-BE49-F238E27FC236}">
                <a16:creationId xmlns:a16="http://schemas.microsoft.com/office/drawing/2014/main" id="{A4EB9CA9-EE32-BD01-D582-FA203779FD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11184"/>
            <a:ext cx="8642350" cy="1584325"/>
          </a:xfrm>
        </p:spPr>
        <p:txBody>
          <a:bodyPr/>
          <a:lstStyle/>
          <a:p>
            <a:pPr>
              <a:defRPr/>
            </a:pPr>
            <a:r>
              <a:rPr lang="zh-CN" altLang="zh-CN" dirty="0"/>
              <a:t>编写</a:t>
            </a:r>
            <a:r>
              <a:rPr lang="zh-CN" altLang="en-US" dirty="0"/>
              <a:t>程序，实现一阶逻辑归结算法，并用于求解给出的三个逻辑推理问题，要求输出按照如下格式：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8A182395-4178-5091-B1FA-F9F24948E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E6E2008-8B02-49FB-8973-D5ACA5A47F52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16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759EF4-8D62-33C2-0CF5-ACDAF2FF370F}"/>
              </a:ext>
            </a:extLst>
          </p:cNvPr>
          <p:cNvSpPr txBox="1"/>
          <p:nvPr/>
        </p:nvSpPr>
        <p:spPr>
          <a:xfrm>
            <a:off x="776288" y="2657802"/>
            <a:ext cx="7302500" cy="31700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1. (P(x),Q(g(x)))</a:t>
            </a: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2. (R(a),Q(z),¬P(a))</a:t>
            </a: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3. R[1a,2c]{X=a} (Q(g(a)),R(a),Q(z))</a:t>
            </a: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000" b="0" dirty="0"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000" b="0" dirty="0"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“R” 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表示归结步骤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“1a” 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表示第一个子句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(1-th)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中的第一个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 (a-</a:t>
            </a:r>
            <a:r>
              <a:rPr lang="en-US" altLang="zh-CN" sz="2000" b="0" dirty="0" err="1">
                <a:ea typeface="+mn-ea"/>
                <a:cs typeface="Times New Roman" panose="02020603050405020304" pitchFamily="18" charset="0"/>
              </a:rPr>
              <a:t>th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个原子公式，即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P(x).</a:t>
            </a: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“2c”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表示第二个子句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(1-th)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中的第三个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 (c-</a:t>
            </a:r>
            <a:r>
              <a:rPr lang="en-US" altLang="zh-CN" sz="2000" b="0" dirty="0" err="1">
                <a:ea typeface="+mn-ea"/>
                <a:cs typeface="Times New Roman" panose="02020603050405020304" pitchFamily="18" charset="0"/>
              </a:rPr>
              <a:t>th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个原子公式，即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¬P(a).</a:t>
            </a:r>
          </a:p>
          <a:p>
            <a:pPr>
              <a:defRPr/>
            </a:pP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“1a”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“2c”</a:t>
            </a:r>
            <a:r>
              <a:rPr lang="zh-CN" altLang="en-US" sz="2000" b="0" dirty="0">
                <a:ea typeface="+mn-ea"/>
                <a:cs typeface="Times New Roman" panose="02020603050405020304" pitchFamily="18" charset="0"/>
              </a:rPr>
              <a:t>是冲突的，所以应用最小合一</a:t>
            </a:r>
            <a:r>
              <a:rPr lang="en-US" altLang="zh-CN" sz="2000" b="0" dirty="0">
                <a:ea typeface="+mn-ea"/>
                <a:cs typeface="Times New Roman" panose="02020603050405020304" pitchFamily="18" charset="0"/>
              </a:rPr>
              <a:t>{X = a}.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24C71DC8-EEB2-E385-A115-C09F1DA7F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要求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81F99D29-F380-24C9-7CB7-229F291182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472488" cy="5400675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存储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公式</a:t>
            </a:r>
            <a:r>
              <a:rPr lang="zh-CN" altLang="en-US" dirty="0"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cs typeface="Times New Roman" panose="02020603050405020304" pitchFamily="18" charset="0"/>
              </a:rPr>
              <a:t>数据结构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用字符串存储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‘~’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代替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谓词的首字母大写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C, P1, P2, Student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等表示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谓词的每个参数之间用逗号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“,”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间隔且不加空格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常量用小写单词或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c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等小写字母表示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本次作业的公式中不含∃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∀量词符号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¬child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“~child” boy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存储为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“boy”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几个公式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“R(a)”, “~P(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a,zz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)”, “Student(tony)”.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这里应该将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a,tony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看做常量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zz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看做变量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81CAFAE6-FD0E-FCEB-2650-D718C57E36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36777C6-77C9-430C-87A0-5E2A6B00257B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17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158B4473-DC60-33A5-81F2-F1F0715B5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要求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3F7383ED-5E9F-9AFC-DC51-40AFD56A2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908050"/>
            <a:ext cx="8472488" cy="5400675"/>
          </a:xfrm>
        </p:spPr>
        <p:txBody>
          <a:bodyPr/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存储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子句</a:t>
            </a:r>
            <a:r>
              <a:rPr lang="zh-CN" altLang="en-US" sz="2400" dirty="0"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cs typeface="Times New Roman" panose="02020603050405020304" pitchFamily="18" charset="0"/>
              </a:rPr>
              <a:t>数据结构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用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tuple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的方式存储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例子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</a:p>
          <a:p>
            <a:pPr lvl="2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¬child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˅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¬male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˅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boy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存储为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(‘~child’, ‘~male’, ‘boy’)</a:t>
            </a:r>
          </a:p>
          <a:p>
            <a:pPr lvl="2"/>
            <a:r>
              <a:rPr lang="pl-PL" altLang="zh-CN" sz="2400" dirty="0">
                <a:solidFill>
                  <a:schemeClr val="tx1"/>
                </a:solidFill>
              </a:rPr>
              <a:t>¬S(z)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˅ </a:t>
            </a:r>
            <a:r>
              <a:rPr lang="pl-PL" altLang="zh-CN" sz="2400" dirty="0">
                <a:solidFill>
                  <a:schemeClr val="tx1"/>
                </a:solidFill>
              </a:rPr>
              <a:t>L(z, snow)</a:t>
            </a:r>
            <a:r>
              <a:rPr lang="zh-CN" altLang="en-US" sz="2400" dirty="0">
                <a:solidFill>
                  <a:schemeClr val="tx1"/>
                </a:solidFill>
              </a:rPr>
              <a:t>存储为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(‘~S(z)’, ‘L(</a:t>
            </a:r>
            <a:r>
              <a:rPr lang="en-US" altLang="zh-CN" sz="2400" dirty="0" err="1">
                <a:solidFill>
                  <a:schemeClr val="tx1"/>
                </a:solidFill>
                <a:cs typeface="Times New Roman" panose="02020603050405020304" pitchFamily="18" charset="0"/>
              </a:rPr>
              <a:t>z,snow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)’)</a:t>
            </a:r>
          </a:p>
          <a:p>
            <a:r>
              <a:rPr lang="zh-CN" altLang="en-US" sz="2400" dirty="0">
                <a:cs typeface="Times New Roman" panose="02020603050405020304" pitchFamily="18" charset="0"/>
              </a:rPr>
              <a:t>存储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子句集</a:t>
            </a:r>
            <a:r>
              <a:rPr lang="zh-CN" altLang="en-US" sz="2400" dirty="0"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cs typeface="Times New Roman" panose="02020603050405020304" pitchFamily="18" charset="0"/>
              </a:rPr>
              <a:t>数据结构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子句集用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set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的方式存储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每个元素是子句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元组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CC3AFE71-9FA8-E50D-9B33-26129FAFCB2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165EAC4-D539-4E5C-8147-98CDF873BFE3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18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D91CE92C-B482-BF8F-1AC6-DB374773B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作业一（第三周作业）</a:t>
            </a: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C7494AD2-7E0F-3DED-E62D-087FEAB55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76972D6-A71C-40AA-8CE2-C641D28D2A65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19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256FB8-02D4-A8BE-8108-0CA626444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5231"/>
            <a:ext cx="9144000" cy="350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217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D91CE92C-B482-BF8F-1AC6-DB374773B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作业一（第三周作业）</a:t>
            </a: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C7494AD2-7E0F-3DED-E62D-087FEAB55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76972D6-A71C-40AA-8CE2-C641D28D2A65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20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0439B7-CC18-1DCB-4C67-AE17F086F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9071"/>
            <a:ext cx="9144000" cy="23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776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2C8EB35E-6A45-1AE7-98AB-FDD9A37F4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作业二（第四周作业）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F843C7AE-0021-D456-12EF-D3B65EF0C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263" y="1012825"/>
            <a:ext cx="8642350" cy="5400675"/>
          </a:xfrm>
        </p:spPr>
        <p:txBody>
          <a:bodyPr/>
          <a:lstStyle/>
          <a:p>
            <a:r>
              <a:rPr lang="en-US" altLang="zh-CN" dirty="0"/>
              <a:t>Graduate Student </a:t>
            </a:r>
            <a:r>
              <a:rPr lang="zh-CN" altLang="en-US" dirty="0"/>
              <a:t>（例题）</a:t>
            </a:r>
            <a:endParaRPr lang="en-US" altLang="zh-CN" dirty="0"/>
          </a:p>
          <a:p>
            <a:pPr lvl="1"/>
            <a:r>
              <a:rPr lang="pl-PL" altLang="zh-CN" dirty="0">
                <a:solidFill>
                  <a:schemeClr val="tx1"/>
                </a:solidFill>
              </a:rPr>
              <a:t>GradStudent(sue)</a:t>
            </a:r>
          </a:p>
          <a:p>
            <a:pPr lvl="1"/>
            <a:r>
              <a:rPr lang="pl-PL" altLang="zh-CN" dirty="0">
                <a:solidFill>
                  <a:schemeClr val="tx1"/>
                </a:solidFill>
              </a:rPr>
              <a:t>(¬GradStudent(x), Student(x))</a:t>
            </a:r>
          </a:p>
          <a:p>
            <a:pPr lvl="1"/>
            <a:r>
              <a:rPr lang="pl-PL" altLang="zh-CN" dirty="0">
                <a:solidFill>
                  <a:schemeClr val="tx1"/>
                </a:solidFill>
              </a:rPr>
              <a:t>(¬Student(x), HardWorker(x))</a:t>
            </a:r>
          </a:p>
          <a:p>
            <a:pPr lvl="1"/>
            <a:r>
              <a:rPr lang="pl-PL" altLang="zh-CN" dirty="0">
                <a:solidFill>
                  <a:schemeClr val="tx1"/>
                </a:solidFill>
              </a:rPr>
              <a:t>¬HardWorker(sue)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085A07C7-87A1-0DA6-685A-14DA04240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30C5D3E-72CF-427C-B431-D91EFF07741F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21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23557" name="图片 4">
            <a:extLst>
              <a:ext uri="{FF2B5EF4-FFF2-40B4-BE49-F238E27FC236}">
                <a16:creationId xmlns:a16="http://schemas.microsoft.com/office/drawing/2014/main" id="{CE538456-2038-0C80-F813-5A8B4E369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3840163"/>
            <a:ext cx="6423025" cy="200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A757EB56-377C-DE72-F1C4-26ACAA63A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 作业二（第四周作业）</a:t>
            </a:r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BCE3020D-C081-2EC4-F01C-0E7FEC248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0BD767C-0EC2-41A6-BEFC-98D2C8E456E7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22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384542-C3C6-E0C4-4B9E-4554981ED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045"/>
            <a:ext cx="9144000" cy="489157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66D00-E266-AEBC-B8A6-5C114D32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F08796A8-CB30-EDBA-5273-DC082CDAD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 作业二（第四周作业）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21722D6D-769E-0365-1F42-C73EF28743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263" y="1012825"/>
            <a:ext cx="8642350" cy="5400675"/>
          </a:xfrm>
        </p:spPr>
        <p:txBody>
          <a:bodyPr/>
          <a:lstStyle/>
          <a:p>
            <a:r>
              <a:rPr lang="en-US" altLang="zh-CN" dirty="0"/>
              <a:t>Alpine Club</a:t>
            </a:r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47D90105-26C4-C3A6-01C6-D57375AC3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0BD767C-0EC2-41A6-BEFC-98D2C8E456E7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23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EFAF75-E7CC-E3DB-E1B9-6BF3446AA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4680"/>
            <a:ext cx="9144000" cy="357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9052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113A87D0-FC79-F57A-1CBB-5A19E6A1C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作业提交说明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7986AD1C-B666-5A92-DF95-F79664B813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49777"/>
            <a:ext cx="8374702" cy="5400675"/>
          </a:xfrm>
        </p:spPr>
        <p:txBody>
          <a:bodyPr/>
          <a:lstStyle/>
          <a:p>
            <a:r>
              <a:rPr lang="zh-CN" altLang="en-US" sz="2400" dirty="0"/>
              <a:t>压缩包命名</a:t>
            </a:r>
            <a:r>
              <a:rPr lang="zh-CN" altLang="en-US" sz="2400" dirty="0">
                <a:cs typeface="Times New Roman" panose="02020603050405020304" pitchFamily="18" charset="0"/>
              </a:rPr>
              <a:t>为：“学号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姓名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作业编号”，例：</a:t>
            </a:r>
            <a:r>
              <a:rPr lang="en-US" altLang="zh-CN" sz="2400" dirty="0">
                <a:cs typeface="Times New Roman" panose="02020603050405020304" pitchFamily="18" charset="0"/>
              </a:rPr>
              <a:t>20250312_</a:t>
            </a:r>
            <a:r>
              <a:rPr lang="zh-CN" altLang="en-US" sz="2400" dirty="0">
                <a:cs typeface="Times New Roman" panose="02020603050405020304" pitchFamily="18" charset="0"/>
              </a:rPr>
              <a:t>张三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cs typeface="Times New Roman" panose="02020603050405020304" pitchFamily="18" charset="0"/>
              </a:rPr>
              <a:t>。</a:t>
            </a:r>
            <a:endParaRPr lang="en-US" altLang="zh-CN" sz="2400" dirty="0"/>
          </a:p>
          <a:p>
            <a:r>
              <a:rPr lang="zh-CN" altLang="en-US" sz="2400" dirty="0"/>
              <a:t>每次作业文件下包含两部分：</a:t>
            </a:r>
            <a:r>
              <a:rPr lang="en-US" altLang="zh-CN" sz="2400" dirty="0"/>
              <a:t>code</a:t>
            </a:r>
            <a:r>
              <a:rPr lang="zh-CN" altLang="en-US" sz="2400" dirty="0"/>
              <a:t>文件夹和实验报告</a:t>
            </a:r>
            <a:r>
              <a:rPr lang="en-US" altLang="zh-CN" sz="2400" dirty="0"/>
              <a:t>PDF</a:t>
            </a:r>
            <a:r>
              <a:rPr lang="zh-CN" altLang="en-US" sz="2400" dirty="0"/>
              <a:t>文件。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code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文件夹：存放实验代码；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PDF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文件格式参考发的模板。</a:t>
            </a:r>
            <a:endParaRPr lang="en-US" altLang="zh-CN" sz="2400" dirty="0"/>
          </a:p>
          <a:p>
            <a:r>
              <a:rPr lang="zh-CN" altLang="en-US" sz="2400" dirty="0"/>
              <a:t>如果需要更新提交的版本，则在后面加</a:t>
            </a:r>
            <a:r>
              <a:rPr lang="en-US" altLang="zh-CN" sz="2400" dirty="0"/>
              <a:t>_v2</a:t>
            </a:r>
            <a:r>
              <a:rPr lang="zh-CN" altLang="en-US" sz="2400" dirty="0"/>
              <a:t>，</a:t>
            </a:r>
            <a:r>
              <a:rPr lang="en-US" altLang="zh-CN" sz="2400" dirty="0"/>
              <a:t>_v3</a:t>
            </a:r>
            <a:r>
              <a:rPr lang="zh-CN" altLang="en-US" sz="2400" dirty="0"/>
              <a:t>。如第一版是“学号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.zip</a:t>
            </a:r>
            <a:r>
              <a:rPr lang="zh-CN" altLang="en-US" sz="2400" dirty="0"/>
              <a:t>”，第二版是“学号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_v2.zip</a:t>
            </a:r>
            <a:r>
              <a:rPr lang="zh-CN" altLang="en-US" sz="2400" dirty="0"/>
              <a:t>”，依此类推。</a:t>
            </a:r>
            <a:endParaRPr lang="en-US" altLang="zh-CN" sz="2400" dirty="0"/>
          </a:p>
          <a:p>
            <a:r>
              <a:rPr lang="zh-CN" altLang="en-US" sz="2400" dirty="0"/>
              <a:t>截至日期：</a:t>
            </a:r>
            <a:r>
              <a:rPr lang="en-US" altLang="zh-CN" sz="2400" b="1" dirty="0">
                <a:solidFill>
                  <a:schemeClr val="accent2"/>
                </a:solidFill>
              </a:rPr>
              <a:t>2025</a:t>
            </a:r>
            <a:r>
              <a:rPr lang="zh-CN" altLang="en-US" sz="2400" b="1" dirty="0">
                <a:solidFill>
                  <a:schemeClr val="accent2"/>
                </a:solidFill>
              </a:rPr>
              <a:t>年</a:t>
            </a:r>
            <a:r>
              <a:rPr lang="en-US" altLang="zh-CN" sz="2400" b="1" dirty="0">
                <a:solidFill>
                  <a:schemeClr val="accent2"/>
                </a:solidFill>
              </a:rPr>
              <a:t>3</a:t>
            </a:r>
            <a:r>
              <a:rPr lang="zh-CN" altLang="en-US" sz="2400" b="1" dirty="0">
                <a:solidFill>
                  <a:schemeClr val="accent2"/>
                </a:solidFill>
              </a:rPr>
              <a:t>月</a:t>
            </a:r>
            <a:r>
              <a:rPr lang="en-US" altLang="zh-CN" sz="2400" b="1" dirty="0">
                <a:solidFill>
                  <a:schemeClr val="accent2"/>
                </a:solidFill>
              </a:rPr>
              <a:t>24</a:t>
            </a:r>
            <a:r>
              <a:rPr lang="zh-CN" altLang="en-US" sz="2400" b="1" dirty="0">
                <a:solidFill>
                  <a:schemeClr val="accent2"/>
                </a:solidFill>
              </a:rPr>
              <a:t>日晚</a:t>
            </a:r>
            <a:r>
              <a:rPr lang="en-US" altLang="zh-CN" sz="2400" b="1" dirty="0">
                <a:solidFill>
                  <a:schemeClr val="accent2"/>
                </a:solidFill>
              </a:rPr>
              <a:t>24</a:t>
            </a:r>
            <a:r>
              <a:rPr lang="zh-CN" altLang="en-US" sz="2400" b="1" dirty="0">
                <a:solidFill>
                  <a:schemeClr val="accent2"/>
                </a:solidFill>
              </a:rPr>
              <a:t>点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提交邮箱：</a:t>
            </a:r>
            <a:r>
              <a:rPr lang="en-US" altLang="zh-CN" sz="2400" dirty="0">
                <a:hlinkClick r:id="rId2"/>
              </a:rPr>
              <a:t>zhangyc8@mail2.sysu.edu.cn</a:t>
            </a:r>
            <a:r>
              <a:rPr lang="zh-CN" altLang="en-US" sz="2400" dirty="0"/>
              <a:t>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7459547B-D996-686A-C780-356FCCE3F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16C6F3-7B10-4E5D-9F7F-9BE666DCD9BD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24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27174</TotalTime>
  <Words>2208</Words>
  <Application>Microsoft Office PowerPoint</Application>
  <PresentationFormat>全屏显示(4:3)</PresentationFormat>
  <Paragraphs>191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黑体</vt:lpstr>
      <vt:lpstr>宋体</vt:lpstr>
      <vt:lpstr>微软雅黑</vt:lpstr>
      <vt:lpstr>Arial</vt:lpstr>
      <vt:lpstr>Times New Roman</vt:lpstr>
      <vt:lpstr>Wingdings</vt:lpstr>
      <vt:lpstr>wasedaSample5</vt:lpstr>
      <vt:lpstr>Artificial Intelligence 人工智能实验</vt:lpstr>
      <vt:lpstr>目录 </vt:lpstr>
      <vt:lpstr>1.1 基本概念</vt:lpstr>
      <vt:lpstr>1.1 基本概念</vt:lpstr>
      <vt:lpstr>1.1 基本概念</vt:lpstr>
      <vt:lpstr>1.1 基本概念</vt:lpstr>
      <vt:lpstr>1.1 基本概念</vt:lpstr>
      <vt:lpstr>1.1 基本概念</vt:lpstr>
      <vt:lpstr>1.2 命题逻辑归结算法</vt:lpstr>
      <vt:lpstr>1.2 命题逻辑归结算法</vt:lpstr>
      <vt:lpstr>1.2 命题逻辑归结算法</vt:lpstr>
      <vt:lpstr>1.3 Most general unifier算法</vt:lpstr>
      <vt:lpstr>1.3 Most general unifier算法</vt:lpstr>
      <vt:lpstr>1.3 Most general unifier算法</vt:lpstr>
      <vt:lpstr>1.4 一阶逻辑归结算法</vt:lpstr>
      <vt:lpstr>2.1 要求</vt:lpstr>
      <vt:lpstr>2.1 要求</vt:lpstr>
      <vt:lpstr>2.1 要求</vt:lpstr>
      <vt:lpstr>2.2 作业一（第三周作业）</vt:lpstr>
      <vt:lpstr>2.2 作业一（第三周作业）</vt:lpstr>
      <vt:lpstr>2.3 作业二（第四周作业）</vt:lpstr>
      <vt:lpstr>2.3 作业二（第四周作业）</vt:lpstr>
      <vt:lpstr>2.3 作业二（第四周作业）</vt:lpstr>
      <vt:lpstr>3. 作业提交说明</vt:lpstr>
    </vt:vector>
  </TitlesOfParts>
  <Company>玄研究室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3-归结原理</dc:title>
  <dc:creator>宇聪 张</dc:creator>
  <cp:lastModifiedBy>宇聪 张</cp:lastModifiedBy>
  <cp:revision>695</cp:revision>
  <cp:lastPrinted>1999-07-29T07:50:28Z</cp:lastPrinted>
  <dcterms:created xsi:type="dcterms:W3CDTF">1999-04-15T12:11:22Z</dcterms:created>
  <dcterms:modified xsi:type="dcterms:W3CDTF">2025-03-08T11:40:36Z</dcterms:modified>
</cp:coreProperties>
</file>