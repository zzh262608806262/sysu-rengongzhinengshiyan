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2.webp" ContentType="image/webp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9"/>
  </p:handoutMasterIdLst>
  <p:sldIdLst>
    <p:sldId id="639" r:id="rId3"/>
    <p:sldId id="605" r:id="rId5"/>
    <p:sldId id="609" r:id="rId6"/>
    <p:sldId id="704" r:id="rId7"/>
    <p:sldId id="706" r:id="rId8"/>
    <p:sldId id="705" r:id="rId9"/>
    <p:sldId id="707" r:id="rId10"/>
    <p:sldId id="708" r:id="rId11"/>
    <p:sldId id="709" r:id="rId12"/>
    <p:sldId id="712" r:id="rId13"/>
    <p:sldId id="713" r:id="rId14"/>
    <p:sldId id="715" r:id="rId15"/>
    <p:sldId id="716" r:id="rId16"/>
    <p:sldId id="717" r:id="rId17"/>
    <p:sldId id="607" r:id="rId18"/>
  </p:sldIdLst>
  <p:sldSz cx="9144000" cy="6858000" type="screen4x3"/>
  <p:notesSz cx="6735445" cy="9865995"/>
  <p:defaultTextStyle>
    <a:defPPr>
      <a:defRPr lang="ja-JP"/>
    </a:defPPr>
    <a:lvl1pPr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umimoji="1" sz="2400" b="1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umimoji="1" sz="2400" b="1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umimoji="1" sz="2400" b="1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umimoji="1" sz="2400" b="1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5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Animation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409FE0"/>
    <a:srgbClr val="FFCCFF"/>
    <a:srgbClr val="B8DCF4"/>
    <a:srgbClr val="FFFFCC"/>
    <a:srgbClr val="99FF99"/>
    <a:srgbClr val="E8ECF0"/>
    <a:srgbClr val="0000FF"/>
    <a:srgbClr val="66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53" autoAdjust="0"/>
    <p:restoredTop sz="94306" autoAdjust="0"/>
  </p:normalViewPr>
  <p:slideViewPr>
    <p:cSldViewPr snapToGrid="0" showGuides="1">
      <p:cViewPr varScale="1">
        <p:scale>
          <a:sx n="140" d="100"/>
          <a:sy n="140" d="100"/>
        </p:scale>
        <p:origin x="88" y="96"/>
      </p:cViewPr>
      <p:guideLst>
        <p:guide orient="horz" pos="2135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70" d="100"/>
          <a:sy n="70" d="100"/>
        </p:scale>
        <p:origin x="-1740" y="-114"/>
      </p:cViewPr>
      <p:guideLst>
        <p:guide orient="horz" pos="3071"/>
        <p:guide pos="212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handoutMaster" Target="handoutMasters/handoutMaster1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19413" cy="49371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defRPr sz="1200" b="0"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1878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16350" y="0"/>
            <a:ext cx="2919413" cy="49371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b="0"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1878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72600"/>
            <a:ext cx="2919413" cy="49371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defRPr sz="1200" b="0"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1878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16350" y="9372600"/>
            <a:ext cx="2919413" cy="49371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b="0"/>
            </a:lvl1pPr>
          </a:lstStyle>
          <a:p>
            <a:pPr>
              <a:defRPr/>
            </a:pPr>
            <a:fld id="{6034C6EE-4A99-467C-9965-50EEE77005D1}" type="slidenum">
              <a:rPr lang="en-US" altLang="ja-JP"/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19413" cy="49371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defRPr sz="1200" b="0"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16350" y="0"/>
            <a:ext cx="2919413" cy="49371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b="0"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01700" y="739775"/>
            <a:ext cx="4933950" cy="37004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53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98525" y="4686300"/>
            <a:ext cx="4938713" cy="44402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ja-JP" altLang="en-US" noProof="0"/>
              <a:t>マスター テキストの書式設定</a:t>
            </a:r>
            <a:endParaRPr lang="ja-JP" altLang="en-US" noProof="0"/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  <a:endParaRPr lang="ja-JP" altLang="en-US" noProof="0"/>
          </a:p>
          <a:p>
            <a:pPr lvl="2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  <a:endParaRPr lang="ja-JP" altLang="en-US" noProof="0"/>
          </a:p>
          <a:p>
            <a:pPr lvl="3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  <a:endParaRPr lang="ja-JP" altLang="en-US" noProof="0"/>
          </a:p>
          <a:p>
            <a:pPr lvl="4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  <a:endParaRPr lang="ja-JP" altLang="en-US" noProof="0"/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72600"/>
            <a:ext cx="2919413" cy="49371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defRPr sz="1200" b="0"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16350" y="9372600"/>
            <a:ext cx="2919413" cy="49371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b="0"/>
            </a:lvl1pPr>
          </a:lstStyle>
          <a:p>
            <a:pPr>
              <a:defRPr/>
            </a:pPr>
            <a:fld id="{D0C4B0F1-E941-4AD4-8EB5-04747E843887}" type="slidenum">
              <a:rPr lang="en-US" altLang="ja-JP"/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MS PMincho" panose="02020600040205080304" pitchFamily="18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MS PMincho" panose="02020600040205080304" pitchFamily="18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MS PMincho" panose="02020600040205080304" pitchFamily="18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MS PMincho" panose="02020600040205080304" pitchFamily="18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MS PMincho" panose="02020600040205080304" pitchFamily="18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01700" y="739775"/>
            <a:ext cx="4933950" cy="3700463"/>
          </a:xfrm>
        </p:spPr>
      </p:sp>
      <p:sp>
        <p:nvSpPr>
          <p:cNvPr id="6147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zh-CN" sz="1800" dirty="0">
              <a:ea typeface="微软雅黑" panose="020B0503020204020204" pitchFamily="34" charset="-122"/>
            </a:endParaRPr>
          </a:p>
        </p:txBody>
      </p:sp>
      <p:sp>
        <p:nvSpPr>
          <p:cNvPr id="614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3D4974D3-3103-4956-8804-74887D3BB162}" type="slidenum">
              <a:rPr lang="zh-CN" altLang="en-US" sz="1200" b="0" smtClean="0"/>
            </a:fld>
            <a:endParaRPr lang="zh-CN" altLang="en-US" sz="1200" b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0C4B0F1-E941-4AD4-8EB5-04747E843887}" type="slidenum">
              <a:rPr lang="en-US" altLang="ja-JP" smtClean="0"/>
            </a:fld>
            <a:endParaRPr lang="en-US" altLang="ja-JP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0C4B0F1-E941-4AD4-8EB5-04747E843887}" type="slidenum">
              <a:rPr lang="en-US" altLang="ja-JP" smtClean="0"/>
            </a:fld>
            <a:endParaRPr lang="en-US" altLang="ja-JP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0C4B0F1-E941-4AD4-8EB5-04747E843887}" type="slidenum">
              <a:rPr lang="en-US" altLang="ja-JP" smtClean="0"/>
            </a:fld>
            <a:endParaRPr lang="en-US" altLang="ja-JP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0C4B0F1-E941-4AD4-8EB5-04747E843887}" type="slidenum">
              <a:rPr lang="en-US" altLang="ja-JP" smtClean="0"/>
            </a:fld>
            <a:endParaRPr lang="en-US" altLang="ja-JP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0C4B0F1-E941-4AD4-8EB5-04747E843887}" type="slidenum">
              <a:rPr lang="en-US" altLang="ja-JP" smtClean="0"/>
            </a:fld>
            <a:endParaRPr lang="en-US" altLang="ja-JP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0C4B0F1-E941-4AD4-8EB5-04747E843887}" type="slidenum">
              <a:rPr lang="en-US" altLang="ja-JP" smtClean="0"/>
            </a:fld>
            <a:endParaRPr lang="en-US" altLang="ja-JP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0C4B0F1-E941-4AD4-8EB5-04747E843887}" type="slidenum">
              <a:rPr lang="en-US" altLang="ja-JP" smtClean="0"/>
            </a:fld>
            <a:endParaRPr lang="en-US" altLang="ja-JP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0C4B0F1-E941-4AD4-8EB5-04747E843887}" type="slidenum">
              <a:rPr lang="en-US" altLang="ja-JP" smtClean="0"/>
            </a:fld>
            <a:endParaRPr lang="en-US" altLang="ja-JP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0C4B0F1-E941-4AD4-8EB5-04747E843887}" type="slidenum">
              <a:rPr lang="en-US" altLang="ja-JP" smtClean="0"/>
            </a:fld>
            <a:endParaRPr lang="en-US" altLang="ja-JP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0C4B0F1-E941-4AD4-8EB5-04747E843887}" type="slidenum">
              <a:rPr lang="en-US" altLang="ja-JP" smtClean="0"/>
            </a:fld>
            <a:endParaRPr lang="en-US" altLang="ja-JP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0C4B0F1-E941-4AD4-8EB5-04747E843887}" type="slidenum">
              <a:rPr lang="en-US" altLang="ja-JP" smtClean="0"/>
            </a:fld>
            <a:endParaRPr lang="en-US" altLang="ja-JP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0C4B0F1-E941-4AD4-8EB5-04747E843887}" type="slidenum">
              <a:rPr lang="en-US" altLang="ja-JP" smtClean="0"/>
            </a:fld>
            <a:endParaRPr lang="en-US" altLang="ja-JP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7"/>
          <p:cNvSpPr>
            <a:spLocks noChangeArrowheads="1"/>
          </p:cNvSpPr>
          <p:nvPr/>
        </p:nvSpPr>
        <p:spPr bwMode="auto">
          <a:xfrm>
            <a:off x="685800" y="2887663"/>
            <a:ext cx="7772400" cy="109537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A50021"/>
          </a:solidFill>
          <a:ln w="9525">
            <a:solidFill>
              <a:schemeClr val="accent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3060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85800" y="836613"/>
            <a:ext cx="7772400" cy="2019300"/>
          </a:xfrm>
          <a:noFill/>
        </p:spPr>
        <p:txBody>
          <a:bodyPr/>
          <a:lstStyle>
            <a:lvl1pPr algn="ctr">
              <a:defRPr sz="4000">
                <a:solidFill>
                  <a:srgbClr val="A50021"/>
                </a:solidFill>
              </a:defRPr>
            </a:lvl1pPr>
          </a:lstStyle>
          <a:p>
            <a:pPr lvl="0"/>
            <a:r>
              <a:rPr lang="ja-JP" altLang="en-US" noProof="0"/>
              <a:t>マスタ タイトルの書式設定</a:t>
            </a:r>
            <a:endParaRPr lang="ja-JP" altLang="en-US" noProof="0"/>
          </a:p>
        </p:txBody>
      </p:sp>
      <p:sp>
        <p:nvSpPr>
          <p:cNvPr id="173061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3213100"/>
            <a:ext cx="7010400" cy="1816100"/>
          </a:xfrm>
        </p:spPr>
        <p:txBody>
          <a:bodyPr/>
          <a:lstStyle>
            <a:lvl1pPr marL="0" indent="0" algn="r">
              <a:buFont typeface="Wingdings" panose="05000000000000000000" pitchFamily="2" charset="2"/>
              <a:buNone/>
              <a:defRPr sz="2800">
                <a:solidFill>
                  <a:schemeClr val="folHlink"/>
                </a:solidFill>
              </a:defRPr>
            </a:lvl1pPr>
          </a:lstStyle>
          <a:p>
            <a:pPr lvl="0"/>
            <a:r>
              <a:rPr lang="ja-JP" altLang="en-US" noProof="0"/>
              <a:t>マスタ サブタイトルの書式設定</a:t>
            </a:r>
            <a:endParaRPr lang="ja-JP" altLang="en-US" noProof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buClr>
                <a:srgbClr val="C00000"/>
              </a:buClr>
              <a:defRPr/>
            </a:lvl1pPr>
            <a:lvl2pPr>
              <a:buClr>
                <a:srgbClr val="C00000"/>
              </a:buClr>
              <a:defRPr/>
            </a:lvl2pPr>
            <a:lvl3pPr>
              <a:buClr>
                <a:srgbClr val="C00000"/>
              </a:buClr>
              <a:defRPr/>
            </a:lvl3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5D28D9-E152-4420-A86D-30DF28F96CC3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FAF141-A5EC-4CFB-A958-86E1E10B0F1D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250825" y="908050"/>
            <a:ext cx="4244975" cy="540067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648200" y="908050"/>
            <a:ext cx="4244975" cy="540067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01B3B4-78F3-45F0-BD7A-5A4B0B67E41A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3400B0-00DE-40A7-8918-3E30DB48DF71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1B16E1-3542-4D7A-B514-ED013101ED34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80E1B8-4BBF-432F-A56B-E500C3596581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51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 hasCustomPrompt="1"/>
          </p:nvPr>
        </p:nvSpPr>
        <p:spPr>
          <a:xfrm>
            <a:off x="250825" y="908050"/>
            <a:ext cx="4244975" cy="540067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648200" y="908050"/>
            <a:ext cx="4244975" cy="540067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26F008-80B0-4065-8639-FA522E78ABD8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51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250825" y="908050"/>
            <a:ext cx="4244975" cy="540067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 hasCustomPrompt="1"/>
          </p:nvPr>
        </p:nvSpPr>
        <p:spPr>
          <a:xfrm>
            <a:off x="4648200" y="908050"/>
            <a:ext cx="4244975" cy="26241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 hasCustomPrompt="1"/>
          </p:nvPr>
        </p:nvSpPr>
        <p:spPr>
          <a:xfrm>
            <a:off x="4648200" y="3684588"/>
            <a:ext cx="4244975" cy="2624137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2A297B-0CBD-41CE-A2CE-5D734000E697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0" y="0"/>
            <a:ext cx="9144000" cy="7651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" hasCustomPrompt="1"/>
          </p:nvPr>
        </p:nvSpPr>
        <p:spPr>
          <a:xfrm>
            <a:off x="250825" y="908050"/>
            <a:ext cx="4244975" cy="26241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 hasCustomPrompt="1"/>
          </p:nvPr>
        </p:nvSpPr>
        <p:spPr>
          <a:xfrm>
            <a:off x="4648200" y="908050"/>
            <a:ext cx="4244975" cy="26241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 hasCustomPrompt="1"/>
          </p:nvPr>
        </p:nvSpPr>
        <p:spPr>
          <a:xfrm>
            <a:off x="250825" y="3684588"/>
            <a:ext cx="4244975" cy="2624137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4648200" y="3684588"/>
            <a:ext cx="4244975" cy="2624137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C1836E-F560-4B02-9B15-A1904EAC68FB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51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250825" y="908050"/>
            <a:ext cx="8642350" cy="5400675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0BCFAB-D188-4040-96D5-887F570D26D2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2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9144000" cy="765175"/>
          </a:xfrm>
          <a:prstGeom prst="rect">
            <a:avLst/>
          </a:prstGeom>
          <a:solidFill>
            <a:srgbClr val="A5002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ja-JP" altLang="en-US"/>
              <a:t>マスタ タイトルの書式設定</a:t>
            </a:r>
            <a:endParaRPr lang="ja-JP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50825" y="908050"/>
            <a:ext cx="8642350" cy="540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ja-JP" altLang="en-US"/>
              <a:t>マスタ テキストの書式設定</a:t>
            </a:r>
            <a:endParaRPr lang="ja-JP" altLang="en-US"/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  <a:endParaRPr lang="ja-JP" altLang="en-US"/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  <a:endParaRPr lang="ja-JP" altLang="en-US"/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  <a:endParaRPr lang="ja-JP" altLang="en-US"/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ja-JP" altLang="en-US"/>
          </a:p>
        </p:txBody>
      </p:sp>
      <p:sp>
        <p:nvSpPr>
          <p:cNvPr id="17203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83413" y="6413500"/>
            <a:ext cx="1981200" cy="36036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kumimoji="0" sz="1400" b="0">
                <a:solidFill>
                  <a:srgbClr val="A50021"/>
                </a:solidFill>
              </a:defRPr>
            </a:lvl1pPr>
          </a:lstStyle>
          <a:p>
            <a:pPr>
              <a:defRPr/>
            </a:pPr>
            <a:fld id="{98481C38-1BE0-4570-8049-390C7BA11E2C}" type="slidenum">
              <a:rPr lang="en-US" altLang="ja-JP"/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indent="176530" algn="l" rtl="0" eaLnBrk="0" fontAlgn="base" hangingPunct="0">
        <a:spcBef>
          <a:spcPct val="0"/>
        </a:spcBef>
        <a:spcAft>
          <a:spcPct val="0"/>
        </a:spcAft>
        <a:defRPr kumimoji="1" sz="3800" b="1" kern="1200">
          <a:solidFill>
            <a:schemeClr val="bg1"/>
          </a:solidFill>
          <a:latin typeface="+mj-lt"/>
          <a:ea typeface="+mj-ea"/>
          <a:cs typeface="+mj-cs"/>
        </a:defRPr>
      </a:lvl1pPr>
      <a:lvl2pPr indent="176530" algn="l" rtl="0" eaLnBrk="0" fontAlgn="base" hangingPunct="0">
        <a:spcBef>
          <a:spcPct val="0"/>
        </a:spcBef>
        <a:spcAft>
          <a:spcPct val="0"/>
        </a:spcAft>
        <a:defRPr kumimoji="1" sz="3800" b="1">
          <a:solidFill>
            <a:schemeClr val="bg1"/>
          </a:solidFill>
          <a:latin typeface="Times New Roman" panose="02020603050405020304" pitchFamily="18" charset="0"/>
          <a:ea typeface="黑体" panose="02010609060101010101" pitchFamily="49" charset="-122"/>
        </a:defRPr>
      </a:lvl2pPr>
      <a:lvl3pPr indent="176530" algn="l" rtl="0" eaLnBrk="0" fontAlgn="base" hangingPunct="0">
        <a:spcBef>
          <a:spcPct val="0"/>
        </a:spcBef>
        <a:spcAft>
          <a:spcPct val="0"/>
        </a:spcAft>
        <a:defRPr kumimoji="1" sz="3800" b="1">
          <a:solidFill>
            <a:schemeClr val="bg1"/>
          </a:solidFill>
          <a:latin typeface="Times New Roman" panose="02020603050405020304" pitchFamily="18" charset="0"/>
          <a:ea typeface="黑体" panose="02010609060101010101" pitchFamily="49" charset="-122"/>
        </a:defRPr>
      </a:lvl3pPr>
      <a:lvl4pPr indent="176530" algn="l" rtl="0" eaLnBrk="0" fontAlgn="base" hangingPunct="0">
        <a:spcBef>
          <a:spcPct val="0"/>
        </a:spcBef>
        <a:spcAft>
          <a:spcPct val="0"/>
        </a:spcAft>
        <a:defRPr kumimoji="1" sz="3800" b="1">
          <a:solidFill>
            <a:schemeClr val="bg1"/>
          </a:solidFill>
          <a:latin typeface="Times New Roman" panose="02020603050405020304" pitchFamily="18" charset="0"/>
          <a:ea typeface="黑体" panose="02010609060101010101" pitchFamily="49" charset="-122"/>
        </a:defRPr>
      </a:lvl4pPr>
      <a:lvl5pPr indent="176530" algn="l" rtl="0" eaLnBrk="0" fontAlgn="base" hangingPunct="0">
        <a:spcBef>
          <a:spcPct val="0"/>
        </a:spcBef>
        <a:spcAft>
          <a:spcPct val="0"/>
        </a:spcAft>
        <a:defRPr kumimoji="1" sz="3800" b="1">
          <a:solidFill>
            <a:schemeClr val="bg1"/>
          </a:solidFill>
          <a:latin typeface="Times New Roman" panose="02020603050405020304" pitchFamily="18" charset="0"/>
          <a:ea typeface="黑体" panose="02010609060101010101" pitchFamily="49" charset="-122"/>
        </a:defRPr>
      </a:lvl5pPr>
      <a:lvl6pPr marL="457200" indent="176530" algn="l" rtl="0" fontAlgn="base">
        <a:spcBef>
          <a:spcPct val="0"/>
        </a:spcBef>
        <a:spcAft>
          <a:spcPct val="0"/>
        </a:spcAft>
        <a:defRPr kumimoji="1" sz="3800" b="1">
          <a:solidFill>
            <a:schemeClr val="bg1"/>
          </a:solidFill>
          <a:latin typeface="Arial" panose="020B0604020202020204" pitchFamily="34" charset="0"/>
          <a:ea typeface="MS PGothic" panose="020B0600070205080204" pitchFamily="34" charset="-128"/>
        </a:defRPr>
      </a:lvl6pPr>
      <a:lvl7pPr marL="914400" indent="176530" algn="l" rtl="0" fontAlgn="base">
        <a:spcBef>
          <a:spcPct val="0"/>
        </a:spcBef>
        <a:spcAft>
          <a:spcPct val="0"/>
        </a:spcAft>
        <a:defRPr kumimoji="1" sz="3800" b="1">
          <a:solidFill>
            <a:schemeClr val="bg1"/>
          </a:solidFill>
          <a:latin typeface="Arial" panose="020B0604020202020204" pitchFamily="34" charset="0"/>
          <a:ea typeface="MS PGothic" panose="020B0600070205080204" pitchFamily="34" charset="-128"/>
        </a:defRPr>
      </a:lvl7pPr>
      <a:lvl8pPr marL="1371600" indent="176530" algn="l" rtl="0" fontAlgn="base">
        <a:spcBef>
          <a:spcPct val="0"/>
        </a:spcBef>
        <a:spcAft>
          <a:spcPct val="0"/>
        </a:spcAft>
        <a:defRPr kumimoji="1" sz="3800" b="1">
          <a:solidFill>
            <a:schemeClr val="bg1"/>
          </a:solidFill>
          <a:latin typeface="Arial" panose="020B0604020202020204" pitchFamily="34" charset="0"/>
          <a:ea typeface="MS PGothic" panose="020B0600070205080204" pitchFamily="34" charset="-128"/>
        </a:defRPr>
      </a:lvl8pPr>
      <a:lvl9pPr marL="1828800" indent="176530" algn="l" rtl="0" fontAlgn="base">
        <a:spcBef>
          <a:spcPct val="0"/>
        </a:spcBef>
        <a:spcAft>
          <a:spcPct val="0"/>
        </a:spcAft>
        <a:defRPr kumimoji="1" sz="3800" b="1">
          <a:solidFill>
            <a:schemeClr val="bg1"/>
          </a:solidFill>
          <a:latin typeface="Arial" panose="020B0604020202020204" pitchFamily="34" charset="0"/>
          <a:ea typeface="MS PGothic" panose="020B0600070205080204" pitchFamily="34" charset="-128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kumimoji="1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88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kumimoji="1" sz="2600" kern="1200">
          <a:solidFill>
            <a:schemeClr val="folHlink"/>
          </a:solidFill>
          <a:latin typeface="+mn-lt"/>
          <a:ea typeface="+mn-ea"/>
          <a:cs typeface="+mn-cs"/>
        </a:defRPr>
      </a:lvl2pPr>
      <a:lvl3pPr marL="1304925" indent="-395605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kumimoji="1" sz="2300" kern="1200">
          <a:solidFill>
            <a:srgbClr val="009900"/>
          </a:solidFill>
          <a:latin typeface="+mn-lt"/>
          <a:ea typeface="+mn-ea"/>
          <a:cs typeface="+mn-cs"/>
        </a:defRPr>
      </a:lvl3pPr>
      <a:lvl4pPr marL="1694180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kumimoji="1" sz="2000" kern="1200">
          <a:solidFill>
            <a:srgbClr val="0099CC"/>
          </a:solidFill>
          <a:latin typeface="+mn-lt"/>
          <a:ea typeface="+mn-ea"/>
          <a:cs typeface="+mn-cs"/>
        </a:defRPr>
      </a:lvl4pPr>
      <a:lvl5pPr marL="2094230" indent="-398780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kumimoji="1" sz="2000" kern="1200">
          <a:solidFill>
            <a:srgbClr val="99CC0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web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7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/>
          <p:cNvSpPr>
            <a:spLocks noGrp="1" noChangeArrowheads="1"/>
          </p:cNvSpPr>
          <p:nvPr>
            <p:ph type="ctr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/>
          <a:lstStyle/>
          <a:p>
            <a:r>
              <a:rPr lang="en-US" altLang="zh-CN" dirty="0"/>
              <a:t>Artificial Intelligence</a:t>
            </a:r>
            <a:br>
              <a:rPr lang="en-US" altLang="zh-CN" dirty="0"/>
            </a:br>
            <a:r>
              <a:rPr lang="zh-CN" altLang="en-US" dirty="0"/>
              <a:t>人工智能实验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087460" y="5049522"/>
            <a:ext cx="296908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A50021"/>
                </a:solidFill>
                <a:latin typeface="+mj-lt"/>
                <a:ea typeface="+mj-ea"/>
                <a:cs typeface="+mj-cs"/>
              </a:rPr>
              <a:t>中山大学计算机学院</a:t>
            </a:r>
            <a:endParaRPr lang="en-US" altLang="zh-CN" dirty="0">
              <a:solidFill>
                <a:srgbClr val="A50021"/>
              </a:solidFill>
              <a:latin typeface="+mj-lt"/>
              <a:ea typeface="+mj-ea"/>
              <a:cs typeface="+mj-cs"/>
            </a:endParaRPr>
          </a:p>
          <a:p>
            <a:pPr algn="ctr"/>
            <a:r>
              <a:rPr lang="en-US" altLang="zh-CN" dirty="0">
                <a:solidFill>
                  <a:srgbClr val="A50021"/>
                </a:solidFill>
                <a:latin typeface="+mj-lt"/>
                <a:ea typeface="+mj-ea"/>
                <a:cs typeface="+mj-cs"/>
              </a:rPr>
              <a:t>2025</a:t>
            </a:r>
            <a:r>
              <a:rPr lang="zh-CN" altLang="en-US" dirty="0">
                <a:solidFill>
                  <a:srgbClr val="A50021"/>
                </a:solidFill>
                <a:latin typeface="+mj-lt"/>
                <a:ea typeface="+mj-ea"/>
                <a:cs typeface="+mj-cs"/>
              </a:rPr>
              <a:t>年春季</a:t>
            </a:r>
            <a:endParaRPr lang="zh-CN" altLang="en-US" dirty="0">
              <a:solidFill>
                <a:srgbClr val="A5002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标题 1"/>
          <p:cNvSpPr txBox="1">
            <a:spLocks noChangeArrowheads="1"/>
          </p:cNvSpPr>
          <p:nvPr/>
        </p:nvSpPr>
        <p:spPr bwMode="auto">
          <a:xfrm>
            <a:off x="584200" y="3624223"/>
            <a:ext cx="7772400" cy="7172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indent="17653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rgbClr val="A50021"/>
                </a:solidFill>
                <a:latin typeface="+mj-lt"/>
                <a:ea typeface="+mj-ea"/>
                <a:cs typeface="+mj-cs"/>
              </a:defRPr>
            </a:lvl1pPr>
            <a:lvl2pPr indent="17653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8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indent="17653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8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indent="17653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8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indent="17653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8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457200" indent="176530" algn="l" rtl="0" fontAlgn="base">
              <a:spcBef>
                <a:spcPct val="0"/>
              </a:spcBef>
              <a:spcAft>
                <a:spcPct val="0"/>
              </a:spcAft>
              <a:defRPr kumimoji="1" sz="38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indent="176530" algn="l" rtl="0" fontAlgn="base">
              <a:spcBef>
                <a:spcPct val="0"/>
              </a:spcBef>
              <a:spcAft>
                <a:spcPct val="0"/>
              </a:spcAft>
              <a:defRPr kumimoji="1" sz="38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indent="176530" algn="l" rtl="0" fontAlgn="base">
              <a:spcBef>
                <a:spcPct val="0"/>
              </a:spcBef>
              <a:spcAft>
                <a:spcPct val="0"/>
              </a:spcAft>
              <a:defRPr kumimoji="1" sz="38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indent="176530" algn="l" rtl="0" fontAlgn="base">
              <a:spcBef>
                <a:spcPct val="0"/>
              </a:spcBef>
              <a:spcAft>
                <a:spcPct val="0"/>
              </a:spcAft>
              <a:defRPr kumimoji="1" sz="38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朴素贝叶斯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目录 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23875" y="785499"/>
            <a:ext cx="8620125" cy="5988364"/>
          </a:xfrm>
        </p:spPr>
        <p:txBody>
          <a:bodyPr/>
          <a:lstStyle/>
          <a:p>
            <a:pPr marL="0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rgbClr val="A50021"/>
                </a:solidFill>
                <a:cs typeface="Times New Roman" panose="02020603050405020304" pitchFamily="18" charset="0"/>
              </a:rPr>
              <a:t>1.   </a:t>
            </a:r>
            <a:r>
              <a:rPr lang="zh-CN" altLang="en-US" b="1" dirty="0">
                <a:solidFill>
                  <a:srgbClr val="A50021"/>
                </a:solidFill>
                <a:cs typeface="Times New Roman" panose="02020603050405020304" pitchFamily="18" charset="0"/>
              </a:rPr>
              <a:t>理论课内容回顾</a:t>
            </a:r>
            <a:endParaRPr lang="en-US" altLang="zh-CN" b="1" dirty="0">
              <a:solidFill>
                <a:srgbClr val="A50021"/>
              </a:solidFill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US" altLang="ja-JP" sz="2000" dirty="0">
                <a:cs typeface="Times New Roman" panose="02020603050405020304" pitchFamily="18" charset="0"/>
              </a:rPr>
              <a:t>         1.1 </a:t>
            </a:r>
            <a:r>
              <a:rPr lang="zh-CN" altLang="en-US" sz="2000" dirty="0">
                <a:cs typeface="Times New Roman" panose="02020603050405020304" pitchFamily="18" charset="0"/>
              </a:rPr>
              <a:t>贝叶斯原理</a:t>
            </a:r>
            <a:r>
              <a:rPr lang="en-US" altLang="ja-JP" sz="2000" dirty="0">
                <a:cs typeface="Times New Roman" panose="02020603050405020304" pitchFamily="18" charset="0"/>
              </a:rPr>
              <a:t>         </a:t>
            </a:r>
            <a:endParaRPr lang="en-US" altLang="ja-JP" sz="2000" dirty="0">
              <a:cs typeface="Times New Roman" panose="02020603050405020304" pitchFamily="18" charset="0"/>
            </a:endParaRPr>
          </a:p>
          <a:p>
            <a:pPr marL="495300" indent="-495300" eaLnBrk="1" hangingPunct="1">
              <a:lnSpc>
                <a:spcPct val="120000"/>
              </a:lnSpc>
              <a:buNone/>
              <a:defRPr/>
            </a:pPr>
            <a:r>
              <a:rPr lang="en-US" altLang="zh-CN" sz="2000" dirty="0"/>
              <a:t>	 </a:t>
            </a:r>
            <a:r>
              <a:rPr lang="en-US" altLang="ja-JP" sz="2000" dirty="0">
                <a:cs typeface="Times New Roman" panose="02020603050405020304" pitchFamily="18" charset="0"/>
              </a:rPr>
              <a:t>1.2 </a:t>
            </a:r>
            <a:r>
              <a:rPr lang="zh-CN" altLang="en-US" sz="2000" dirty="0">
                <a:cs typeface="Times New Roman" panose="02020603050405020304" pitchFamily="18" charset="0"/>
              </a:rPr>
              <a:t>朴素贝叶斯</a:t>
            </a:r>
            <a:endParaRPr lang="zh-CN" altLang="en-US" sz="2000" dirty="0">
              <a:cs typeface="Times New Roman" panose="02020603050405020304" pitchFamily="18" charset="0"/>
            </a:endParaRPr>
          </a:p>
          <a:p>
            <a:pPr marL="495300" indent="-495300" eaLnBrk="1" hangingPunct="1">
              <a:lnSpc>
                <a:spcPct val="120000"/>
              </a:lnSpc>
              <a:buNone/>
              <a:defRPr/>
            </a:pPr>
            <a:r>
              <a:rPr lang="zh-CN" altLang="en-US" sz="2000" dirty="0"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cs typeface="Times New Roman" panose="02020603050405020304" pitchFamily="18" charset="0"/>
              </a:rPr>
              <a:t>        1.3 </a:t>
            </a:r>
            <a:r>
              <a:rPr lang="zh-CN" altLang="en-US" sz="2000" dirty="0">
                <a:cs typeface="Times New Roman" panose="02020603050405020304" pitchFamily="18" charset="0"/>
              </a:rPr>
              <a:t>朴素贝叶斯应用实例</a:t>
            </a:r>
            <a:endParaRPr lang="en-US" altLang="zh-CN" sz="2000" dirty="0"/>
          </a:p>
          <a:p>
            <a:pPr marL="0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rgbClr val="A50021"/>
                </a:solidFill>
                <a:cs typeface="Times New Roman" panose="02020603050405020304" pitchFamily="18" charset="0"/>
              </a:rPr>
              <a:t>2.   </a:t>
            </a:r>
            <a:r>
              <a:rPr lang="zh-CN" altLang="en-US" b="1" dirty="0">
                <a:solidFill>
                  <a:srgbClr val="A50021"/>
                </a:solidFill>
                <a:cs typeface="Times New Roman" panose="02020603050405020304" pitchFamily="18" charset="0"/>
              </a:rPr>
              <a:t>实验任务</a:t>
            </a:r>
            <a:endParaRPr lang="en-US" altLang="zh-CN" b="1" dirty="0">
              <a:solidFill>
                <a:srgbClr val="A50021"/>
              </a:solidFill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20000"/>
              </a:lnSpc>
              <a:buNone/>
              <a:defRPr/>
            </a:pPr>
            <a:r>
              <a:rPr lang="en-US" altLang="zh-CN" sz="2000" dirty="0">
                <a:solidFill>
                  <a:srgbClr val="000000"/>
                </a:solidFill>
              </a:rPr>
              <a:t>          </a:t>
            </a:r>
            <a:r>
              <a:rPr lang="en-US" altLang="zh-CN" sz="2000" dirty="0">
                <a:solidFill>
                  <a:srgbClr val="000000"/>
                </a:solidFill>
                <a:cs typeface="Times New Roman" panose="02020603050405020304" pitchFamily="18" charset="0"/>
              </a:rPr>
              <a:t>2</a:t>
            </a:r>
            <a:r>
              <a:rPr lang="en-US" altLang="ja-JP" sz="2000" dirty="0">
                <a:cs typeface="Times New Roman" panose="02020603050405020304" pitchFamily="18" charset="0"/>
              </a:rPr>
              <a:t>.1 </a:t>
            </a:r>
            <a:r>
              <a:rPr lang="zh-CN" altLang="en-US" sz="2000" dirty="0">
                <a:cs typeface="Times New Roman" panose="02020603050405020304" pitchFamily="18" charset="0"/>
              </a:rPr>
              <a:t>垃圾</a:t>
            </a:r>
            <a:r>
              <a:rPr lang="zh-CN" altLang="en-US" sz="2000" dirty="0">
                <a:cs typeface="Times New Roman" panose="02020603050405020304" pitchFamily="18" charset="0"/>
              </a:rPr>
              <a:t>邮件分类任务</a:t>
            </a:r>
            <a:endParaRPr lang="en-US" altLang="zh-CN" sz="2000" dirty="0"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20000"/>
              </a:lnSpc>
              <a:buNone/>
              <a:defRPr/>
            </a:pPr>
            <a:r>
              <a:rPr lang="en-US" altLang="zh-CN" sz="2000" dirty="0">
                <a:solidFill>
                  <a:srgbClr val="000000"/>
                </a:solidFill>
                <a:cs typeface="Times New Roman" panose="02020603050405020304" pitchFamily="18" charset="0"/>
              </a:rPr>
              <a:t>        </a:t>
            </a:r>
            <a:endParaRPr lang="zh-CN" altLang="en-US" sz="2000" dirty="0"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50000"/>
              </a:lnSpc>
              <a:buNone/>
              <a:defRPr/>
            </a:pPr>
            <a:r>
              <a:rPr lang="en-US" altLang="zh-CN" b="1" dirty="0">
                <a:solidFill>
                  <a:srgbClr val="A50021"/>
                </a:solidFill>
                <a:cs typeface="Times New Roman" panose="02020603050405020304" pitchFamily="18" charset="0"/>
              </a:rPr>
              <a:t>3.   </a:t>
            </a:r>
            <a:r>
              <a:rPr lang="zh-CN" altLang="en-US" b="1" dirty="0">
                <a:solidFill>
                  <a:srgbClr val="A50021"/>
                </a:solidFill>
                <a:cs typeface="Times New Roman" panose="02020603050405020304" pitchFamily="18" charset="0"/>
              </a:rPr>
              <a:t>作业提交说明</a:t>
            </a:r>
            <a:endParaRPr lang="en-US" altLang="zh-CN" b="1" dirty="0">
              <a:solidFill>
                <a:srgbClr val="A50021"/>
              </a:solidFill>
              <a:cs typeface="Times New Roman" panose="02020603050405020304" pitchFamily="18" charset="0"/>
            </a:endParaRPr>
          </a:p>
          <a:p>
            <a:pPr marL="495300" indent="-495300" eaLnBrk="1" hangingPunct="1">
              <a:lnSpc>
                <a:spcPct val="150000"/>
              </a:lnSpc>
              <a:buClr>
                <a:srgbClr val="CC0000"/>
              </a:buClr>
              <a:buFont typeface="Wingdings" panose="05000000000000000000" pitchFamily="2" charset="2"/>
              <a:buNone/>
              <a:defRPr/>
            </a:pPr>
            <a:endParaRPr lang="en-US" altLang="zh-CN" sz="2000" dirty="0">
              <a:solidFill>
                <a:srgbClr val="000000"/>
              </a:solidFill>
            </a:endParaRPr>
          </a:p>
        </p:txBody>
      </p:sp>
      <p:sp>
        <p:nvSpPr>
          <p:cNvPr id="7172" name="灯片编号占位符 3"/>
          <p:cNvSpPr>
            <a:spLocks noGrp="1" noChangeArrowheads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C8D85A13-3676-4B19-81F1-4C4D598EC2CA}" type="slidenum">
              <a:rPr kumimoji="0" lang="ja-JP" altLang="en-US" sz="1400" b="0" smtClean="0">
                <a:solidFill>
                  <a:srgbClr val="A50021"/>
                </a:solidFill>
                <a:latin typeface="Arial" panose="020B0604020202020204" pitchFamily="34" charset="0"/>
              </a:rPr>
            </a:fld>
            <a:endParaRPr kumimoji="0" lang="en-US" altLang="ja-JP" sz="1400" b="0">
              <a:solidFill>
                <a:srgbClr val="A5002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1.1</a:t>
            </a:r>
            <a:r>
              <a:rPr lang="zh-CN" altLang="en-US" dirty="0"/>
              <a:t> 贝叶斯</a:t>
            </a:r>
            <a:r>
              <a:rPr lang="zh-CN" altLang="en-US" dirty="0"/>
              <a:t>定理</a:t>
            </a:r>
            <a:endParaRPr lang="zh-CN" altLang="en-US" dirty="0"/>
          </a:p>
        </p:txBody>
      </p:sp>
      <p:sp>
        <p:nvSpPr>
          <p:cNvPr id="8196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8E30E0AE-C32F-496E-B2AA-D1BAC7225ABC}" type="slidenum">
              <a:rPr kumimoji="0" lang="en-US" altLang="ja-JP" sz="1400" b="0" smtClean="0">
                <a:solidFill>
                  <a:srgbClr val="A50021"/>
                </a:solidFill>
              </a:rPr>
            </a:fld>
            <a:endParaRPr kumimoji="0" lang="en-US" altLang="ja-JP" sz="1400" b="0">
              <a:solidFill>
                <a:srgbClr val="A50021"/>
              </a:solidFill>
            </a:endParaRPr>
          </a:p>
        </p:txBody>
      </p:sp>
      <p:sp>
        <p:nvSpPr>
          <p:cNvPr id="13" name="内容占位符 2"/>
          <p:cNvSpPr>
            <a:spLocks noGrp="1"/>
          </p:cNvSpPr>
          <p:nvPr>
            <p:ph idx="1"/>
          </p:nvPr>
        </p:nvSpPr>
        <p:spPr>
          <a:xfrm>
            <a:off x="250825" y="908050"/>
            <a:ext cx="8642350" cy="1526091"/>
          </a:xfrm>
        </p:spPr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zh-CN" altLang="en-US" sz="2800" dirty="0">
                <a:cs typeface="Times New Roman" panose="02020603050405020304" pitchFamily="18" charset="0"/>
              </a:rPr>
              <a:t>贝叶斯分类是一类分类算法的总称，这类算法以</a:t>
            </a:r>
            <a:r>
              <a:rPr lang="zh-CN" altLang="en-US" sz="2800" b="1" dirty="0">
                <a:cs typeface="Times New Roman" panose="02020603050405020304" pitchFamily="18" charset="0"/>
              </a:rPr>
              <a:t>贝叶斯定理</a:t>
            </a:r>
            <a:r>
              <a:rPr lang="zh-CN" altLang="en-US" sz="2800" dirty="0">
                <a:cs typeface="Times New Roman" panose="02020603050405020304" pitchFamily="18" charset="0"/>
              </a:rPr>
              <a:t>为基础。朴素贝叶斯</a:t>
            </a:r>
            <a:r>
              <a:rPr lang="en-US" altLang="zh-CN" sz="2800" dirty="0">
                <a:cs typeface="Times New Roman" panose="02020603050405020304" pitchFamily="18" charset="0"/>
              </a:rPr>
              <a:t>(Naive Bayes)</a:t>
            </a:r>
            <a:r>
              <a:rPr lang="zh-CN" altLang="en-US" sz="2800" dirty="0">
                <a:cs typeface="Times New Roman" panose="02020603050405020304" pitchFamily="18" charset="0"/>
              </a:rPr>
              <a:t>分类是贝叶斯分类中最简单、最常见的方法。</a:t>
            </a:r>
            <a:endParaRPr lang="zh-CN" altLang="en-US" sz="2800" dirty="0"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  <a:defRPr/>
            </a:pPr>
            <a:endParaRPr lang="zh-CN" altLang="en-US" sz="2800" dirty="0"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defRPr/>
            </a:pPr>
            <a:endParaRPr lang="zh-CN" altLang="en-US" sz="2800" dirty="0"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  <a:defRPr/>
            </a:pPr>
            <a:endParaRPr lang="en-US" altLang="zh-CN" sz="2800" dirty="0">
              <a:cs typeface="Times New Roman" panose="02020603050405020304" pitchFamily="18" charset="0"/>
            </a:endParaRPr>
          </a:p>
          <a:p>
            <a:pPr marL="471170" lvl="1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endParaRPr lang="zh-CN" altLang="en-US" sz="1800" dirty="0">
              <a:solidFill>
                <a:srgbClr val="000000"/>
              </a:solidFill>
              <a:cs typeface="Times New Roman" panose="02020603050405020304" pitchFamily="18" charset="0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2137410" y="2987675"/>
            <a:ext cx="5161280" cy="3608705"/>
            <a:chOff x="3366" y="4705"/>
            <a:chExt cx="8128" cy="5683"/>
          </a:xfrm>
        </p:grpSpPr>
        <p:pic>
          <p:nvPicPr>
            <p:cNvPr id="2" name="图片 1"/>
            <p:cNvPicPr/>
            <p:nvPr/>
          </p:nvPicPr>
          <p:blipFill>
            <a:blip r:embed="rId1"/>
            <a:stretch>
              <a:fillRect/>
            </a:stretch>
          </p:blipFill>
          <p:spPr>
            <a:xfrm>
              <a:off x="3366" y="4705"/>
              <a:ext cx="8128" cy="5683"/>
            </a:xfrm>
            <a:prstGeom prst="rect">
              <a:avLst/>
            </a:prstGeom>
          </p:spPr>
        </p:pic>
        <p:sp>
          <p:nvSpPr>
            <p:cNvPr id="3" name="矩形 2"/>
            <p:cNvSpPr/>
            <p:nvPr/>
          </p:nvSpPr>
          <p:spPr>
            <a:xfrm>
              <a:off x="9036" y="10070"/>
              <a:ext cx="2458" cy="318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none" lIns="91440" tIns="45720" rIns="91440" bIns="45720" numCol="1" anchor="ctr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ja-JP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MS PGothic" panose="020B0600070205080204" pitchFamily="34" charset="-128"/>
              </a:endParaRPr>
            </a:p>
          </p:txBody>
        </p:sp>
      </p:grpSp>
    </p:spTree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1.1</a:t>
            </a:r>
            <a:r>
              <a:rPr lang="zh-CN" altLang="en-US" dirty="0"/>
              <a:t> 贝叶斯</a:t>
            </a:r>
            <a:r>
              <a:rPr lang="zh-CN" altLang="en-US" dirty="0"/>
              <a:t>定理</a:t>
            </a:r>
            <a:endParaRPr lang="zh-CN" altLang="en-US" dirty="0"/>
          </a:p>
        </p:txBody>
      </p:sp>
      <p:sp>
        <p:nvSpPr>
          <p:cNvPr id="8196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8E30E0AE-C32F-496E-B2AA-D1BAC7225ABC}" type="slidenum">
              <a:rPr kumimoji="0" lang="en-US" altLang="ja-JP" sz="1400" b="0" smtClean="0">
                <a:solidFill>
                  <a:srgbClr val="A50021"/>
                </a:solidFill>
              </a:rPr>
            </a:fld>
            <a:endParaRPr kumimoji="0" lang="en-US" altLang="ja-JP" sz="1400" b="0">
              <a:solidFill>
                <a:srgbClr val="A50021"/>
              </a:solidFill>
            </a:endParaRPr>
          </a:p>
        </p:txBody>
      </p:sp>
      <p:sp>
        <p:nvSpPr>
          <p:cNvPr id="13" name="内容占位符 2"/>
          <p:cNvSpPr>
            <a:spLocks noGrp="1"/>
          </p:cNvSpPr>
          <p:nvPr>
            <p:ph idx="1"/>
          </p:nvPr>
        </p:nvSpPr>
        <p:spPr>
          <a:xfrm>
            <a:off x="250825" y="908050"/>
            <a:ext cx="8642350" cy="3660140"/>
          </a:xfrm>
        </p:spPr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zh-CN" altLang="en-US" sz="2800" dirty="0">
                <a:cs typeface="Times New Roman" panose="02020603050405020304" pitchFamily="18" charset="0"/>
              </a:rPr>
              <a:t>贝叶斯定理基本概念</a:t>
            </a:r>
            <a:r>
              <a:rPr lang="zh-CN" altLang="en-US" sz="2800" dirty="0">
                <a:cs typeface="Times New Roman" panose="02020603050405020304" pitchFamily="18" charset="0"/>
              </a:rPr>
              <a:t>引入</a:t>
            </a:r>
            <a:endParaRPr lang="zh-CN" altLang="en-US" sz="2800" dirty="0"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2400" dirty="0">
                <a:cs typeface="Times New Roman" panose="02020603050405020304" pitchFamily="18" charset="0"/>
              </a:rPr>
              <a:t>贝叶斯定理是基于假设的先验概率、给定假设下观察到不同数据的概率，提供了一种计算后验概率的方法。</a:t>
            </a:r>
            <a:endParaRPr lang="zh-CN" altLang="en-US" sz="2400" dirty="0"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defRPr/>
            </a:pPr>
            <a:r>
              <a:rPr lang="zh-CN" altLang="en-US" sz="2000" dirty="0">
                <a:cs typeface="Times New Roman" panose="02020603050405020304" pitchFamily="18" charset="0"/>
              </a:rPr>
              <a:t>先验概率：事件发生前的概率，基于历史数据</a:t>
            </a:r>
            <a:r>
              <a:rPr lang="zh-CN" altLang="en-US" sz="2000" dirty="0">
                <a:cs typeface="Times New Roman" panose="02020603050405020304" pitchFamily="18" charset="0"/>
              </a:rPr>
              <a:t>统计</a:t>
            </a:r>
            <a:endParaRPr lang="zh-CN" altLang="en-US" sz="2000" dirty="0"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defRPr/>
            </a:pPr>
            <a:r>
              <a:rPr lang="zh-CN" altLang="en-US" sz="2000" dirty="0">
                <a:cs typeface="Times New Roman" panose="02020603050405020304" pitchFamily="18" charset="0"/>
              </a:rPr>
              <a:t>后验概率：事件发生后的概率，基于先验概率求得的</a:t>
            </a:r>
            <a:r>
              <a:rPr lang="zh-CN" altLang="en-US" sz="2000" dirty="0">
                <a:cs typeface="Times New Roman" panose="02020603050405020304" pitchFamily="18" charset="0"/>
              </a:rPr>
              <a:t>反向条件概率</a:t>
            </a:r>
            <a:endParaRPr lang="zh-CN" altLang="en-US" sz="2000" dirty="0"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defRPr/>
            </a:pPr>
            <a:r>
              <a:rPr lang="zh-CN" altLang="en-US" sz="2000" dirty="0">
                <a:cs typeface="Times New Roman" panose="02020603050405020304" pitchFamily="18" charset="0"/>
              </a:rPr>
              <a:t>条件概率：一个事件发生后另一事件发生概率，</a:t>
            </a:r>
            <a:r>
              <a:rPr lang="zh-CN" altLang="en-US" sz="2000" dirty="0">
                <a:cs typeface="Times New Roman" panose="02020603050405020304" pitchFamily="18" charset="0"/>
              </a:rPr>
              <a:t>基于历史数据</a:t>
            </a:r>
            <a:r>
              <a:rPr lang="zh-CN" altLang="en-US" sz="2000" dirty="0">
                <a:cs typeface="Times New Roman" panose="02020603050405020304" pitchFamily="18" charset="0"/>
              </a:rPr>
              <a:t>统计</a:t>
            </a:r>
            <a:endParaRPr lang="zh-CN" altLang="en-US" sz="2000" dirty="0"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  <a:defRPr/>
            </a:pPr>
            <a:endParaRPr lang="zh-CN" altLang="en-US" sz="2800" dirty="0"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defRPr/>
            </a:pPr>
            <a:endParaRPr lang="zh-CN" altLang="en-US" sz="2800" dirty="0"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  <a:defRPr/>
            </a:pPr>
            <a:endParaRPr lang="en-US" altLang="zh-CN" sz="2800" dirty="0">
              <a:cs typeface="Times New Roman" panose="02020603050405020304" pitchFamily="18" charset="0"/>
            </a:endParaRPr>
          </a:p>
          <a:p>
            <a:pPr marL="471170" lvl="1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endParaRPr lang="zh-CN" altLang="en-US" sz="1800" dirty="0">
              <a:solidFill>
                <a:srgbClr val="000000"/>
              </a:solidFill>
              <a:cs typeface="Times New Roman" panose="02020603050405020304" pitchFamily="18" charset="0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1914525" y="4761230"/>
            <a:ext cx="5005705" cy="1287145"/>
            <a:chOff x="2267" y="6325"/>
            <a:chExt cx="8833" cy="2420"/>
          </a:xfrm>
        </p:grpSpPr>
        <p:pic>
          <p:nvPicPr>
            <p:cNvPr id="5" name="图片 4"/>
            <p:cNvPicPr/>
            <p:nvPr/>
          </p:nvPicPr>
          <p:blipFill>
            <a:blip r:embed="rId1"/>
            <a:srcRect l="4395" r="17560" b="20915"/>
            <a:stretch>
              <a:fillRect/>
            </a:stretch>
          </p:blipFill>
          <p:spPr>
            <a:xfrm>
              <a:off x="2267" y="6325"/>
              <a:ext cx="8833" cy="2420"/>
            </a:xfrm>
            <a:prstGeom prst="rect">
              <a:avLst/>
            </a:prstGeom>
          </p:spPr>
        </p:pic>
        <p:sp>
          <p:nvSpPr>
            <p:cNvPr id="6" name="矩形 5"/>
            <p:cNvSpPr/>
            <p:nvPr/>
          </p:nvSpPr>
          <p:spPr>
            <a:xfrm>
              <a:off x="2966" y="7892"/>
              <a:ext cx="2431" cy="853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none" lIns="91440" tIns="45720" rIns="91440" bIns="45720" numCol="1" anchor="ctr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ja-JP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MS PGothic" panose="020B0600070205080204" pitchFamily="34" charset="-128"/>
              </a:endParaRPr>
            </a:p>
          </p:txBody>
        </p:sp>
      </p:grpSp>
      <p:sp>
        <p:nvSpPr>
          <p:cNvPr id="8" name="文本框 7"/>
          <p:cNvSpPr txBox="1"/>
          <p:nvPr/>
        </p:nvSpPr>
        <p:spPr>
          <a:xfrm>
            <a:off x="2006600" y="5730875"/>
            <a:ext cx="210185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lvl="1"/>
            <a:r>
              <a:rPr lang="en-US" altLang="zh-CN" sz="20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A</a:t>
            </a:r>
            <a:r>
              <a:rPr lang="zh-CN" altLang="en-US" sz="20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的后验概率</a:t>
            </a:r>
            <a:endParaRPr lang="zh-CN" altLang="en-US" sz="2000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672330" y="4510405"/>
            <a:ext cx="12611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lvl="1"/>
            <a:r>
              <a:rPr lang="zh-CN" altLang="en-US" sz="20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条件概率</a:t>
            </a:r>
            <a:endParaRPr lang="zh-CN" altLang="en-US" sz="2000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209030" y="5542280"/>
            <a:ext cx="210185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lvl="1"/>
            <a:r>
              <a:rPr lang="zh-CN" altLang="en-US" sz="20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先验概率</a:t>
            </a:r>
            <a:endParaRPr lang="zh-CN" altLang="en-US" sz="2000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+mn-ea"/>
            </a:endParaRPr>
          </a:p>
        </p:txBody>
      </p:sp>
    </p:spTree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1.2</a:t>
            </a:r>
            <a:r>
              <a:rPr lang="zh-CN" altLang="en-US" dirty="0"/>
              <a:t> 朴素</a:t>
            </a:r>
            <a:r>
              <a:rPr lang="zh-CN" altLang="en-US" dirty="0"/>
              <a:t>贝叶斯</a:t>
            </a:r>
            <a:endParaRPr lang="zh-CN" altLang="en-US" dirty="0"/>
          </a:p>
        </p:txBody>
      </p:sp>
      <p:sp>
        <p:nvSpPr>
          <p:cNvPr id="8196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8E30E0AE-C32F-496E-B2AA-D1BAC7225ABC}" type="slidenum">
              <a:rPr kumimoji="0" lang="en-US" altLang="ja-JP" sz="1400" b="0" smtClean="0">
                <a:solidFill>
                  <a:srgbClr val="A50021"/>
                </a:solidFill>
              </a:rPr>
            </a:fld>
            <a:endParaRPr kumimoji="0" lang="en-US" altLang="ja-JP" sz="1400" b="0">
              <a:solidFill>
                <a:srgbClr val="A50021"/>
              </a:solidFill>
            </a:endParaRPr>
          </a:p>
        </p:txBody>
      </p:sp>
      <p:sp>
        <p:nvSpPr>
          <p:cNvPr id="13" name="内容占位符 2"/>
          <p:cNvSpPr>
            <a:spLocks noGrp="1"/>
          </p:cNvSpPr>
          <p:nvPr>
            <p:ph idx="1"/>
          </p:nvPr>
        </p:nvSpPr>
        <p:spPr>
          <a:xfrm>
            <a:off x="250825" y="908050"/>
            <a:ext cx="8642350" cy="5688965"/>
          </a:xfrm>
        </p:spPr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zh-CN" altLang="en-US" sz="2800" dirty="0">
                <a:cs typeface="Times New Roman" panose="02020603050405020304" pitchFamily="18" charset="0"/>
              </a:rPr>
              <a:t>朴素贝叶斯</a:t>
            </a:r>
            <a:endParaRPr lang="zh-CN" altLang="en-US" sz="2800" dirty="0">
              <a:cs typeface="Times New Roman" panose="02020603050405020304" pitchFamily="18" charset="0"/>
            </a:endParaRPr>
          </a:p>
          <a:p>
            <a:pPr marL="0" algn="l">
              <a:lnSpc>
                <a:spcPct val="150000"/>
              </a:lnSpc>
              <a:buSzTx/>
              <a:defRPr/>
            </a:pPr>
            <a:r>
              <a:rPr lang="zh-CN" altLang="en-US" sz="2400" dirty="0">
                <a:latin typeface="Cambria Math" panose="02040503050406030204" pitchFamily="18" charset="0"/>
                <a:cs typeface="Cambria Math" panose="02040503050406030204" pitchFamily="18" charset="0"/>
                <a:sym typeface="+mn-ea"/>
              </a:rPr>
              <a:t>算法核心</a:t>
            </a:r>
            <a:endParaRPr lang="zh-CN" altLang="en-US" sz="2400" dirty="0">
              <a:latin typeface="Cambria Math" panose="02040503050406030204" pitchFamily="18" charset="0"/>
              <a:cs typeface="Cambria Math" panose="02040503050406030204" pitchFamily="18" charset="0"/>
            </a:endParaRPr>
          </a:p>
          <a:p>
            <a:pPr marL="0" indent="0" algn="l">
              <a:lnSpc>
                <a:spcPct val="150000"/>
              </a:lnSpc>
              <a:buSzTx/>
              <a:buNone/>
              <a:defRPr/>
            </a:pPr>
            <a:r>
              <a:rPr lang="zh-CN" altLang="en-US" sz="2000" b="1" dirty="0">
                <a:cs typeface="Times New Roman" panose="02020603050405020304" pitchFamily="18" charset="0"/>
                <a:sym typeface="+mn-ea"/>
              </a:rPr>
              <a:t>对于给定的待分类样本，求解此样本出现条件下各类别出现的概率，哪个最大就认为此待分类样本属于哪个类别</a:t>
            </a:r>
            <a:endParaRPr lang="zh-CN" altLang="en-US" sz="2000" dirty="0"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2400" dirty="0">
                <a:cs typeface="Times New Roman" panose="02020603050405020304" pitchFamily="18" charset="0"/>
              </a:rPr>
              <a:t>条件独立假设</a:t>
            </a:r>
            <a:endParaRPr lang="zh-CN" altLang="en-US" sz="2400" dirty="0"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  <a:defRPr/>
            </a:pPr>
            <a:r>
              <a:rPr lang="zh-CN" altLang="en-US" sz="2000" dirty="0">
                <a:cs typeface="Times New Roman" panose="02020603050405020304" pitchFamily="18" charset="0"/>
              </a:rPr>
              <a:t>朴素：假定所有输入事件之间相互独立，</a:t>
            </a:r>
            <a:r>
              <a:rPr lang="zh-CN" altLang="en-US" sz="2000" dirty="0">
                <a:cs typeface="Times New Roman" panose="02020603050405020304" pitchFamily="18" charset="0"/>
              </a:rPr>
              <a:t>可以有效简化概率计算</a:t>
            </a:r>
            <a:endParaRPr lang="zh-CN" altLang="en-US" sz="2000" dirty="0"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  <a:defRPr/>
            </a:pPr>
            <a:r>
              <a:rPr lang="zh-CN" altLang="en-US" sz="2000" dirty="0">
                <a:cs typeface="Times New Roman" panose="02020603050405020304" pitchFamily="18" charset="0"/>
              </a:rPr>
              <a:t>朴素贝叶斯就是在假设待分类项的各属性互相独立的情况下</a:t>
            </a:r>
            <a:r>
              <a:rPr lang="zh-CN" altLang="en-US" sz="2000" dirty="0">
                <a:cs typeface="Times New Roman" panose="02020603050405020304" pitchFamily="18" charset="0"/>
              </a:rPr>
              <a:t>构造出来的分类算法</a:t>
            </a:r>
            <a:endParaRPr lang="zh-CN" altLang="en-US" sz="2000" dirty="0"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  <a:defRPr/>
            </a:pPr>
            <a:endParaRPr lang="en-US" altLang="zh-CN" sz="2800" dirty="0">
              <a:cs typeface="Times New Roman" panose="02020603050405020304" pitchFamily="18" charset="0"/>
            </a:endParaRPr>
          </a:p>
          <a:p>
            <a:pPr marL="471170" lvl="1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endParaRPr lang="zh-CN" altLang="en-US" sz="1800" dirty="0">
              <a:solidFill>
                <a:srgbClr val="000000"/>
              </a:solidFill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1.2</a:t>
            </a:r>
            <a:r>
              <a:rPr lang="zh-CN" altLang="en-US" dirty="0"/>
              <a:t> 朴素</a:t>
            </a:r>
            <a:r>
              <a:rPr lang="zh-CN" altLang="en-US" dirty="0"/>
              <a:t>贝叶斯</a:t>
            </a:r>
            <a:endParaRPr lang="zh-CN" altLang="en-US" dirty="0"/>
          </a:p>
        </p:txBody>
      </p:sp>
      <p:sp>
        <p:nvSpPr>
          <p:cNvPr id="8196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8E30E0AE-C32F-496E-B2AA-D1BAC7225ABC}" type="slidenum">
              <a:rPr kumimoji="0" lang="en-US" altLang="ja-JP" sz="1400" b="0" smtClean="0">
                <a:solidFill>
                  <a:srgbClr val="A50021"/>
                </a:solidFill>
              </a:rPr>
            </a:fld>
            <a:endParaRPr kumimoji="0" lang="en-US" altLang="ja-JP" sz="1400" b="0">
              <a:solidFill>
                <a:srgbClr val="A5002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250825" y="908050"/>
                <a:ext cx="8893810" cy="5949950"/>
              </a:xfrm>
            </p:spPr>
            <p:txBody>
              <a:bodyPr/>
              <a:lstStyle/>
              <a:p>
                <a:pPr>
                  <a:lnSpc>
                    <a:spcPct val="150000"/>
                  </a:lnSpc>
                  <a:defRPr/>
                </a:pPr>
                <a:r>
                  <a:rPr lang="zh-CN" altLang="en-US" sz="2800" dirty="0">
                    <a:cs typeface="Times New Roman" panose="02020603050405020304" pitchFamily="18" charset="0"/>
                  </a:rPr>
                  <a:t>朴素贝叶斯</a:t>
                </a:r>
                <a:r>
                  <a:rPr lang="zh-CN" altLang="en-US" sz="2800" dirty="0">
                    <a:cs typeface="Times New Roman" panose="02020603050405020304" pitchFamily="18" charset="0"/>
                  </a:rPr>
                  <a:t>基本思想</a:t>
                </a:r>
                <a:endParaRPr lang="zh-CN" altLang="en-US" sz="2800" dirty="0"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defRPr/>
                </a:pPr>
                <a:r>
                  <a:rPr lang="zh-CN" altLang="en-US" sz="2400" dirty="0">
                    <a:cs typeface="Times New Roman" panose="02020603050405020304" pitchFamily="18" charset="0"/>
                  </a:rPr>
                  <a:t>场景假设</a:t>
                </a:r>
                <a:endParaRPr lang="zh-CN" altLang="en-US" sz="2400" dirty="0"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  <a:defRPr/>
                </a:pPr>
                <a:r>
                  <a:rPr lang="zh-CN" altLang="en-US" sz="2000" dirty="0">
                    <a:cs typeface="Times New Roman" panose="02020603050405020304" pitchFamily="18" charset="0"/>
                  </a:rPr>
                  <a:t>存在一个待分类</a:t>
                </a:r>
                <a:r>
                  <a:rPr lang="zh-CN" altLang="en-US" sz="2000" dirty="0">
                    <a:cs typeface="Times New Roman" panose="02020603050405020304" pitchFamily="18" charset="0"/>
                  </a:rPr>
                  <a:t>西瓜集合，包含好瓜与坏瓜，贝叶斯分类的任务就是训练一个</a:t>
                </a:r>
                <a:r>
                  <a:rPr lang="en-US" altLang="zh-CN" sz="2000" dirty="0">
                    <a:cs typeface="Times New Roman" panose="02020603050405020304" pitchFamily="18" charset="0"/>
                  </a:rPr>
                  <a:t>“</a:t>
                </a:r>
                <a:r>
                  <a:rPr lang="zh-CN" altLang="en-US" sz="2000" dirty="0">
                    <a:cs typeface="Times New Roman" panose="02020603050405020304" pitchFamily="18" charset="0"/>
                  </a:rPr>
                  <a:t>坏瓜识别器</a:t>
                </a:r>
                <a:r>
                  <a:rPr lang="en-US" altLang="zh-CN" sz="2000" dirty="0">
                    <a:cs typeface="Times New Roman" panose="02020603050405020304" pitchFamily="18" charset="0"/>
                  </a:rPr>
                  <a:t>”</a:t>
                </a:r>
                <a:r>
                  <a:rPr lang="zh-CN" altLang="en-US" sz="2000" dirty="0">
                    <a:cs typeface="Times New Roman" panose="02020603050405020304" pitchFamily="18" charset="0"/>
                  </a:rPr>
                  <a:t>：</a:t>
                </a:r>
                <a:endParaRPr lang="zh-CN" altLang="en-US" sz="2000" dirty="0"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defRPr/>
                </a:pPr>
                <a:r>
                  <a:rPr lang="zh-CN" altLang="en-US" sz="2000" dirty="0">
                    <a:cs typeface="Times New Roman" panose="02020603050405020304" pitchFamily="18" charset="0"/>
                  </a:rPr>
                  <a:t>用离散特征表示一个待分类瓜：</a:t>
                </a:r>
                <a14:m>
                  <m:oMath xmlns:m="http://schemas.openxmlformats.org/officeDocument/2006/math">
                    <m:r>
                      <a:rPr lang="en-US" altLang="zh-CN" sz="2000" i="1" dirty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𝑋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={</m:t>
                    </m:r>
                    <m:sSub>
                      <m:sSubPr>
                        <m:ctrlPr>
                          <a:rPr lang="en-US" altLang="zh-CN" sz="20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0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000" i="1" dirty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0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0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000" i="1" dirty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,...,</m:t>
                    </m:r>
                    <m:sSub>
                      <m:sSubPr>
                        <m:ctrlPr>
                          <a:rPr lang="en-US" altLang="zh-CN" sz="20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0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2000" i="1" dirty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en-US" sz="20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，每个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0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20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对应一个</a:t>
                </a:r>
                <a:r>
                  <a:rPr lang="zh-CN" altLang="en-US" sz="20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特征，这些特征可能是西瓜敲击的声音、色泽、品种、根蒂等</a:t>
                </a:r>
                <a:endParaRPr lang="en-US" altLang="zh-CN" sz="2000" i="1" dirty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 marL="0" algn="l">
                  <a:lnSpc>
                    <a:spcPct val="150000"/>
                  </a:lnSpc>
                  <a:buSzTx/>
                  <a:defRPr/>
                </a:pPr>
                <a:r>
                  <a:rPr lang="zh-CN" altLang="en-US" sz="2000" dirty="0">
                    <a:cs typeface="Times New Roman" panose="02020603050405020304" pitchFamily="18" charset="0"/>
                  </a:rPr>
                  <a:t>定义分类集</a:t>
                </a:r>
                <a:r>
                  <a:rPr lang="en-US" altLang="zh-CN" sz="2000" dirty="0">
                    <a:cs typeface="Times New Roman" panose="02020603050405020304" pitchFamily="18" charset="0"/>
                  </a:rPr>
                  <a:t>Y</a:t>
                </a:r>
                <a:r>
                  <a:rPr lang="zh-CN" altLang="en-US" sz="2000" dirty="0">
                    <a:cs typeface="Times New Roman" panose="02020603050405020304" pitchFamily="18" charset="0"/>
                  </a:rPr>
                  <a:t>表示西瓜的好坏性质：</a:t>
                </a:r>
                <a14:m>
                  <m:oMath xmlns:m="http://schemas.openxmlformats.org/officeDocument/2006/math">
                    <m:r>
                      <a:rPr lang="en-US" altLang="zh-CN" sz="2000" i="1" dirty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𝑌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={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0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,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1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en-US" sz="20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，为了辅助理解，可以将分</a:t>
                </a:r>
                <a:r>
                  <a:rPr lang="en-US" altLang="zh-CN" sz="20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               </a:t>
                </a:r>
                <a:r>
                  <a:rPr lang="zh-CN" altLang="en-US" sz="20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类集推广为</a:t>
                </a:r>
                <a14:m>
                  <m:oMath xmlns:m="http://schemas.openxmlformats.org/officeDocument/2006/math">
                    <m:r>
                      <a:rPr lang="en-US" altLang="zh-CN" sz="2000" i="1" dirty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𝑌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={</m:t>
                    </m:r>
                    <m:sSub>
                      <m:sSubPr>
                        <m:ctrlPr>
                          <a:rPr lang="en-US" altLang="zh-CN" sz="20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0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000" i="1" dirty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0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0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000" i="1" dirty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,...,</m:t>
                    </m:r>
                    <m:sSub>
                      <m:sSubPr>
                        <m:ctrlPr>
                          <a:rPr lang="en-US" altLang="zh-CN" sz="20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0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2000" i="1" dirty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}</m:t>
                    </m:r>
                  </m:oMath>
                </a14:m>
                <a:endParaRPr lang="en-US" altLang="zh-CN" sz="2000" i="1" dirty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 marL="0" algn="l">
                  <a:lnSpc>
                    <a:spcPct val="150000"/>
                  </a:lnSpc>
                  <a:buSzTx/>
                  <a:defRPr/>
                </a:pPr>
                <a:r>
                  <a:rPr lang="zh-CN" altLang="en-US" sz="24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算法基本思想</a:t>
                </a:r>
                <a:endParaRPr lang="en-US" altLang="zh-CN" sz="2400" dirty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 marL="0" indent="0" algn="l">
                  <a:lnSpc>
                    <a:spcPct val="150000"/>
                  </a:lnSpc>
                  <a:buSzTx/>
                  <a:buNone/>
                  <a:defRPr/>
                </a:pPr>
                <a:r>
                  <a:rPr lang="zh-CN" altLang="en-US" sz="2000" dirty="0">
                    <a:cs typeface="Times New Roman" panose="02020603050405020304" pitchFamily="18" charset="0"/>
                  </a:rPr>
                  <a:t>对于待分类项</a:t>
                </a:r>
                <a:r>
                  <a:rPr lang="en-US" altLang="zh-CN" sz="2000" dirty="0">
                    <a:cs typeface="Times New Roman" panose="02020603050405020304" pitchFamily="18" charset="0"/>
                  </a:rPr>
                  <a:t>X</a:t>
                </a:r>
                <a:r>
                  <a:rPr lang="zh-CN" altLang="en-US" sz="2000" dirty="0">
                    <a:cs typeface="Times New Roman" panose="02020603050405020304" pitchFamily="18" charset="0"/>
                  </a:rPr>
                  <a:t>求解此项出现的条件下各个类别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0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2000" dirty="0">
                    <a:cs typeface="Times New Roman" panose="02020603050405020304" pitchFamily="18" charset="0"/>
                  </a:rPr>
                  <a:t>出现的概率，并将最大的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𝑃</m:t>
                        </m:r>
                        <m:r>
                          <a:rPr lang="en-US" altLang="zh-CN" sz="20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0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0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000" i="1" dirty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|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𝑋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0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作为最终分类结果</a:t>
                </a:r>
                <a:endParaRPr lang="zh-CN" altLang="en-US" sz="2000" dirty="0"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  <a:defRPr/>
                </a:pPr>
                <a:endParaRPr lang="en-US" altLang="zh-CN" sz="2800" dirty="0">
                  <a:cs typeface="Times New Roman" panose="02020603050405020304" pitchFamily="18" charset="0"/>
                </a:endParaRPr>
              </a:p>
              <a:p>
                <a:pPr marL="471170" lvl="1" indent="0" eaLnBrk="1" hangingPunct="1">
                  <a:lnSpc>
                    <a:spcPct val="150000"/>
                  </a:lnSpc>
                  <a:buFont typeface="Wingdings" panose="05000000000000000000" pitchFamily="2" charset="2"/>
                  <a:buNone/>
                  <a:defRPr/>
                </a:pPr>
                <a:endParaRPr lang="zh-CN" altLang="en-US" sz="1800" dirty="0">
                  <a:solidFill>
                    <a:srgbClr val="000000"/>
                  </a:solidFill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0825" y="908050"/>
                <a:ext cx="8893810" cy="5949950"/>
              </a:xfrm>
              <a:blipFill rotWithShape="1">
                <a:blip r:embed="rId1"/>
                <a:stretch>
                  <a:fillRect b="-180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1.2</a:t>
            </a:r>
            <a:r>
              <a:rPr lang="zh-CN" altLang="en-US" dirty="0"/>
              <a:t> 朴素</a:t>
            </a:r>
            <a:r>
              <a:rPr lang="zh-CN" altLang="en-US" dirty="0"/>
              <a:t>贝叶斯</a:t>
            </a:r>
            <a:endParaRPr lang="zh-CN" altLang="en-US" dirty="0"/>
          </a:p>
        </p:txBody>
      </p:sp>
      <p:sp>
        <p:nvSpPr>
          <p:cNvPr id="8196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8E30E0AE-C32F-496E-B2AA-D1BAC7225ABC}" type="slidenum">
              <a:rPr kumimoji="0" lang="en-US" altLang="ja-JP" sz="1400" b="0" smtClean="0">
                <a:solidFill>
                  <a:srgbClr val="A50021"/>
                </a:solidFill>
              </a:rPr>
            </a:fld>
            <a:endParaRPr kumimoji="0" lang="en-US" altLang="ja-JP" sz="1400" b="0">
              <a:solidFill>
                <a:srgbClr val="A5002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250825" y="908050"/>
                <a:ext cx="8893810" cy="5949950"/>
              </a:xfrm>
            </p:spPr>
            <p:txBody>
              <a:bodyPr/>
              <a:lstStyle/>
              <a:p>
                <a:pPr>
                  <a:lnSpc>
                    <a:spcPct val="150000"/>
                  </a:lnSpc>
                  <a:defRPr/>
                </a:pPr>
                <a:r>
                  <a:rPr lang="zh-CN" altLang="en-US" sz="2800" dirty="0">
                    <a:cs typeface="Times New Roman" panose="02020603050405020304" pitchFamily="18" charset="0"/>
                  </a:rPr>
                  <a:t>算法流程</a:t>
                </a:r>
                <a:endParaRPr lang="zh-CN" altLang="en-US" sz="2800" dirty="0"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  <a:defRPr/>
                </a:pPr>
                <a:r>
                  <a:rPr lang="zh-CN" altLang="en-US" sz="2000" dirty="0">
                    <a:cs typeface="Times New Roman" panose="02020603050405020304" pitchFamily="18" charset="0"/>
                  </a:rPr>
                  <a:t>假设特征属性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0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2000" dirty="0">
                    <a:cs typeface="Times New Roman" panose="02020603050405020304" pitchFamily="18" charset="0"/>
                  </a:rPr>
                  <a:t>之间相互独立，计算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𝑃</m:t>
                        </m:r>
                        <m:r>
                          <a:rPr lang="en-US" altLang="zh-CN" sz="20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0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0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000" i="1" dirty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|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𝑋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000" dirty="0">
                    <a:cs typeface="Times New Roman" panose="02020603050405020304" pitchFamily="18" charset="0"/>
                  </a:rPr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 </m:t>
                        </m:r>
                        <m:r>
                          <a:rPr lang="en-US" altLang="zh-CN" sz="20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𝑃</m:t>
                        </m:r>
                        <m:r>
                          <a:rPr lang="en-US" altLang="zh-CN" sz="20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0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0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000" i="1" dirty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|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𝑋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), </m:t>
                    </m:r>
                    <m:sSub>
                      <m:sSubPr>
                        <m:ctrlPr>
                          <a:rPr lang="en-US" altLang="zh-CN" sz="20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...,</m:t>
                        </m:r>
                        <m:r>
                          <a:rPr lang="en-US" altLang="zh-CN" sz="20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𝑃</m:t>
                        </m:r>
                        <m:r>
                          <a:rPr lang="en-US" altLang="zh-CN" sz="20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0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0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2000" i="1" dirty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|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𝑋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sz="2000" dirty="0">
                  <a:cs typeface="Times New Roman" panose="02020603050405020304" pitchFamily="18" charset="0"/>
                </a:endParaRPr>
              </a:p>
              <a:p>
                <a:pPr marL="0" indent="0" algn="ctr">
                  <a:lnSpc>
                    <a:spcPct val="150000"/>
                  </a:lnSpc>
                  <a:buNone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𝑃</m:t>
                        </m:r>
                        <m:r>
                          <a:rPr lang="en-US" altLang="zh-CN" sz="20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0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0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sz="2000" i="1" dirty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|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𝑋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)=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𝑚𝑎𝑥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altLang="zh-CN" sz="20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𝑃</m:t>
                        </m:r>
                        <m:r>
                          <a:rPr lang="en-US" altLang="zh-CN" sz="20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0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0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000" i="1" dirty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|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𝑋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0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𝑃</m:t>
                        </m:r>
                        <m:r>
                          <a:rPr lang="en-US" altLang="zh-CN" sz="20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0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0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000" i="1" dirty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|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𝑋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),...,</m:t>
                    </m:r>
                    <m:sSub>
                      <m:sSubPr>
                        <m:ctrlPr>
                          <a:rPr lang="en-US" altLang="zh-CN" sz="20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𝑃</m:t>
                        </m:r>
                        <m:r>
                          <a:rPr lang="en-US" altLang="zh-CN" sz="20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0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0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2000" i="1" dirty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|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𝑋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)}</m:t>
                    </m:r>
                  </m:oMath>
                </a14:m>
                <a:endParaRPr lang="zh-CN" altLang="en-US" sz="2400" dirty="0"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  <a:defRPr/>
                </a:pPr>
                <a:r>
                  <a:rPr lang="zh-CN" altLang="en-US" sz="2000" dirty="0">
                    <a:cs typeface="Times New Roman" panose="02020603050405020304" pitchFamily="18" charset="0"/>
                  </a:rPr>
                  <a:t>要求出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𝑃</m:t>
                        </m:r>
                        <m:r>
                          <a:rPr lang="en-US" altLang="zh-CN" sz="20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0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0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sz="2000" i="1" dirty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|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𝑋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0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需要分别求出贝叶斯公式中其他三项的值</a:t>
                </a:r>
                <a:endParaRPr lang="zh-CN" altLang="en-US" sz="2000" dirty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  <a:defRPr/>
                </a:pPr>
                <a:r>
                  <a:rPr lang="zh-CN" altLang="en-US" sz="2000" dirty="0">
                    <a:cs typeface="Times New Roman" panose="02020603050405020304" pitchFamily="18" charset="0"/>
                  </a:rPr>
                  <a:t>对于训练集，统计各个类别下各个特征属性的条件概率估计：</a:t>
                </a:r>
                <a:endParaRPr lang="zh-CN" altLang="en-US" sz="2000" dirty="0"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  <a:defRPr/>
                </a:pPr>
                <a:endParaRPr lang="zh-CN" altLang="en-US" sz="2000" dirty="0"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  <a:defRPr/>
                </a:pPr>
                <a:endParaRPr lang="zh-CN" altLang="en-US" sz="2000" dirty="0"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  <a:defRPr/>
                </a:pPr>
                <a:endParaRPr lang="zh-CN" altLang="en-US" sz="2000" dirty="0"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  <a:defRPr/>
                </a:pPr>
                <a:endParaRPr lang="zh-CN" altLang="en-US" sz="2000" dirty="0"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  <a:defRPr/>
                </a:pPr>
                <a:endParaRPr lang="zh-CN" altLang="en-US" sz="2000" dirty="0"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  <a:defRPr/>
                </a:pPr>
                <a:endParaRPr lang="zh-CN" altLang="en-US" sz="2000" dirty="0"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  <a:defRPr/>
                </a:pPr>
                <a:endParaRPr lang="zh-CN" altLang="en-US" sz="2000" dirty="0"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defRPr/>
                </a:pPr>
                <a:endParaRPr lang="zh-CN" altLang="en-US" sz="2800" dirty="0"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  <a:defRPr/>
                </a:pPr>
                <a:endParaRPr lang="en-US" altLang="zh-CN" sz="2800" dirty="0">
                  <a:cs typeface="Times New Roman" panose="02020603050405020304" pitchFamily="18" charset="0"/>
                </a:endParaRPr>
              </a:p>
              <a:p>
                <a:pPr marL="471170" lvl="1" indent="0" eaLnBrk="1" hangingPunct="1">
                  <a:lnSpc>
                    <a:spcPct val="150000"/>
                  </a:lnSpc>
                  <a:buFont typeface="Wingdings" panose="05000000000000000000" pitchFamily="2" charset="2"/>
                  <a:buNone/>
                  <a:defRPr/>
                </a:pPr>
                <a:endParaRPr lang="zh-CN" altLang="en-US" sz="1800" dirty="0">
                  <a:solidFill>
                    <a:srgbClr val="000000"/>
                  </a:solidFill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0825" y="908050"/>
                <a:ext cx="8893810" cy="5949950"/>
              </a:xfrm>
              <a:blipFill rotWithShape="1">
                <a:blip r:embed="rId1"/>
                <a:stretch>
                  <a:fillRect b="-395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图片 1"/>
          <p:cNvPicPr/>
          <p:nvPr/>
        </p:nvPicPr>
        <p:blipFill>
          <a:blip r:embed="rId2"/>
          <a:stretch>
            <a:fillRect/>
          </a:stretch>
        </p:blipFill>
        <p:spPr>
          <a:xfrm>
            <a:off x="2414905" y="3818890"/>
            <a:ext cx="4654550" cy="2593975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/>
          <p:nvPr/>
        </p:nvPicPr>
        <p:blipFill>
          <a:blip r:embed="rId1"/>
          <a:stretch>
            <a:fillRect/>
          </a:stretch>
        </p:blipFill>
        <p:spPr>
          <a:xfrm>
            <a:off x="1371600" y="3777933"/>
            <a:ext cx="6019800" cy="1209675"/>
          </a:xfrm>
          <a:prstGeom prst="rect">
            <a:avLst/>
          </a:prstGeom>
        </p:spPr>
      </p:pic>
      <p:sp>
        <p:nvSpPr>
          <p:cNvPr id="8194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1.2</a:t>
            </a:r>
            <a:r>
              <a:rPr lang="zh-CN" altLang="en-US" dirty="0"/>
              <a:t> 朴素</a:t>
            </a:r>
            <a:r>
              <a:rPr lang="zh-CN" altLang="en-US" dirty="0"/>
              <a:t>贝叶斯</a:t>
            </a:r>
            <a:endParaRPr lang="zh-CN" altLang="en-US" dirty="0"/>
          </a:p>
        </p:txBody>
      </p:sp>
      <p:sp>
        <p:nvSpPr>
          <p:cNvPr id="8196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8E30E0AE-C32F-496E-B2AA-D1BAC7225ABC}" type="slidenum">
              <a:rPr kumimoji="0" lang="en-US" altLang="ja-JP" sz="1400" b="0" smtClean="0">
                <a:solidFill>
                  <a:srgbClr val="A50021"/>
                </a:solidFill>
              </a:rPr>
            </a:fld>
            <a:endParaRPr kumimoji="0" lang="en-US" altLang="ja-JP" sz="1400" b="0">
              <a:solidFill>
                <a:srgbClr val="A50021"/>
              </a:solidFill>
            </a:endParaRPr>
          </a:p>
        </p:txBody>
      </p:sp>
      <p:sp>
        <p:nvSpPr>
          <p:cNvPr id="13" name="内容占位符 2"/>
          <p:cNvSpPr>
            <a:spLocks noGrp="1"/>
          </p:cNvSpPr>
          <p:nvPr>
            <p:ph idx="1"/>
          </p:nvPr>
        </p:nvSpPr>
        <p:spPr>
          <a:xfrm>
            <a:off x="250825" y="908050"/>
            <a:ext cx="8893810" cy="5949950"/>
          </a:xfrm>
        </p:spPr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zh-CN" altLang="en-US" sz="2800" dirty="0">
                <a:cs typeface="Times New Roman" panose="02020603050405020304" pitchFamily="18" charset="0"/>
              </a:rPr>
              <a:t>算法流程</a:t>
            </a:r>
            <a:endParaRPr lang="zh-CN" altLang="en-US" sz="2800" dirty="0"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  <a:defRPr/>
            </a:pPr>
            <a:r>
              <a:rPr lang="zh-CN" altLang="en-US" sz="2000" dirty="0">
                <a:cs typeface="Times New Roman" panose="02020603050405020304" pitchFamily="18" charset="0"/>
              </a:rPr>
              <a:t>根据贝叶斯公式</a:t>
            </a:r>
            <a:endParaRPr lang="zh-CN" altLang="en-US" sz="2000" dirty="0"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  <a:defRPr/>
            </a:pPr>
            <a:endParaRPr lang="zh-CN" altLang="en-US" sz="2000" dirty="0"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  <a:buSzTx/>
              <a:defRPr/>
            </a:pPr>
            <a:r>
              <a:rPr lang="zh-CN" altLang="en-US" sz="2400" dirty="0">
                <a:solidFill>
                  <a:srgbClr val="C00000"/>
                </a:solidFill>
                <a:cs typeface="Times New Roman" panose="02020603050405020304" pitchFamily="18" charset="0"/>
              </a:rPr>
              <a:t>分子部分</a:t>
            </a:r>
            <a:endParaRPr lang="zh-CN" altLang="en-US" sz="2400" dirty="0">
              <a:solidFill>
                <a:srgbClr val="C00000"/>
              </a:solidFill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  <a:defRPr/>
            </a:pPr>
            <a:r>
              <a:rPr lang="zh-CN" altLang="en-US" sz="2000" dirty="0">
                <a:cs typeface="Times New Roman" panose="02020603050405020304" pitchFamily="18" charset="0"/>
              </a:rPr>
              <a:t>由于特征属性之间相互独立，所以进一步推出</a:t>
            </a:r>
            <a:endParaRPr lang="zh-CN" altLang="en-US" sz="2000" dirty="0"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  <a:defRPr/>
            </a:pPr>
            <a:endParaRPr lang="zh-CN" altLang="en-US" sz="2000" dirty="0"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  <a:defRPr/>
            </a:pPr>
            <a:endParaRPr lang="zh-CN" altLang="en-US" sz="2000" dirty="0"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  <a:defRPr/>
            </a:pPr>
            <a:r>
              <a:rPr lang="zh-CN" altLang="en-US" sz="2000" dirty="0">
                <a:cs typeface="Times New Roman" panose="02020603050405020304" pitchFamily="18" charset="0"/>
              </a:rPr>
              <a:t>整理得到</a:t>
            </a:r>
            <a:endParaRPr lang="zh-CN" altLang="en-US" sz="2000" dirty="0"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  <a:defRPr/>
            </a:pPr>
            <a:endParaRPr lang="zh-CN" altLang="en-US" sz="2000" dirty="0"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  <a:defRPr/>
            </a:pPr>
            <a:endParaRPr lang="zh-CN" altLang="en-US" sz="2000" dirty="0"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  <a:defRPr/>
            </a:pPr>
            <a:endParaRPr lang="zh-CN" altLang="en-US" sz="2000" dirty="0"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defRPr/>
            </a:pPr>
            <a:endParaRPr lang="zh-CN" altLang="en-US" sz="2800" dirty="0"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  <a:defRPr/>
            </a:pPr>
            <a:endParaRPr lang="en-US" altLang="zh-CN" sz="2800" dirty="0">
              <a:cs typeface="Times New Roman" panose="02020603050405020304" pitchFamily="18" charset="0"/>
            </a:endParaRPr>
          </a:p>
          <a:p>
            <a:pPr marL="471170" lvl="1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endParaRPr lang="zh-CN" altLang="en-US" sz="1800" dirty="0">
              <a:solidFill>
                <a:srgbClr val="000000"/>
              </a:solidFill>
              <a:cs typeface="Times New Roman" panose="02020603050405020304" pitchFamily="18" charset="0"/>
            </a:endParaRPr>
          </a:p>
        </p:txBody>
      </p:sp>
      <p:pic>
        <p:nvPicPr>
          <p:cNvPr id="3" name="图片 2"/>
          <p:cNvPicPr/>
          <p:nvPr/>
        </p:nvPicPr>
        <p:blipFill>
          <a:blip r:embed="rId2"/>
          <a:stretch>
            <a:fillRect/>
          </a:stretch>
        </p:blipFill>
        <p:spPr>
          <a:xfrm>
            <a:off x="2263775" y="1664335"/>
            <a:ext cx="3053080" cy="868680"/>
          </a:xfrm>
          <a:prstGeom prst="rect">
            <a:avLst/>
          </a:prstGeom>
        </p:spPr>
      </p:pic>
      <p:pic>
        <p:nvPicPr>
          <p:cNvPr id="5" name="图片 4"/>
          <p:cNvPicPr/>
          <p:nvPr/>
        </p:nvPicPr>
        <p:blipFill>
          <a:blip r:embed="rId3"/>
          <a:srcRect l="889" t="6583" r="-889" b="-6583"/>
          <a:stretch>
            <a:fillRect/>
          </a:stretch>
        </p:blipFill>
        <p:spPr>
          <a:xfrm>
            <a:off x="1488758" y="4785995"/>
            <a:ext cx="2714625" cy="7620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4895850" y="2193925"/>
            <a:ext cx="3048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0">
                <a:solidFill>
                  <a:srgbClr val="C00000"/>
                </a:solidFill>
                <a:latin typeface="+mn-ea"/>
                <a:ea typeface="+mn-ea"/>
              </a:rPr>
              <a:t>通常是常数固定的</a:t>
            </a:r>
            <a:endParaRPr lang="zh-CN" altLang="en-US" b="0">
              <a:solidFill>
                <a:srgbClr val="C00000"/>
              </a:solidFill>
              <a:latin typeface="+mn-ea"/>
              <a:ea typeface="+mn-ea"/>
            </a:endParaRPr>
          </a:p>
        </p:txBody>
      </p:sp>
      <p:pic>
        <p:nvPicPr>
          <p:cNvPr id="7" name="图片 6"/>
          <p:cNvPicPr/>
          <p:nvPr/>
        </p:nvPicPr>
        <p:blipFill>
          <a:blip r:embed="rId4"/>
          <a:srcRect l="38" t="24605" b="14158"/>
          <a:stretch>
            <a:fillRect/>
          </a:stretch>
        </p:blipFill>
        <p:spPr>
          <a:xfrm>
            <a:off x="4295775" y="4917440"/>
            <a:ext cx="1656715" cy="565785"/>
          </a:xfrm>
          <a:prstGeom prst="rect">
            <a:avLst/>
          </a:prstGeom>
        </p:spPr>
      </p:pic>
      <p:pic>
        <p:nvPicPr>
          <p:cNvPr id="8" name="图片 7"/>
          <p:cNvPicPr/>
          <p:nvPr/>
        </p:nvPicPr>
        <p:blipFill>
          <a:blip r:embed="rId5"/>
          <a:stretch>
            <a:fillRect/>
          </a:stretch>
        </p:blipFill>
        <p:spPr>
          <a:xfrm>
            <a:off x="1532255" y="5600065"/>
            <a:ext cx="4930775" cy="1072515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1.3</a:t>
            </a:r>
            <a:r>
              <a:rPr lang="zh-CN" altLang="en-US" dirty="0"/>
              <a:t> 朴素贝叶斯</a:t>
            </a:r>
            <a:r>
              <a:rPr lang="zh-CN" altLang="en-US" dirty="0"/>
              <a:t>应用实例</a:t>
            </a:r>
            <a:endParaRPr lang="zh-CN" altLang="en-US" dirty="0"/>
          </a:p>
        </p:txBody>
      </p:sp>
      <p:sp>
        <p:nvSpPr>
          <p:cNvPr id="8196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8E30E0AE-C32F-496E-B2AA-D1BAC7225ABC}" type="slidenum">
              <a:rPr kumimoji="0" lang="en-US" altLang="ja-JP" sz="1400" b="0" smtClean="0">
                <a:solidFill>
                  <a:srgbClr val="A50021"/>
                </a:solidFill>
              </a:rPr>
            </a:fld>
            <a:endParaRPr kumimoji="0" lang="en-US" altLang="ja-JP" sz="1400" b="0">
              <a:solidFill>
                <a:srgbClr val="A50021"/>
              </a:solidFill>
            </a:endParaRPr>
          </a:p>
        </p:txBody>
      </p:sp>
      <p:sp>
        <p:nvSpPr>
          <p:cNvPr id="13" name="内容占位符 2"/>
          <p:cNvSpPr>
            <a:spLocks noGrp="1"/>
          </p:cNvSpPr>
          <p:nvPr>
            <p:ph idx="1"/>
          </p:nvPr>
        </p:nvSpPr>
        <p:spPr>
          <a:xfrm>
            <a:off x="250825" y="908050"/>
            <a:ext cx="8893810" cy="5949950"/>
          </a:xfrm>
        </p:spPr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zh-CN" altLang="en-US" sz="2800" dirty="0">
                <a:cs typeface="Times New Roman" panose="02020603050405020304" pitchFamily="18" charset="0"/>
              </a:rPr>
              <a:t>多项式</a:t>
            </a:r>
            <a:r>
              <a:rPr lang="en-US" altLang="zh-CN" sz="2800" dirty="0">
                <a:cs typeface="Times New Roman" panose="02020603050405020304" pitchFamily="18" charset="0"/>
              </a:rPr>
              <a:t>vs</a:t>
            </a:r>
            <a:r>
              <a:rPr lang="zh-CN" altLang="en-US" sz="2800" dirty="0">
                <a:cs typeface="Times New Roman" panose="02020603050405020304" pitchFamily="18" charset="0"/>
              </a:rPr>
              <a:t>伯努利朴素贝叶斯</a:t>
            </a:r>
            <a:endParaRPr lang="zh-CN" altLang="en-US" sz="2800" dirty="0"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2400" dirty="0">
                <a:cs typeface="Times New Roman" panose="02020603050405020304" pitchFamily="18" charset="0"/>
              </a:rPr>
              <a:t>文本特征提取</a:t>
            </a:r>
            <a:endParaRPr lang="zh-CN" altLang="en-US" sz="2400" dirty="0"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  <a:defRPr/>
            </a:pPr>
            <a:r>
              <a:rPr lang="zh-CN" altLang="en-US" sz="2000" b="1" dirty="0">
                <a:cs typeface="Times New Roman" panose="02020603050405020304" pitchFamily="18" charset="0"/>
                <a:sym typeface="+mn-ea"/>
              </a:rPr>
              <a:t>词袋模型</a:t>
            </a:r>
            <a:r>
              <a:rPr lang="en-US" altLang="zh-CN" sz="2000" dirty="0">
                <a:cs typeface="Times New Roman" panose="02020603050405020304" pitchFamily="18" charset="0"/>
              </a:rPr>
              <a:t>(</a:t>
            </a:r>
            <a:r>
              <a:rPr lang="en-US" altLang="zh-CN" sz="2000" b="1" dirty="0">
                <a:cs typeface="Times New Roman" panose="02020603050405020304" pitchFamily="18" charset="0"/>
              </a:rPr>
              <a:t>Bag of  Words, BoW)</a:t>
            </a:r>
            <a:r>
              <a:rPr lang="zh-CN" altLang="en-US" sz="2000" dirty="0">
                <a:cs typeface="Times New Roman" panose="02020603050405020304" pitchFamily="18" charset="0"/>
              </a:rPr>
              <a:t>将所有单词装进一个集合袋子中，不考虑语法和语序，各单词之间相互独立，只记录每个单词出现频次</a:t>
            </a:r>
            <a:endParaRPr lang="zh-CN" altLang="en-US" sz="2000" dirty="0"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  <a:defRPr/>
            </a:pPr>
            <a:r>
              <a:rPr lang="zh-CN" altLang="en-US" sz="2000" dirty="0">
                <a:cs typeface="Times New Roman" panose="02020603050405020304" pitchFamily="18" charset="0"/>
              </a:rPr>
              <a:t>例如：假设一个数据集中</a:t>
            </a:r>
            <a:r>
              <a:rPr lang="zh-CN" altLang="en-US" sz="2000" dirty="0">
                <a:cs typeface="Times New Roman" panose="02020603050405020304" pitchFamily="18" charset="0"/>
              </a:rPr>
              <a:t>仅包含两条短信</a:t>
            </a:r>
            <a:endParaRPr lang="zh-CN" altLang="en-US" sz="2000" dirty="0"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  <a:defRPr/>
            </a:pPr>
            <a:endParaRPr lang="zh-CN" altLang="en-US" sz="2000" dirty="0"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  <a:defRPr/>
            </a:pPr>
            <a:r>
              <a:rPr lang="en-US" altLang="zh-CN" sz="2000" b="1" dirty="0">
                <a:cs typeface="Times New Roman" panose="02020603050405020304" pitchFamily="18" charset="0"/>
                <a:sym typeface="+mn-ea"/>
              </a:rPr>
              <a:t>                                                                    </a:t>
            </a:r>
            <a:endParaRPr lang="zh-CN" altLang="en-US" sz="2000" dirty="0"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  <a:defRPr/>
            </a:pPr>
            <a:endParaRPr lang="zh-CN" altLang="en-US" sz="2000" dirty="0"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defRPr/>
            </a:pPr>
            <a:endParaRPr lang="zh-CN" altLang="en-US" sz="2800" dirty="0"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  <a:defRPr/>
            </a:pPr>
            <a:endParaRPr lang="en-US" altLang="zh-CN" sz="2800" dirty="0">
              <a:cs typeface="Times New Roman" panose="02020603050405020304" pitchFamily="18" charset="0"/>
            </a:endParaRPr>
          </a:p>
          <a:p>
            <a:pPr marL="471170" lvl="1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endParaRPr lang="zh-CN" altLang="en-US" sz="1800" dirty="0">
              <a:solidFill>
                <a:srgbClr val="000000"/>
              </a:solidFill>
              <a:cs typeface="Times New Roman" panose="0202060305040502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510" y="3860165"/>
            <a:ext cx="3400425" cy="130492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510" y="5307965"/>
            <a:ext cx="6067425" cy="1285875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1.3</a:t>
            </a:r>
            <a:r>
              <a:rPr lang="zh-CN" altLang="en-US" dirty="0"/>
              <a:t> 朴素贝叶斯</a:t>
            </a:r>
            <a:r>
              <a:rPr lang="zh-CN" altLang="en-US" dirty="0"/>
              <a:t>应用实例</a:t>
            </a:r>
            <a:endParaRPr lang="zh-CN" altLang="en-US" dirty="0"/>
          </a:p>
        </p:txBody>
      </p:sp>
      <p:sp>
        <p:nvSpPr>
          <p:cNvPr id="8196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8E30E0AE-C32F-496E-B2AA-D1BAC7225ABC}" type="slidenum">
              <a:rPr kumimoji="0" lang="en-US" altLang="ja-JP" sz="1400" b="0" smtClean="0">
                <a:solidFill>
                  <a:srgbClr val="A50021"/>
                </a:solidFill>
              </a:rPr>
            </a:fld>
            <a:endParaRPr kumimoji="0" lang="en-US" altLang="ja-JP" sz="1400" b="0">
              <a:solidFill>
                <a:srgbClr val="A50021"/>
              </a:solidFill>
            </a:endParaRPr>
          </a:p>
        </p:txBody>
      </p:sp>
      <p:sp>
        <p:nvSpPr>
          <p:cNvPr id="13" name="内容占位符 2"/>
          <p:cNvSpPr>
            <a:spLocks noGrp="1"/>
          </p:cNvSpPr>
          <p:nvPr>
            <p:ph idx="1"/>
          </p:nvPr>
        </p:nvSpPr>
        <p:spPr>
          <a:xfrm>
            <a:off x="250825" y="908050"/>
            <a:ext cx="8893810" cy="5949950"/>
          </a:xfrm>
        </p:spPr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zh-CN" altLang="en-US" sz="2800" dirty="0">
                <a:cs typeface="Times New Roman" panose="02020603050405020304" pitchFamily="18" charset="0"/>
              </a:rPr>
              <a:t>多项式朴素贝叶斯</a:t>
            </a:r>
            <a:endParaRPr lang="zh-CN" altLang="en-US" sz="2800" dirty="0"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  <a:defRPr/>
            </a:pPr>
            <a:r>
              <a:rPr lang="zh-CN" altLang="en-US" sz="2000" dirty="0">
                <a:cs typeface="Times New Roman" panose="02020603050405020304" pitchFamily="18" charset="0"/>
              </a:rPr>
              <a:t>多项式朴素贝叶斯</a:t>
            </a:r>
            <a:r>
              <a:rPr lang="en-US" altLang="zh-CN" sz="2000" dirty="0">
                <a:cs typeface="Times New Roman" panose="02020603050405020304" pitchFamily="18" charset="0"/>
              </a:rPr>
              <a:t> (MultinomialNB)</a:t>
            </a:r>
            <a:r>
              <a:rPr lang="zh-CN" altLang="en-US" sz="2000" dirty="0">
                <a:cs typeface="Times New Roman" panose="02020603050405020304" pitchFamily="18" charset="0"/>
              </a:rPr>
              <a:t>的似然度公式是基于多项式分布定义的</a:t>
            </a:r>
            <a:r>
              <a:rPr lang="en-US" altLang="zh-CN" sz="2000" dirty="0">
                <a:cs typeface="Times New Roman" panose="02020603050405020304" pitchFamily="18" charset="0"/>
              </a:rPr>
              <a:t> </a:t>
            </a:r>
            <a:r>
              <a:rPr lang="zh-CN" altLang="en-US" sz="2000" dirty="0">
                <a:cs typeface="Times New Roman" panose="02020603050405020304" pitchFamily="18" charset="0"/>
              </a:rPr>
              <a:t>。多项式分布的本质就是统计</a:t>
            </a:r>
            <a:r>
              <a:rPr lang="en-US" altLang="zh-CN" sz="2000" dirty="0">
                <a:cs typeface="Times New Roman" panose="02020603050405020304" pitchFamily="18" charset="0"/>
              </a:rPr>
              <a:t>“</a:t>
            </a:r>
            <a:r>
              <a:rPr lang="zh-CN" altLang="en-US" sz="2000" dirty="0">
                <a:cs typeface="Times New Roman" panose="02020603050405020304" pitchFamily="18" charset="0"/>
              </a:rPr>
              <a:t>多次独立试验中各结果出现的次数</a:t>
            </a:r>
            <a:r>
              <a:rPr lang="en-US" altLang="zh-CN" sz="2000" dirty="0">
                <a:cs typeface="Times New Roman" panose="02020603050405020304" pitchFamily="18" charset="0"/>
              </a:rPr>
              <a:t>”</a:t>
            </a:r>
            <a:r>
              <a:rPr lang="zh-CN" altLang="en-US" sz="2000" dirty="0">
                <a:cs typeface="Times New Roman" panose="02020603050405020304" pitchFamily="18" charset="0"/>
              </a:rPr>
              <a:t>，因此它在数学逻辑上必须依赖词频（词袋模型）</a:t>
            </a:r>
            <a:r>
              <a:rPr lang="en-US" altLang="zh-CN" sz="2000" dirty="0">
                <a:cs typeface="Times New Roman" panose="02020603050405020304" pitchFamily="18" charset="0"/>
              </a:rPr>
              <a:t> </a:t>
            </a:r>
            <a:r>
              <a:rPr lang="zh-CN" altLang="en-US" sz="2000" dirty="0">
                <a:cs typeface="Times New Roman" panose="02020603050405020304" pitchFamily="18" charset="0"/>
              </a:rPr>
              <a:t>。</a:t>
            </a:r>
            <a:endParaRPr lang="zh-CN" altLang="en-US" sz="2000" dirty="0"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  <a:defRPr/>
            </a:pPr>
            <a:endParaRPr lang="zh-CN" altLang="en-US" sz="2000" dirty="0"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  <a:defRPr/>
            </a:pPr>
            <a:endParaRPr lang="zh-CN" altLang="en-US" sz="2000" dirty="0"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  <a:defRPr/>
            </a:pPr>
            <a:endParaRPr lang="zh-CN" altLang="en-US" sz="2000" dirty="0"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  <a:defRPr/>
            </a:pPr>
            <a:endParaRPr lang="zh-CN" altLang="en-US" sz="2000" dirty="0"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  <a:defRPr/>
            </a:pPr>
            <a:endParaRPr lang="zh-CN" altLang="en-US" sz="2000" dirty="0"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  <a:defRPr/>
            </a:pPr>
            <a:r>
              <a:rPr lang="en-US" altLang="zh-CN" sz="2000" dirty="0">
                <a:cs typeface="Times New Roman" panose="02020603050405020304" pitchFamily="18" charset="0"/>
              </a:rPr>
              <a:t>Sklearn</a:t>
            </a:r>
            <a:r>
              <a:rPr lang="zh-CN" altLang="en-US" sz="2000" dirty="0">
                <a:cs typeface="Times New Roman" panose="02020603050405020304" pitchFamily="18" charset="0"/>
              </a:rPr>
              <a:t>库中对应于</a:t>
            </a:r>
            <a:r>
              <a:rPr lang="en-US" altLang="zh-CN" sz="2000" dirty="0">
                <a:cs typeface="Times New Roman" panose="02020603050405020304" pitchFamily="18" charset="0"/>
              </a:rPr>
              <a:t> MultinomialNB()</a:t>
            </a:r>
            <a:r>
              <a:rPr lang="zh-CN" altLang="en-US" sz="2000" dirty="0">
                <a:cs typeface="Times New Roman" panose="02020603050405020304" pitchFamily="18" charset="0"/>
              </a:rPr>
              <a:t>工具，其中可调参数</a:t>
            </a:r>
            <a:r>
              <a:rPr lang="en-US" altLang="zh-CN" sz="2000" dirty="0">
                <a:cs typeface="Times New Roman" panose="02020603050405020304" pitchFamily="18" charset="0"/>
              </a:rPr>
              <a:t>alpha</a:t>
            </a:r>
            <a:r>
              <a:rPr lang="zh-CN" altLang="en-US" sz="2000" dirty="0">
                <a:cs typeface="Times New Roman" panose="02020603050405020304" pitchFamily="18" charset="0"/>
              </a:rPr>
              <a:t>默认值为</a:t>
            </a:r>
            <a:r>
              <a:rPr lang="en-US" altLang="zh-CN" sz="2000" dirty="0">
                <a:cs typeface="Times New Roman" panose="02020603050405020304" pitchFamily="18" charset="0"/>
              </a:rPr>
              <a:t>1</a:t>
            </a:r>
            <a:r>
              <a:rPr lang="zh-CN" altLang="en-US" sz="2000" dirty="0">
                <a:cs typeface="Times New Roman" panose="02020603050405020304" pitchFamily="18" charset="0"/>
              </a:rPr>
              <a:t>，模型调优时可</a:t>
            </a:r>
            <a:r>
              <a:rPr lang="zh-CN" altLang="en-US" sz="2000" dirty="0">
                <a:cs typeface="Times New Roman" panose="02020603050405020304" pitchFamily="18" charset="0"/>
              </a:rPr>
              <a:t>做适当修改</a:t>
            </a:r>
            <a:endParaRPr lang="en-US" altLang="zh-CN" sz="2000" dirty="0"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  <a:defRPr/>
            </a:pPr>
            <a:endParaRPr lang="zh-CN" altLang="en-US" sz="2800" dirty="0"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  <a:defRPr/>
            </a:pPr>
            <a:endParaRPr lang="en-US" altLang="zh-CN" sz="2800" dirty="0">
              <a:cs typeface="Times New Roman" panose="02020603050405020304" pitchFamily="18" charset="0"/>
            </a:endParaRPr>
          </a:p>
          <a:p>
            <a:pPr marL="471170" lvl="1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endParaRPr lang="zh-CN" altLang="en-US" sz="1800" dirty="0">
              <a:solidFill>
                <a:srgbClr val="000000"/>
              </a:solidFill>
              <a:cs typeface="Times New Roman" panose="02020603050405020304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4960" y="3154045"/>
            <a:ext cx="5591175" cy="2505075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1.3</a:t>
            </a:r>
            <a:r>
              <a:rPr lang="zh-CN" altLang="en-US" dirty="0"/>
              <a:t> 朴素贝叶斯</a:t>
            </a:r>
            <a:r>
              <a:rPr lang="zh-CN" altLang="en-US" dirty="0"/>
              <a:t>应用实例</a:t>
            </a:r>
            <a:endParaRPr lang="zh-CN" altLang="en-US" dirty="0"/>
          </a:p>
        </p:txBody>
      </p:sp>
      <p:sp>
        <p:nvSpPr>
          <p:cNvPr id="8196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8E30E0AE-C32F-496E-B2AA-D1BAC7225ABC}" type="slidenum">
              <a:rPr kumimoji="0" lang="en-US" altLang="ja-JP" sz="1400" b="0" smtClean="0">
                <a:solidFill>
                  <a:srgbClr val="A50021"/>
                </a:solidFill>
              </a:rPr>
            </a:fld>
            <a:endParaRPr kumimoji="0" lang="en-US" altLang="ja-JP" sz="1400" b="0">
              <a:solidFill>
                <a:srgbClr val="A50021"/>
              </a:solidFill>
            </a:endParaRPr>
          </a:p>
        </p:txBody>
      </p:sp>
      <p:sp>
        <p:nvSpPr>
          <p:cNvPr id="13" name="内容占位符 2"/>
          <p:cNvSpPr>
            <a:spLocks noGrp="1"/>
          </p:cNvSpPr>
          <p:nvPr>
            <p:ph idx="1"/>
          </p:nvPr>
        </p:nvSpPr>
        <p:spPr>
          <a:xfrm>
            <a:off x="250825" y="908050"/>
            <a:ext cx="8893810" cy="5949950"/>
          </a:xfrm>
        </p:spPr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zh-CN" altLang="en-US" sz="2800" dirty="0">
                <a:cs typeface="Times New Roman" panose="02020603050405020304" pitchFamily="18" charset="0"/>
              </a:rPr>
              <a:t>伯努利朴素贝叶斯</a:t>
            </a:r>
            <a:endParaRPr lang="zh-CN" altLang="en-US" sz="2800" dirty="0"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  <a:defRPr/>
            </a:pPr>
            <a:r>
              <a:rPr lang="zh-CN" altLang="en-US" sz="2000" dirty="0">
                <a:cs typeface="Times New Roman" panose="02020603050405020304" pitchFamily="18" charset="0"/>
              </a:rPr>
              <a:t>伯努利朴素贝叶斯</a:t>
            </a:r>
            <a:r>
              <a:rPr lang="en-US" altLang="zh-CN" sz="2000" dirty="0">
                <a:cs typeface="Times New Roman" panose="02020603050405020304" pitchFamily="18" charset="0"/>
              </a:rPr>
              <a:t> (BernoulliNB)</a:t>
            </a:r>
            <a:r>
              <a:rPr lang="zh-CN" altLang="en-US" sz="2000" dirty="0">
                <a:cs typeface="Times New Roman" panose="02020603050405020304" pitchFamily="18" charset="0"/>
              </a:rPr>
              <a:t>似然度公式基于伯努利分布（</a:t>
            </a:r>
            <a:r>
              <a:rPr lang="en-US" altLang="zh-CN" sz="2000" dirty="0">
                <a:cs typeface="Times New Roman" panose="02020603050405020304" pitchFamily="18" charset="0"/>
              </a:rPr>
              <a:t>0-1</a:t>
            </a:r>
            <a:r>
              <a:rPr lang="zh-CN" altLang="en-US" sz="2000" dirty="0">
                <a:cs typeface="Times New Roman" panose="02020603050405020304" pitchFamily="18" charset="0"/>
              </a:rPr>
              <a:t>分布）</a:t>
            </a:r>
            <a:r>
              <a:rPr lang="en-US" altLang="zh-CN" sz="2000" dirty="0">
                <a:cs typeface="Times New Roman" panose="02020603050405020304" pitchFamily="18" charset="0"/>
              </a:rPr>
              <a:t> </a:t>
            </a:r>
            <a:r>
              <a:rPr lang="zh-CN" altLang="en-US" sz="2000" dirty="0">
                <a:cs typeface="Times New Roman" panose="02020603050405020304" pitchFamily="18" charset="0"/>
              </a:rPr>
              <a:t>。它假设每个特征都是一个二值随机变量，因此在数学定义上必须依赖有无状态（词集模型）</a:t>
            </a:r>
            <a:r>
              <a:rPr lang="en-US" altLang="zh-CN" sz="2000" dirty="0">
                <a:cs typeface="Times New Roman" panose="02020603050405020304" pitchFamily="18" charset="0"/>
              </a:rPr>
              <a:t> </a:t>
            </a:r>
            <a:r>
              <a:rPr lang="zh-CN" altLang="en-US" sz="2000" dirty="0">
                <a:cs typeface="Times New Roman" panose="02020603050405020304" pitchFamily="18" charset="0"/>
              </a:rPr>
              <a:t>。</a:t>
            </a:r>
            <a:endParaRPr lang="zh-CN" altLang="en-US" sz="2000" dirty="0"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  <a:defRPr/>
            </a:pPr>
            <a:endParaRPr lang="zh-CN" altLang="en-US" sz="2000" dirty="0"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  <a:defRPr/>
            </a:pPr>
            <a:endParaRPr lang="zh-CN" altLang="en-US" sz="2000" dirty="0"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  <a:defRPr/>
            </a:pPr>
            <a:endParaRPr lang="zh-CN" altLang="en-US" sz="2000" dirty="0"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  <a:defRPr/>
            </a:pPr>
            <a:endParaRPr lang="en-US" altLang="zh-CN" sz="2000" dirty="0"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  <a:defRPr/>
            </a:pPr>
            <a:r>
              <a:rPr lang="en-US" altLang="zh-CN" sz="2000" dirty="0">
                <a:cs typeface="Times New Roman" panose="02020603050405020304" pitchFamily="18" charset="0"/>
              </a:rPr>
              <a:t>Sklearn</a:t>
            </a:r>
            <a:r>
              <a:rPr lang="zh-CN" altLang="en-US" sz="2000" dirty="0">
                <a:cs typeface="Times New Roman" panose="02020603050405020304" pitchFamily="18" charset="0"/>
              </a:rPr>
              <a:t>库中对应于</a:t>
            </a:r>
            <a:r>
              <a:rPr lang="en-US" altLang="zh-CN" sz="2000" dirty="0">
                <a:cs typeface="Times New Roman" panose="02020603050405020304" pitchFamily="18" charset="0"/>
              </a:rPr>
              <a:t> BernoulliNB()</a:t>
            </a:r>
            <a:endParaRPr lang="en-US" altLang="zh-CN" sz="2000" dirty="0"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  <a:defRPr/>
            </a:pPr>
            <a:r>
              <a:rPr lang="zh-CN" altLang="en-US" sz="1800" dirty="0">
                <a:cs typeface="Times New Roman" panose="02020603050405020304" pitchFamily="18" charset="0"/>
              </a:rPr>
              <a:t>增加参数</a:t>
            </a:r>
            <a:r>
              <a:rPr lang="en-US" altLang="zh-CN" sz="1800" dirty="0">
                <a:cs typeface="Times New Roman" panose="02020603050405020304" pitchFamily="18" charset="0"/>
              </a:rPr>
              <a:t>binarize</a:t>
            </a:r>
            <a:r>
              <a:rPr lang="zh-CN" altLang="en-US" sz="1800" dirty="0">
                <a:cs typeface="Times New Roman" panose="02020603050405020304" pitchFamily="18" charset="0"/>
              </a:rPr>
              <a:t>，可以是数值或者不输入。不输入时</a:t>
            </a:r>
            <a:r>
              <a:rPr lang="en-US" altLang="zh-CN" sz="1800" dirty="0">
                <a:cs typeface="Times New Roman" panose="02020603050405020304" pitchFamily="18" charset="0"/>
              </a:rPr>
              <a:t>BernoulliNB</a:t>
            </a:r>
            <a:r>
              <a:rPr lang="zh-CN" altLang="en-US" sz="1800" dirty="0">
                <a:cs typeface="Times New Roman" panose="02020603050405020304" pitchFamily="18" charset="0"/>
              </a:rPr>
              <a:t>认为每个数据特征已经是二元的。否则，小于</a:t>
            </a:r>
            <a:r>
              <a:rPr lang="en-US" altLang="zh-CN" sz="1800" dirty="0">
                <a:cs typeface="Times New Roman" panose="02020603050405020304" pitchFamily="18" charset="0"/>
              </a:rPr>
              <a:t>binarize</a:t>
            </a:r>
            <a:r>
              <a:rPr lang="zh-CN" altLang="en-US" sz="1800" dirty="0">
                <a:cs typeface="Times New Roman" panose="02020603050405020304" pitchFamily="18" charset="0"/>
              </a:rPr>
              <a:t>的会归为一类，大于</a:t>
            </a:r>
            <a:r>
              <a:rPr lang="en-US" altLang="zh-CN" sz="1800" dirty="0">
                <a:cs typeface="Times New Roman" panose="02020603050405020304" pitchFamily="18" charset="0"/>
              </a:rPr>
              <a:t>binarize</a:t>
            </a:r>
            <a:r>
              <a:rPr lang="zh-CN" altLang="en-US" sz="1800" dirty="0">
                <a:cs typeface="Times New Roman" panose="02020603050405020304" pitchFamily="18" charset="0"/>
              </a:rPr>
              <a:t>的会归为另外一类。</a:t>
            </a:r>
            <a:endParaRPr lang="zh-CN" altLang="en-US" sz="1800" dirty="0"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  <a:defRPr/>
            </a:pPr>
            <a:endParaRPr lang="zh-CN" altLang="en-US" sz="2800" dirty="0"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  <a:defRPr/>
            </a:pPr>
            <a:endParaRPr lang="en-US" altLang="zh-CN" sz="2800" dirty="0">
              <a:cs typeface="Times New Roman" panose="02020603050405020304" pitchFamily="18" charset="0"/>
            </a:endParaRPr>
          </a:p>
          <a:p>
            <a:pPr marL="471170" lvl="1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endParaRPr lang="zh-CN" altLang="en-US" sz="1800" dirty="0">
              <a:solidFill>
                <a:srgbClr val="000000"/>
              </a:solidFill>
              <a:cs typeface="Times New Roman" panose="0202060305040502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1470" y="3043555"/>
            <a:ext cx="5224780" cy="2139315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2</a:t>
            </a:r>
            <a:r>
              <a:rPr lang="zh-CN" altLang="en-US" dirty="0">
                <a:sym typeface="+mn-ea"/>
              </a:rPr>
              <a:t> 垃圾邮件分类任务</a:t>
            </a:r>
            <a:endParaRPr lang="zh-CN" altLang="en-US" dirty="0"/>
          </a:p>
        </p:txBody>
      </p:sp>
      <p:sp>
        <p:nvSpPr>
          <p:cNvPr id="8196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8E30E0AE-C32F-496E-B2AA-D1BAC7225ABC}" type="slidenum">
              <a:rPr kumimoji="0" lang="en-US" altLang="ja-JP" sz="1400" b="0" smtClean="0">
                <a:solidFill>
                  <a:srgbClr val="A50021"/>
                </a:solidFill>
              </a:rPr>
            </a:fld>
            <a:endParaRPr kumimoji="0" lang="en-US" altLang="ja-JP" sz="1400" b="0">
              <a:solidFill>
                <a:srgbClr val="A50021"/>
              </a:solidFill>
            </a:endParaRPr>
          </a:p>
        </p:txBody>
      </p:sp>
      <p:sp>
        <p:nvSpPr>
          <p:cNvPr id="13" name="内容占位符 2"/>
          <p:cNvSpPr>
            <a:spLocks noGrp="1"/>
          </p:cNvSpPr>
          <p:nvPr>
            <p:ph idx="1"/>
          </p:nvPr>
        </p:nvSpPr>
        <p:spPr>
          <a:xfrm>
            <a:off x="250825" y="908050"/>
            <a:ext cx="8893810" cy="5579745"/>
          </a:xfrm>
        </p:spPr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zh-CN" altLang="en-US" sz="2800" dirty="0">
                <a:cs typeface="Times New Roman" panose="02020603050405020304" pitchFamily="18" charset="0"/>
              </a:rPr>
              <a:t>基于朴素贝叶斯的</a:t>
            </a:r>
            <a:r>
              <a:rPr lang="en-US" altLang="zh-CN" sz="2800" dirty="0">
                <a:cs typeface="Times New Roman" panose="02020603050405020304" pitchFamily="18" charset="0"/>
              </a:rPr>
              <a:t> SMS </a:t>
            </a:r>
            <a:r>
              <a:rPr lang="zh-CN" altLang="en-US" sz="2800" dirty="0">
                <a:cs typeface="Times New Roman" panose="02020603050405020304" pitchFamily="18" charset="0"/>
              </a:rPr>
              <a:t>垃圾邮件分类</a:t>
            </a:r>
            <a:endParaRPr lang="zh-CN" altLang="en-US" sz="2800" dirty="0"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  <a:defRPr/>
            </a:pPr>
            <a:r>
              <a:rPr lang="zh-CN" altLang="en-US" sz="2000" dirty="0">
                <a:cs typeface="Times New Roman" panose="02020603050405020304" pitchFamily="18" charset="0"/>
              </a:rPr>
              <a:t>短信垃圾过滤是文本分类的经典应用场景。本实验要求同学们在理解</a:t>
            </a:r>
            <a:r>
              <a:rPr lang="zh-CN" altLang="en-US" sz="2000" b="1" dirty="0">
                <a:cs typeface="Times New Roman" panose="02020603050405020304" pitchFamily="18" charset="0"/>
              </a:rPr>
              <a:t>词袋模型</a:t>
            </a:r>
            <a:r>
              <a:rPr lang="zh-CN" altLang="en-US" sz="2000" dirty="0">
                <a:cs typeface="Times New Roman" panose="02020603050405020304" pitchFamily="18" charset="0"/>
              </a:rPr>
              <a:t>与</a:t>
            </a:r>
            <a:r>
              <a:rPr lang="zh-CN" altLang="en-US" sz="2000" b="1" dirty="0">
                <a:cs typeface="Times New Roman" panose="02020603050405020304" pitchFamily="18" charset="0"/>
              </a:rPr>
              <a:t>朴素贝叶斯</a:t>
            </a:r>
            <a:r>
              <a:rPr lang="zh-CN" altLang="en-US" sz="2000" dirty="0">
                <a:cs typeface="Times New Roman" panose="02020603050405020304" pitchFamily="18" charset="0"/>
              </a:rPr>
              <a:t>的前提下，完成从数据加载、特征构建、模型训练到测试集评估的完整流程。</a:t>
            </a:r>
            <a:endParaRPr lang="zh-CN" altLang="en-US" sz="2000" dirty="0"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2400" dirty="0">
                <a:cs typeface="Times New Roman" panose="02020603050405020304" pitchFamily="18" charset="0"/>
              </a:rPr>
              <a:t>数据集说明</a:t>
            </a:r>
            <a:endParaRPr lang="zh-CN" altLang="en-US" sz="2400" dirty="0"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  <a:defRPr/>
            </a:pPr>
            <a:r>
              <a:rPr lang="zh-CN" altLang="en-US" sz="1800" dirty="0">
                <a:cs typeface="Times New Roman" panose="02020603050405020304" pitchFamily="18" charset="0"/>
              </a:rPr>
              <a:t>使用</a:t>
            </a:r>
            <a:r>
              <a:rPr lang="en-US" altLang="zh-CN" sz="1800" dirty="0">
                <a:cs typeface="Times New Roman" panose="02020603050405020304" pitchFamily="18" charset="0"/>
              </a:rPr>
              <a:t>SMS Spam Collection</a:t>
            </a:r>
            <a:r>
              <a:rPr lang="zh-CN" altLang="en-US" sz="1800" dirty="0">
                <a:cs typeface="Times New Roman" panose="02020603050405020304" pitchFamily="18" charset="0"/>
              </a:rPr>
              <a:t>数据集</a:t>
            </a:r>
            <a:r>
              <a:rPr lang="en-US" altLang="zh-CN" sz="1800" dirty="0">
                <a:cs typeface="Times New Roman" panose="02020603050405020304" pitchFamily="18" charset="0"/>
                <a:sym typeface="+mn-ea"/>
              </a:rPr>
              <a:t>spam.csv</a:t>
            </a:r>
            <a:r>
              <a:rPr lang="en-US" altLang="zh-CN" sz="1800" dirty="0">
                <a:cs typeface="Times New Roman" panose="02020603050405020304" pitchFamily="18" charset="0"/>
              </a:rPr>
              <a:t> </a:t>
            </a:r>
            <a:r>
              <a:rPr lang="zh-CN" altLang="en-US" sz="1800" dirty="0">
                <a:cs typeface="Times New Roman" panose="02020603050405020304" pitchFamily="18" charset="0"/>
              </a:rPr>
              <a:t>，包含约</a:t>
            </a:r>
            <a:r>
              <a:rPr lang="en-US" altLang="zh-CN" sz="1800" dirty="0">
                <a:cs typeface="Times New Roman" panose="02020603050405020304" pitchFamily="18" charset="0"/>
              </a:rPr>
              <a:t> 5574 </a:t>
            </a:r>
            <a:r>
              <a:rPr lang="zh-CN" altLang="en-US" sz="1800" dirty="0">
                <a:cs typeface="Times New Roman" panose="02020603050405020304" pitchFamily="18" charset="0"/>
              </a:rPr>
              <a:t>条英文短信</a:t>
            </a:r>
            <a:endParaRPr lang="zh-CN" altLang="en-US" sz="1800" dirty="0"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defRPr/>
            </a:pPr>
            <a:r>
              <a:rPr lang="en-US" altLang="zh-CN" sz="1600" dirty="0">
                <a:cs typeface="Times New Roman" panose="02020603050405020304" pitchFamily="18" charset="0"/>
              </a:rPr>
              <a:t>`ham`</a:t>
            </a:r>
            <a:r>
              <a:rPr lang="zh-CN" altLang="en-US" sz="1600" dirty="0">
                <a:cs typeface="Times New Roman" panose="02020603050405020304" pitchFamily="18" charset="0"/>
              </a:rPr>
              <a:t>：正常短信</a:t>
            </a:r>
            <a:endParaRPr lang="zh-CN" altLang="en-US" sz="1600" dirty="0"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defRPr/>
            </a:pPr>
            <a:r>
              <a:rPr lang="en-US" altLang="zh-CN" sz="1600" dirty="0">
                <a:cs typeface="Times New Roman" panose="02020603050405020304" pitchFamily="18" charset="0"/>
              </a:rPr>
              <a:t>`spam`</a:t>
            </a:r>
            <a:r>
              <a:rPr lang="zh-CN" altLang="en-US" sz="1600" dirty="0">
                <a:cs typeface="Times New Roman" panose="02020603050405020304" pitchFamily="18" charset="0"/>
              </a:rPr>
              <a:t>：垃圾短信</a:t>
            </a:r>
            <a:r>
              <a:rPr lang="en-US" altLang="zh-CN" sz="1600" dirty="0">
                <a:cs typeface="Times New Roman" panose="02020603050405020304" pitchFamily="18" charset="0"/>
              </a:rPr>
              <a:t> </a:t>
            </a:r>
            <a:endParaRPr lang="en-US" altLang="zh-CN" sz="1600" dirty="0"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  <a:defRPr/>
            </a:pPr>
            <a:r>
              <a:rPr lang="zh-CN" altLang="en-US" sz="1800" dirty="0">
                <a:cs typeface="Times New Roman" panose="02020603050405020304" pitchFamily="18" charset="0"/>
              </a:rPr>
              <a:t>第一列为标签，第二列为短信原文；</a:t>
            </a:r>
            <a:r>
              <a:rPr lang="en-US" altLang="zh-CN" sz="1800" dirty="0">
                <a:cs typeface="Times New Roman" panose="02020603050405020304" pitchFamily="18" charset="0"/>
              </a:rPr>
              <a:t>CSV </a:t>
            </a:r>
            <a:r>
              <a:rPr lang="zh-CN" altLang="en-US" sz="1800" dirty="0">
                <a:cs typeface="Times New Roman" panose="02020603050405020304" pitchFamily="18" charset="0"/>
              </a:rPr>
              <a:t>中可能存在多余空列，只使用前两列即可</a:t>
            </a:r>
            <a:r>
              <a:rPr lang="en-US" altLang="zh-CN" sz="1800" dirty="0">
                <a:cs typeface="Times New Roman" panose="02020603050405020304" pitchFamily="18" charset="0"/>
              </a:rPr>
              <a:t> </a:t>
            </a:r>
            <a:endParaRPr lang="en-US" altLang="zh-CN" sz="1800" dirty="0"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  <a:defRPr/>
            </a:pPr>
            <a:r>
              <a:rPr lang="en-US" altLang="zh-CN" sz="2000" u="sng" dirty="0">
                <a:solidFill>
                  <a:srgbClr val="409FE0"/>
                </a:solidFill>
                <a:cs typeface="Times New Roman" panose="02020603050405020304" pitchFamily="18" charset="0"/>
              </a:rPr>
              <a:t>https://www.kaggle.com/datasets/uciml/sms-spam-collection-dataset</a:t>
            </a:r>
            <a:endParaRPr lang="en-US" altLang="zh-CN" sz="2000" u="sng" dirty="0">
              <a:solidFill>
                <a:srgbClr val="409FE0"/>
              </a:solidFill>
              <a:cs typeface="Times New Roman" panose="02020603050405020304" pitchFamily="18" charset="0"/>
            </a:endParaRPr>
          </a:p>
          <a:p>
            <a:pPr marL="471170" lvl="1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endParaRPr lang="en-US" altLang="zh-CN" sz="2000" u="sng" dirty="0">
              <a:solidFill>
                <a:srgbClr val="409FE0"/>
              </a:solidFill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2</a:t>
            </a:r>
            <a:r>
              <a:rPr lang="zh-CN" altLang="en-US" dirty="0">
                <a:sym typeface="+mn-ea"/>
              </a:rPr>
              <a:t> 垃圾邮件分类任务</a:t>
            </a:r>
            <a:endParaRPr lang="zh-CN" altLang="en-US" dirty="0"/>
          </a:p>
        </p:txBody>
      </p:sp>
      <p:sp>
        <p:nvSpPr>
          <p:cNvPr id="8196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8E30E0AE-C32F-496E-B2AA-D1BAC7225ABC}" type="slidenum">
              <a:rPr kumimoji="0" lang="en-US" altLang="ja-JP" sz="1400" b="0" smtClean="0">
                <a:solidFill>
                  <a:srgbClr val="A50021"/>
                </a:solidFill>
              </a:rPr>
            </a:fld>
            <a:endParaRPr kumimoji="0" lang="en-US" altLang="ja-JP" sz="1400" b="0">
              <a:solidFill>
                <a:srgbClr val="A50021"/>
              </a:solidFill>
            </a:endParaRPr>
          </a:p>
        </p:txBody>
      </p:sp>
      <p:sp>
        <p:nvSpPr>
          <p:cNvPr id="13" name="内容占位符 2"/>
          <p:cNvSpPr>
            <a:spLocks noGrp="1"/>
          </p:cNvSpPr>
          <p:nvPr>
            <p:ph idx="1"/>
          </p:nvPr>
        </p:nvSpPr>
        <p:spPr>
          <a:xfrm>
            <a:off x="250825" y="908050"/>
            <a:ext cx="8893810" cy="5579745"/>
          </a:xfrm>
        </p:spPr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zh-CN" altLang="en-US" sz="2800" dirty="0">
                <a:cs typeface="Times New Roman" panose="02020603050405020304" pitchFamily="18" charset="0"/>
              </a:rPr>
              <a:t>基于朴素贝叶斯的</a:t>
            </a:r>
            <a:r>
              <a:rPr lang="en-US" altLang="zh-CN" sz="2800" dirty="0">
                <a:cs typeface="Times New Roman" panose="02020603050405020304" pitchFamily="18" charset="0"/>
              </a:rPr>
              <a:t> SMS </a:t>
            </a:r>
            <a:r>
              <a:rPr lang="zh-CN" altLang="en-US" sz="2800" dirty="0">
                <a:cs typeface="Times New Roman" panose="02020603050405020304" pitchFamily="18" charset="0"/>
              </a:rPr>
              <a:t>垃圾邮件分类</a:t>
            </a:r>
            <a:endParaRPr lang="zh-CN" altLang="en-US" sz="2800" dirty="0"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2400" dirty="0">
                <a:cs typeface="Times New Roman" panose="02020603050405020304" pitchFamily="18" charset="0"/>
              </a:rPr>
              <a:t>实验</a:t>
            </a:r>
            <a:r>
              <a:rPr lang="zh-CN" altLang="en-US" sz="2400" dirty="0">
                <a:cs typeface="Times New Roman" panose="02020603050405020304" pitchFamily="18" charset="0"/>
              </a:rPr>
              <a:t>流程</a:t>
            </a:r>
            <a:endParaRPr lang="en-US" altLang="zh-CN" sz="2000" u="sng" dirty="0">
              <a:solidFill>
                <a:srgbClr val="409FE0"/>
              </a:solidFill>
              <a:cs typeface="Times New Roman" panose="02020603050405020304" pitchFamily="18" charset="0"/>
            </a:endParaRPr>
          </a:p>
          <a:p>
            <a:pPr marL="471170" lvl="1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800" dirty="0">
                <a:solidFill>
                  <a:schemeClr val="tx1"/>
                </a:solidFill>
                <a:cs typeface="Times New Roman" panose="02020603050405020304" pitchFamily="18" charset="0"/>
              </a:rPr>
              <a:t>1. </a:t>
            </a:r>
            <a:r>
              <a:rPr lang="zh-CN" altLang="en-US" sz="1800" dirty="0">
                <a:solidFill>
                  <a:schemeClr val="tx1"/>
                </a:solidFill>
                <a:cs typeface="Times New Roman" panose="02020603050405020304" pitchFamily="18" charset="0"/>
              </a:rPr>
              <a:t>读取数据：正确解析标签与文本，去除无效行（如文本为空）。</a:t>
            </a:r>
            <a:r>
              <a:rPr lang="en-US" altLang="zh-CN" sz="1800" dirty="0">
                <a:solidFill>
                  <a:schemeClr val="tx1"/>
                </a:solidFill>
                <a:cs typeface="Times New Roman" panose="02020603050405020304" pitchFamily="18" charset="0"/>
              </a:rPr>
              <a:t>  </a:t>
            </a:r>
            <a:endParaRPr lang="en-US" altLang="zh-CN" sz="1800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marL="471170" lvl="1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800" dirty="0">
                <a:solidFill>
                  <a:schemeClr val="tx1"/>
                </a:solidFill>
                <a:cs typeface="Times New Roman" panose="02020603050405020304" pitchFamily="18" charset="0"/>
              </a:rPr>
              <a:t>2. </a:t>
            </a:r>
            <a:r>
              <a:rPr lang="zh-CN" altLang="en-US" sz="1800" dirty="0">
                <a:solidFill>
                  <a:schemeClr val="tx1"/>
                </a:solidFill>
                <a:cs typeface="Times New Roman" panose="02020603050405020304" pitchFamily="18" charset="0"/>
              </a:rPr>
              <a:t>划分数据集：将数据划分为</a:t>
            </a:r>
            <a:r>
              <a:rPr lang="en-US" altLang="zh-CN" sz="1800" dirty="0">
                <a:solidFill>
                  <a:schemeClr val="tx1"/>
                </a:solidFill>
                <a:cs typeface="Times New Roman" panose="02020603050405020304" pitchFamily="18" charset="0"/>
              </a:rPr>
              <a:t> **</a:t>
            </a:r>
            <a:r>
              <a:rPr lang="zh-CN" altLang="en-US" sz="1800" dirty="0">
                <a:solidFill>
                  <a:schemeClr val="tx1"/>
                </a:solidFill>
                <a:cs typeface="Times New Roman" panose="02020603050405020304" pitchFamily="18" charset="0"/>
              </a:rPr>
              <a:t>训练集</a:t>
            </a:r>
            <a:r>
              <a:rPr lang="en-US" altLang="zh-CN" sz="1800" dirty="0">
                <a:solidFill>
                  <a:schemeClr val="tx1"/>
                </a:solidFill>
                <a:cs typeface="Times New Roman" panose="02020603050405020304" pitchFamily="18" charset="0"/>
              </a:rPr>
              <a:t>** </a:t>
            </a:r>
            <a:r>
              <a:rPr lang="zh-CN" altLang="en-US" sz="1800" dirty="0">
                <a:solidFill>
                  <a:schemeClr val="tx1"/>
                </a:solidFill>
                <a:cs typeface="Times New Roman" panose="02020603050405020304" pitchFamily="18" charset="0"/>
              </a:rPr>
              <a:t>与</a:t>
            </a:r>
            <a:r>
              <a:rPr lang="en-US" altLang="zh-CN" sz="1800" dirty="0">
                <a:solidFill>
                  <a:schemeClr val="tx1"/>
                </a:solidFill>
                <a:cs typeface="Times New Roman" panose="02020603050405020304" pitchFamily="18" charset="0"/>
              </a:rPr>
              <a:t> **</a:t>
            </a:r>
            <a:r>
              <a:rPr lang="zh-CN" altLang="en-US" sz="1800" dirty="0">
                <a:solidFill>
                  <a:schemeClr val="tx1"/>
                </a:solidFill>
                <a:cs typeface="Times New Roman" panose="02020603050405020304" pitchFamily="18" charset="0"/>
              </a:rPr>
              <a:t>测试集</a:t>
            </a:r>
            <a:r>
              <a:rPr lang="en-US" altLang="zh-CN" sz="1800" dirty="0">
                <a:solidFill>
                  <a:schemeClr val="tx1"/>
                </a:solidFill>
                <a:cs typeface="Times New Roman" panose="02020603050405020304" pitchFamily="18" charset="0"/>
              </a:rPr>
              <a:t>**</a:t>
            </a:r>
            <a:r>
              <a:rPr lang="zh-CN" altLang="en-US" sz="1800" dirty="0">
                <a:solidFill>
                  <a:schemeClr val="tx1"/>
                </a:solidFill>
                <a:cs typeface="Times New Roman" panose="02020603050405020304" pitchFamily="18" charset="0"/>
              </a:rPr>
              <a:t>（建议比例如</a:t>
            </a:r>
            <a:r>
              <a:rPr lang="en-US" altLang="zh-CN" sz="1800" dirty="0">
                <a:solidFill>
                  <a:schemeClr val="tx1"/>
                </a:solidFill>
                <a:cs typeface="Times New Roman" panose="02020603050405020304" pitchFamily="18" charset="0"/>
              </a:rPr>
              <a:t> 80% / 20%</a:t>
            </a:r>
            <a:r>
              <a:rPr lang="zh-CN" altLang="en-US" sz="1800" dirty="0">
                <a:solidFill>
                  <a:schemeClr val="tx1"/>
                </a:solidFill>
                <a:cs typeface="Times New Roman" panose="02020603050405020304" pitchFamily="18" charset="0"/>
              </a:rPr>
              <a:t>），并使用</a:t>
            </a:r>
            <a:r>
              <a:rPr lang="en-US" altLang="zh-CN" sz="1800" dirty="0">
                <a:solidFill>
                  <a:schemeClr val="tx1"/>
                </a:solidFill>
                <a:cs typeface="Times New Roman" panose="02020603050405020304" pitchFamily="18" charset="0"/>
              </a:rPr>
              <a:t> `stratify`</a:t>
            </a:r>
            <a:r>
              <a:rPr lang="zh-CN" altLang="en-US" sz="1800" dirty="0">
                <a:solidFill>
                  <a:schemeClr val="tx1"/>
                </a:solidFill>
                <a:cs typeface="Times New Roman" panose="02020603050405020304" pitchFamily="18" charset="0"/>
              </a:rPr>
              <a:t>（或等价方式）进行</a:t>
            </a:r>
            <a:r>
              <a:rPr lang="en-US" altLang="zh-CN" sz="1800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zh-CN" altLang="en-US" sz="1800" dirty="0">
                <a:solidFill>
                  <a:schemeClr val="tx1"/>
                </a:solidFill>
                <a:cs typeface="Times New Roman" panose="02020603050405020304" pitchFamily="18" charset="0"/>
              </a:rPr>
              <a:t>分层抽样，使训练集与测试集中</a:t>
            </a:r>
            <a:r>
              <a:rPr lang="en-US" altLang="zh-CN" sz="1800" dirty="0">
                <a:solidFill>
                  <a:schemeClr val="tx1"/>
                </a:solidFill>
                <a:cs typeface="Times New Roman" panose="02020603050405020304" pitchFamily="18" charset="0"/>
              </a:rPr>
              <a:t> `ham` / `spam` </a:t>
            </a:r>
            <a:r>
              <a:rPr lang="zh-CN" altLang="en-US" sz="1800" dirty="0">
                <a:solidFill>
                  <a:schemeClr val="tx1"/>
                </a:solidFill>
                <a:cs typeface="Times New Roman" panose="02020603050405020304" pitchFamily="18" charset="0"/>
              </a:rPr>
              <a:t>比例与全集一致。</a:t>
            </a:r>
            <a:r>
              <a:rPr lang="en-US" altLang="zh-CN" sz="1800" dirty="0">
                <a:solidFill>
                  <a:schemeClr val="tx1"/>
                </a:solidFill>
                <a:cs typeface="Times New Roman" panose="02020603050405020304" pitchFamily="18" charset="0"/>
              </a:rPr>
              <a:t>  </a:t>
            </a:r>
            <a:endParaRPr lang="en-US" altLang="zh-CN" sz="1800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marL="471170" lvl="1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800" dirty="0">
                <a:solidFill>
                  <a:schemeClr val="tx1"/>
                </a:solidFill>
                <a:cs typeface="Times New Roman" panose="02020603050405020304" pitchFamily="18" charset="0"/>
              </a:rPr>
              <a:t>3. </a:t>
            </a:r>
            <a:r>
              <a:rPr lang="zh-CN" altLang="en-US" sz="1800" dirty="0">
                <a:solidFill>
                  <a:schemeClr val="tx1"/>
                </a:solidFill>
                <a:cs typeface="Times New Roman" panose="02020603050405020304" pitchFamily="18" charset="0"/>
              </a:rPr>
              <a:t>特征表示：采用</a:t>
            </a:r>
            <a:r>
              <a:rPr lang="en-US" altLang="zh-CN" sz="1800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zh-CN" altLang="en-US" sz="1800" dirty="0">
                <a:solidFill>
                  <a:schemeClr val="tx1"/>
                </a:solidFill>
                <a:cs typeface="Times New Roman" panose="02020603050405020304" pitchFamily="18" charset="0"/>
              </a:rPr>
              <a:t>词袋模型（</a:t>
            </a:r>
            <a:r>
              <a:rPr lang="en-US" altLang="zh-CN" sz="1800" dirty="0">
                <a:solidFill>
                  <a:schemeClr val="tx1"/>
                </a:solidFill>
                <a:cs typeface="Times New Roman" panose="02020603050405020304" pitchFamily="18" charset="0"/>
              </a:rPr>
              <a:t>Bag of Words</a:t>
            </a:r>
            <a:r>
              <a:rPr lang="zh-CN" altLang="en-US" sz="1800" dirty="0">
                <a:solidFill>
                  <a:schemeClr val="tx1"/>
                </a:solidFill>
                <a:cs typeface="Times New Roman" panose="02020603050405020304" pitchFamily="18" charset="0"/>
              </a:rPr>
              <a:t>），使用</a:t>
            </a:r>
            <a:r>
              <a:rPr lang="en-US" altLang="zh-CN" sz="1800" dirty="0">
                <a:solidFill>
                  <a:schemeClr val="tx1"/>
                </a:solidFill>
                <a:cs typeface="Times New Roman" panose="02020603050405020304" pitchFamily="18" charset="0"/>
              </a:rPr>
              <a:t> `sklearn` </a:t>
            </a:r>
            <a:r>
              <a:rPr lang="zh-CN" altLang="en-US" sz="1800" dirty="0">
                <a:solidFill>
                  <a:schemeClr val="tx1"/>
                </a:solidFill>
                <a:cs typeface="Times New Roman" panose="02020603050405020304" pitchFamily="18" charset="0"/>
              </a:rPr>
              <a:t>的</a:t>
            </a:r>
            <a:r>
              <a:rPr lang="en-US" altLang="zh-CN" sz="1800" dirty="0">
                <a:solidFill>
                  <a:schemeClr val="tx1"/>
                </a:solidFill>
                <a:cs typeface="Times New Roman" panose="02020603050405020304" pitchFamily="18" charset="0"/>
              </a:rPr>
              <a:t> `CountVectorizer`</a:t>
            </a:r>
            <a:r>
              <a:rPr lang="zh-CN" altLang="en-US" sz="1800" dirty="0">
                <a:solidFill>
                  <a:schemeClr val="tx1"/>
                </a:solidFill>
                <a:cs typeface="Times New Roman" panose="02020603050405020304" pitchFamily="18" charset="0"/>
              </a:rPr>
              <a:t>（或自实现等价逻辑）将短信转为</a:t>
            </a:r>
            <a:r>
              <a:rPr lang="en-US" altLang="zh-CN" sz="1800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zh-CN" altLang="en-US" sz="1800" dirty="0">
                <a:solidFill>
                  <a:schemeClr val="tx1"/>
                </a:solidFill>
                <a:cs typeface="Times New Roman" panose="02020603050405020304" pitchFamily="18" charset="0"/>
              </a:rPr>
              <a:t>词频型特征向量</a:t>
            </a:r>
            <a:endParaRPr lang="zh-CN" altLang="en-US" sz="1800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marL="471170" lvl="1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800" dirty="0">
                <a:solidFill>
                  <a:schemeClr val="tx1"/>
                </a:solidFill>
                <a:cs typeface="Times New Roman" panose="02020603050405020304" pitchFamily="18" charset="0"/>
              </a:rPr>
              <a:t>4. </a:t>
            </a:r>
            <a:r>
              <a:rPr lang="zh-CN" altLang="en-US" sz="1800" dirty="0">
                <a:solidFill>
                  <a:schemeClr val="tx1"/>
                </a:solidFill>
                <a:cs typeface="Times New Roman" panose="02020603050405020304" pitchFamily="18" charset="0"/>
              </a:rPr>
              <a:t>分类器：使用</a:t>
            </a:r>
            <a:r>
              <a:rPr lang="en-US" altLang="zh-CN" sz="1800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zh-CN" altLang="en-US" sz="1800" dirty="0">
                <a:solidFill>
                  <a:schemeClr val="tx1"/>
                </a:solidFill>
                <a:cs typeface="Times New Roman" panose="02020603050405020304" pitchFamily="18" charset="0"/>
              </a:rPr>
              <a:t>多项式朴素贝叶斯（</a:t>
            </a:r>
            <a:r>
              <a:rPr lang="en-US" altLang="zh-CN" sz="1800" dirty="0">
                <a:solidFill>
                  <a:schemeClr val="tx1"/>
                </a:solidFill>
                <a:cs typeface="Times New Roman" panose="02020603050405020304" pitchFamily="18" charset="0"/>
              </a:rPr>
              <a:t>`MultinomialNB`</a:t>
            </a:r>
            <a:r>
              <a:rPr lang="zh-CN" altLang="en-US" sz="1800" dirty="0">
                <a:solidFill>
                  <a:schemeClr val="tx1"/>
                </a:solidFill>
                <a:cs typeface="Times New Roman" panose="02020603050405020304" pitchFamily="18" charset="0"/>
              </a:rPr>
              <a:t>）完成二分类；默认可采用</a:t>
            </a:r>
            <a:r>
              <a:rPr lang="en-US" altLang="zh-CN" sz="1800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zh-CN" altLang="en-US" sz="1800" dirty="0">
                <a:solidFill>
                  <a:schemeClr val="tx1"/>
                </a:solidFill>
                <a:cs typeface="Times New Roman" panose="02020603050405020304" pitchFamily="18" charset="0"/>
              </a:rPr>
              <a:t>拉普拉斯平滑。</a:t>
            </a:r>
            <a:r>
              <a:rPr lang="en-US" altLang="zh-CN" sz="1800" dirty="0">
                <a:solidFill>
                  <a:schemeClr val="tx1"/>
                </a:solidFill>
                <a:cs typeface="Times New Roman" panose="02020603050405020304" pitchFamily="18" charset="0"/>
              </a:rPr>
              <a:t>  </a:t>
            </a:r>
            <a:endParaRPr lang="en-US" altLang="zh-CN" sz="1800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2</a:t>
            </a:r>
            <a:r>
              <a:rPr lang="zh-CN" altLang="en-US" dirty="0">
                <a:sym typeface="+mn-ea"/>
              </a:rPr>
              <a:t> 垃圾邮件分类任务</a:t>
            </a:r>
            <a:endParaRPr lang="zh-CN" altLang="en-US" dirty="0"/>
          </a:p>
        </p:txBody>
      </p:sp>
      <p:sp>
        <p:nvSpPr>
          <p:cNvPr id="8196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8E30E0AE-C32F-496E-B2AA-D1BAC7225ABC}" type="slidenum">
              <a:rPr kumimoji="0" lang="en-US" altLang="ja-JP" sz="1400" b="0" smtClean="0">
                <a:solidFill>
                  <a:srgbClr val="A50021"/>
                </a:solidFill>
              </a:rPr>
            </a:fld>
            <a:endParaRPr kumimoji="0" lang="en-US" altLang="ja-JP" sz="1400" b="0">
              <a:solidFill>
                <a:srgbClr val="A50021"/>
              </a:solidFill>
            </a:endParaRPr>
          </a:p>
        </p:txBody>
      </p:sp>
      <p:sp>
        <p:nvSpPr>
          <p:cNvPr id="13" name="内容占位符 2"/>
          <p:cNvSpPr>
            <a:spLocks noGrp="1"/>
          </p:cNvSpPr>
          <p:nvPr>
            <p:ph idx="1"/>
          </p:nvPr>
        </p:nvSpPr>
        <p:spPr>
          <a:xfrm>
            <a:off x="250825" y="908050"/>
            <a:ext cx="8893810" cy="5579745"/>
          </a:xfrm>
        </p:spPr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zh-CN" altLang="en-US" sz="2800" dirty="0">
                <a:cs typeface="Times New Roman" panose="02020603050405020304" pitchFamily="18" charset="0"/>
              </a:rPr>
              <a:t>基于朴素贝叶斯的</a:t>
            </a:r>
            <a:r>
              <a:rPr lang="en-US" altLang="zh-CN" sz="2800" dirty="0">
                <a:cs typeface="Times New Roman" panose="02020603050405020304" pitchFamily="18" charset="0"/>
              </a:rPr>
              <a:t> SMS </a:t>
            </a:r>
            <a:r>
              <a:rPr lang="zh-CN" altLang="en-US" sz="2800" dirty="0">
                <a:cs typeface="Times New Roman" panose="02020603050405020304" pitchFamily="18" charset="0"/>
              </a:rPr>
              <a:t>垃圾邮件分类</a:t>
            </a:r>
            <a:endParaRPr lang="zh-CN" altLang="en-US" sz="2800" dirty="0"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2000" dirty="0">
                <a:solidFill>
                  <a:schemeClr val="tx1"/>
                </a:solidFill>
                <a:cs typeface="Times New Roman" panose="02020603050405020304" pitchFamily="18" charset="0"/>
              </a:rPr>
              <a:t>实验报告要求</a:t>
            </a:r>
            <a:endParaRPr lang="en-US" altLang="zh-CN" sz="2000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marL="471170" lvl="1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800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zh-CN" altLang="en-US" sz="1800" dirty="0">
                <a:solidFill>
                  <a:schemeClr val="tx1"/>
                </a:solidFill>
                <a:cs typeface="Times New Roman" panose="02020603050405020304" pitchFamily="18" charset="0"/>
              </a:rPr>
              <a:t>在</a:t>
            </a:r>
            <a:r>
              <a:rPr lang="en-US" altLang="zh-CN" sz="1800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zh-CN" altLang="en-US" sz="1800" dirty="0">
                <a:solidFill>
                  <a:schemeClr val="tx1"/>
                </a:solidFill>
                <a:cs typeface="Times New Roman" panose="02020603050405020304" pitchFamily="18" charset="0"/>
              </a:rPr>
              <a:t>测试集上输出以下评估</a:t>
            </a:r>
            <a:r>
              <a:rPr lang="zh-CN" altLang="en-US" sz="1800" dirty="0">
                <a:solidFill>
                  <a:schemeClr val="tx1"/>
                </a:solidFill>
                <a:cs typeface="Times New Roman" panose="02020603050405020304" pitchFamily="18" charset="0"/>
              </a:rPr>
              <a:t>结果：</a:t>
            </a:r>
            <a:endParaRPr lang="en-US" altLang="zh-CN" sz="1800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marL="471170" lvl="1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800" dirty="0">
                <a:solidFill>
                  <a:schemeClr val="tx1"/>
                </a:solidFill>
                <a:cs typeface="Times New Roman" panose="02020603050405020304" pitchFamily="18" charset="0"/>
              </a:rPr>
              <a:t>1. </a:t>
            </a:r>
            <a:r>
              <a:rPr lang="zh-CN" altLang="en-US" sz="1800" dirty="0">
                <a:solidFill>
                  <a:schemeClr val="tx1"/>
                </a:solidFill>
                <a:cs typeface="Times New Roman" panose="02020603050405020304" pitchFamily="18" charset="0"/>
              </a:rPr>
              <a:t>混淆矩阵</a:t>
            </a:r>
            <a:r>
              <a:rPr lang="en-US" altLang="zh-CN" sz="1800" dirty="0">
                <a:solidFill>
                  <a:schemeClr val="tx1"/>
                </a:solidFill>
                <a:cs typeface="Times New Roman" panose="02020603050405020304" pitchFamily="18" charset="0"/>
              </a:rPr>
              <a:t>  </a:t>
            </a:r>
            <a:endParaRPr lang="en-US" altLang="zh-CN" sz="1800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marL="471170" lvl="1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800" dirty="0">
                <a:solidFill>
                  <a:schemeClr val="tx1"/>
                </a:solidFill>
                <a:cs typeface="Times New Roman" panose="02020603050405020304" pitchFamily="18" charset="0"/>
              </a:rPr>
              <a:t>   - </a:t>
            </a:r>
            <a:r>
              <a:rPr lang="zh-CN" altLang="en-US" sz="1800" dirty="0">
                <a:solidFill>
                  <a:schemeClr val="tx1"/>
                </a:solidFill>
                <a:cs typeface="Times New Roman" panose="02020603050405020304" pitchFamily="18" charset="0"/>
              </a:rPr>
              <a:t>行表示</a:t>
            </a:r>
            <a:r>
              <a:rPr lang="en-US" altLang="zh-CN" sz="1800" dirty="0">
                <a:solidFill>
                  <a:schemeClr val="tx1"/>
                </a:solidFill>
                <a:cs typeface="Times New Roman" panose="02020603050405020304" pitchFamily="18" charset="0"/>
              </a:rPr>
              <a:t> **</a:t>
            </a:r>
            <a:r>
              <a:rPr lang="zh-CN" altLang="en-US" sz="1800" dirty="0">
                <a:solidFill>
                  <a:schemeClr val="tx1"/>
                </a:solidFill>
                <a:cs typeface="Times New Roman" panose="02020603050405020304" pitchFamily="18" charset="0"/>
              </a:rPr>
              <a:t>真实标签</a:t>
            </a:r>
            <a:r>
              <a:rPr lang="en-US" altLang="zh-CN" sz="1800" dirty="0">
                <a:solidFill>
                  <a:schemeClr val="tx1"/>
                </a:solidFill>
                <a:cs typeface="Times New Roman" panose="02020603050405020304" pitchFamily="18" charset="0"/>
              </a:rPr>
              <a:t>**</a:t>
            </a:r>
            <a:r>
              <a:rPr lang="zh-CN" altLang="en-US" sz="1800" dirty="0">
                <a:solidFill>
                  <a:schemeClr val="tx1"/>
                </a:solidFill>
                <a:cs typeface="Times New Roman" panose="02020603050405020304" pitchFamily="18" charset="0"/>
              </a:rPr>
              <a:t>，列表示</a:t>
            </a:r>
            <a:r>
              <a:rPr lang="en-US" altLang="zh-CN" sz="1800" dirty="0">
                <a:solidFill>
                  <a:schemeClr val="tx1"/>
                </a:solidFill>
                <a:cs typeface="Times New Roman" panose="02020603050405020304" pitchFamily="18" charset="0"/>
              </a:rPr>
              <a:t> **</a:t>
            </a:r>
            <a:r>
              <a:rPr lang="zh-CN" altLang="en-US" sz="1800" dirty="0">
                <a:solidFill>
                  <a:schemeClr val="tx1"/>
                </a:solidFill>
                <a:cs typeface="Times New Roman" panose="02020603050405020304" pitchFamily="18" charset="0"/>
              </a:rPr>
              <a:t>预测标签</a:t>
            </a:r>
            <a:r>
              <a:rPr lang="en-US" altLang="zh-CN" sz="1800" dirty="0">
                <a:solidFill>
                  <a:schemeClr val="tx1"/>
                </a:solidFill>
                <a:cs typeface="Times New Roman" panose="02020603050405020304" pitchFamily="18" charset="0"/>
              </a:rPr>
              <a:t>**</a:t>
            </a:r>
            <a:r>
              <a:rPr lang="zh-CN" altLang="en-US" sz="1800" dirty="0">
                <a:solidFill>
                  <a:schemeClr val="tx1"/>
                </a:solidFill>
                <a:cs typeface="Times New Roman" panose="02020603050405020304" pitchFamily="18" charset="0"/>
              </a:rPr>
              <a:t>；</a:t>
            </a:r>
            <a:r>
              <a:rPr lang="en-US" altLang="zh-CN" sz="1800" dirty="0">
                <a:solidFill>
                  <a:schemeClr val="tx1"/>
                </a:solidFill>
                <a:cs typeface="Times New Roman" panose="02020603050405020304" pitchFamily="18" charset="0"/>
              </a:rPr>
              <a:t>  </a:t>
            </a:r>
            <a:endParaRPr lang="en-US" altLang="zh-CN" sz="1800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marL="471170" lvl="1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800" dirty="0">
                <a:solidFill>
                  <a:schemeClr val="tx1"/>
                </a:solidFill>
                <a:cs typeface="Times New Roman" panose="02020603050405020304" pitchFamily="18" charset="0"/>
              </a:rPr>
              <a:t>  2. </a:t>
            </a:r>
            <a:r>
              <a:rPr lang="zh-CN" altLang="en-US" sz="1800" dirty="0">
                <a:solidFill>
                  <a:schemeClr val="tx1"/>
                </a:solidFill>
                <a:cs typeface="Times New Roman" panose="02020603050405020304" pitchFamily="18" charset="0"/>
              </a:rPr>
              <a:t>性能评估</a:t>
            </a:r>
            <a:r>
              <a:rPr lang="en-US" altLang="zh-CN" sz="1800" dirty="0">
                <a:solidFill>
                  <a:schemeClr val="tx1"/>
                </a:solidFill>
                <a:cs typeface="Times New Roman" panose="02020603050405020304" pitchFamily="18" charset="0"/>
              </a:rPr>
              <a:t>**</a:t>
            </a:r>
            <a:endParaRPr lang="en-US" altLang="zh-CN" sz="1800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marL="471170" lvl="1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800" dirty="0">
                <a:solidFill>
                  <a:schemeClr val="tx1"/>
                </a:solidFill>
                <a:cs typeface="Times New Roman" panose="02020603050405020304" pitchFamily="18" charset="0"/>
              </a:rPr>
              <a:t>   - </a:t>
            </a:r>
            <a:r>
              <a:rPr lang="zh-CN" altLang="en-US" sz="1800" dirty="0">
                <a:solidFill>
                  <a:schemeClr val="tx1"/>
                </a:solidFill>
                <a:cs typeface="Times New Roman" panose="02020603050405020304" pitchFamily="18" charset="0"/>
              </a:rPr>
              <a:t>整体准确率（</a:t>
            </a:r>
            <a:r>
              <a:rPr lang="en-US" altLang="zh-CN" sz="1800" dirty="0">
                <a:solidFill>
                  <a:schemeClr val="tx1"/>
                </a:solidFill>
                <a:cs typeface="Times New Roman" panose="02020603050405020304" pitchFamily="18" charset="0"/>
              </a:rPr>
              <a:t>Accuracy</a:t>
            </a:r>
            <a:r>
              <a:rPr lang="zh-CN" altLang="en-US" sz="1800" dirty="0">
                <a:solidFill>
                  <a:schemeClr val="tx1"/>
                </a:solidFill>
                <a:cs typeface="Times New Roman" panose="02020603050405020304" pitchFamily="18" charset="0"/>
              </a:rPr>
              <a:t>）；</a:t>
            </a:r>
            <a:r>
              <a:rPr lang="en-US" altLang="zh-CN" sz="1800" dirty="0">
                <a:solidFill>
                  <a:schemeClr val="tx1"/>
                </a:solidFill>
                <a:cs typeface="Times New Roman" panose="02020603050405020304" pitchFamily="18" charset="0"/>
              </a:rPr>
              <a:t>  </a:t>
            </a:r>
            <a:endParaRPr lang="en-US" altLang="zh-CN" sz="1800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marL="471170" lvl="1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800" dirty="0">
                <a:solidFill>
                  <a:schemeClr val="tx1"/>
                </a:solidFill>
                <a:cs typeface="Times New Roman" panose="02020603050405020304" pitchFamily="18" charset="0"/>
              </a:rPr>
              <a:t>   - </a:t>
            </a:r>
            <a:r>
              <a:rPr lang="zh-CN" altLang="en-US" sz="1800" dirty="0">
                <a:solidFill>
                  <a:schemeClr val="tx1"/>
                </a:solidFill>
                <a:cs typeface="Times New Roman" panose="02020603050405020304" pitchFamily="18" charset="0"/>
              </a:rPr>
              <a:t>分类报告：每一类（</a:t>
            </a:r>
            <a:r>
              <a:rPr lang="en-US" altLang="zh-CN" sz="1800" dirty="0">
                <a:solidFill>
                  <a:schemeClr val="tx1"/>
                </a:solidFill>
                <a:cs typeface="Times New Roman" panose="02020603050405020304" pitchFamily="18" charset="0"/>
              </a:rPr>
              <a:t>`ham`</a:t>
            </a:r>
            <a:r>
              <a:rPr lang="zh-CN" altLang="en-US" sz="1800" dirty="0">
                <a:solidFill>
                  <a:schemeClr val="tx1"/>
                </a:solidFill>
                <a:cs typeface="Times New Roman" panose="02020603050405020304" pitchFamily="18" charset="0"/>
              </a:rPr>
              <a:t>、</a:t>
            </a:r>
            <a:r>
              <a:rPr lang="en-US" altLang="zh-CN" sz="1800" dirty="0">
                <a:solidFill>
                  <a:schemeClr val="tx1"/>
                </a:solidFill>
                <a:cs typeface="Times New Roman" panose="02020603050405020304" pitchFamily="18" charset="0"/>
              </a:rPr>
              <a:t>`spam`</a:t>
            </a:r>
            <a:r>
              <a:rPr lang="zh-CN" altLang="en-US" sz="1800" dirty="0">
                <a:solidFill>
                  <a:schemeClr val="tx1"/>
                </a:solidFill>
                <a:cs typeface="Times New Roman" panose="02020603050405020304" pitchFamily="18" charset="0"/>
              </a:rPr>
              <a:t>）的</a:t>
            </a:r>
            <a:r>
              <a:rPr lang="en-US" altLang="zh-CN" sz="1800" dirty="0">
                <a:solidFill>
                  <a:schemeClr val="tx1"/>
                </a:solidFill>
                <a:cs typeface="Times New Roman" panose="02020603050405020304" pitchFamily="18" charset="0"/>
              </a:rPr>
              <a:t> Precision</a:t>
            </a:r>
            <a:r>
              <a:rPr lang="zh-CN" altLang="en-US" sz="1800" dirty="0">
                <a:solidFill>
                  <a:schemeClr val="tx1"/>
                </a:solidFill>
                <a:cs typeface="Times New Roman" panose="02020603050405020304" pitchFamily="18" charset="0"/>
              </a:rPr>
              <a:t>、</a:t>
            </a:r>
            <a:r>
              <a:rPr lang="en-US" altLang="zh-CN" sz="1800" dirty="0">
                <a:solidFill>
                  <a:schemeClr val="tx1"/>
                </a:solidFill>
                <a:cs typeface="Times New Roman" panose="02020603050405020304" pitchFamily="18" charset="0"/>
              </a:rPr>
              <a:t>Recall</a:t>
            </a:r>
            <a:r>
              <a:rPr lang="zh-CN" altLang="en-US" sz="1800" dirty="0">
                <a:solidFill>
                  <a:schemeClr val="tx1"/>
                </a:solidFill>
                <a:cs typeface="Times New Roman" panose="02020603050405020304" pitchFamily="18" charset="0"/>
              </a:rPr>
              <a:t>、</a:t>
            </a:r>
            <a:r>
              <a:rPr lang="en-US" altLang="zh-CN" sz="1800" dirty="0">
                <a:solidFill>
                  <a:schemeClr val="tx1"/>
                </a:solidFill>
                <a:cs typeface="Times New Roman" panose="02020603050405020304" pitchFamily="18" charset="0"/>
              </a:rPr>
              <a:t>F1-score</a:t>
            </a:r>
            <a:r>
              <a:rPr lang="zh-CN" altLang="en-US" sz="1800" dirty="0">
                <a:solidFill>
                  <a:schemeClr val="tx1"/>
                </a:solidFill>
                <a:cs typeface="Times New Roman" panose="02020603050405020304" pitchFamily="18" charset="0"/>
              </a:rPr>
              <a:t>（可使用</a:t>
            </a:r>
            <a:r>
              <a:rPr lang="en-US" altLang="zh-CN" sz="1800" dirty="0">
                <a:solidFill>
                  <a:schemeClr val="tx1"/>
                </a:solidFill>
                <a:cs typeface="Times New Roman" panose="02020603050405020304" pitchFamily="18" charset="0"/>
              </a:rPr>
              <a:t> `sklearn.metrics.classification_report` </a:t>
            </a:r>
            <a:r>
              <a:rPr lang="zh-CN" altLang="en-US" sz="1800" dirty="0">
                <a:solidFill>
                  <a:schemeClr val="tx1"/>
                </a:solidFill>
                <a:cs typeface="Times New Roman" panose="02020603050405020304" pitchFamily="18" charset="0"/>
              </a:rPr>
              <a:t>或自行计算）；</a:t>
            </a:r>
            <a:r>
              <a:rPr lang="en-US" altLang="zh-CN" sz="1800" dirty="0">
                <a:solidFill>
                  <a:schemeClr val="tx1"/>
                </a:solidFill>
                <a:cs typeface="Times New Roman" panose="02020603050405020304" pitchFamily="18" charset="0"/>
              </a:rPr>
              <a:t>  </a:t>
            </a:r>
            <a:endParaRPr lang="en-US" altLang="zh-CN" sz="1800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marL="471170" lvl="1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800" dirty="0">
                <a:solidFill>
                  <a:schemeClr val="tx1"/>
                </a:solidFill>
                <a:cs typeface="Times New Roman" panose="02020603050405020304" pitchFamily="18" charset="0"/>
              </a:rPr>
              <a:t>   - </a:t>
            </a:r>
            <a:r>
              <a:rPr lang="zh-CN" altLang="en-US" sz="1800" dirty="0">
                <a:solidFill>
                  <a:schemeClr val="tx1"/>
                </a:solidFill>
                <a:cs typeface="Times New Roman" panose="02020603050405020304" pitchFamily="18" charset="0"/>
              </a:rPr>
              <a:t>结合类别不平衡，用</a:t>
            </a:r>
            <a:r>
              <a:rPr lang="en-US" altLang="zh-CN" sz="1800" dirty="0">
                <a:solidFill>
                  <a:schemeClr val="tx1"/>
                </a:solidFill>
                <a:cs typeface="Times New Roman" panose="02020603050405020304" pitchFamily="18" charset="0"/>
              </a:rPr>
              <a:t> 1</a:t>
            </a:r>
            <a:r>
              <a:rPr lang="zh-CN" altLang="en-US" sz="1800" dirty="0">
                <a:solidFill>
                  <a:schemeClr val="tx1"/>
                </a:solidFill>
                <a:cs typeface="Times New Roman" panose="02020603050405020304" pitchFamily="18" charset="0"/>
              </a:rPr>
              <a:t>～</a:t>
            </a:r>
            <a:r>
              <a:rPr lang="en-US" altLang="zh-CN" sz="1800" dirty="0">
                <a:solidFill>
                  <a:schemeClr val="tx1"/>
                </a:solidFill>
                <a:cs typeface="Times New Roman" panose="02020603050405020304" pitchFamily="18" charset="0"/>
              </a:rPr>
              <a:t>2 </a:t>
            </a:r>
            <a:r>
              <a:rPr lang="zh-CN" altLang="en-US" sz="1800" dirty="0">
                <a:solidFill>
                  <a:schemeClr val="tx1"/>
                </a:solidFill>
                <a:cs typeface="Times New Roman" panose="02020603050405020304" pitchFamily="18" charset="0"/>
              </a:rPr>
              <a:t>句话简要说明：若垃圾短信</a:t>
            </a:r>
            <a:r>
              <a:rPr lang="en-US" altLang="zh-CN" sz="1800" dirty="0">
                <a:solidFill>
                  <a:schemeClr val="tx1"/>
                </a:solidFill>
                <a:cs typeface="Times New Roman" panose="02020603050405020304" pitchFamily="18" charset="0"/>
              </a:rPr>
              <a:t> Recall</a:t>
            </a:r>
            <a:r>
              <a:rPr lang="zh-CN" altLang="en-US" sz="1800" dirty="0">
                <a:solidFill>
                  <a:schemeClr val="tx1"/>
                </a:solidFill>
                <a:cs typeface="Times New Roman" panose="02020603050405020304" pitchFamily="18" charset="0"/>
              </a:rPr>
              <a:t>偏低，在实际应用中可能带来什么问题（如漏检垃圾邮件）。</a:t>
            </a:r>
            <a:endParaRPr lang="zh-CN" altLang="en-US" sz="1800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 </a:t>
            </a:r>
            <a:r>
              <a:rPr lang="zh-CN" altLang="en-US" dirty="0"/>
              <a:t>作业提交说明</a:t>
            </a:r>
            <a:endParaRPr lang="zh-CN" altLang="en-US" dirty="0"/>
          </a:p>
        </p:txBody>
      </p:sp>
      <p:sp>
        <p:nvSpPr>
          <p:cNvPr id="25603" name="内容占位符 2"/>
          <p:cNvSpPr>
            <a:spLocks noGrp="1" noChangeArrowheads="1"/>
          </p:cNvSpPr>
          <p:nvPr>
            <p:ph idx="1"/>
          </p:nvPr>
        </p:nvSpPr>
        <p:spPr>
          <a:xfrm>
            <a:off x="250825" y="1149777"/>
            <a:ext cx="8374702" cy="5400675"/>
          </a:xfrm>
        </p:spPr>
        <p:txBody>
          <a:bodyPr/>
          <a:lstStyle/>
          <a:p>
            <a:r>
              <a:rPr lang="zh-CN" altLang="en-US" sz="2400" dirty="0"/>
              <a:t>压缩包命名</a:t>
            </a:r>
            <a:r>
              <a:rPr lang="zh-CN" altLang="en-US" sz="2400" dirty="0">
                <a:cs typeface="Times New Roman" panose="02020603050405020304" pitchFamily="18" charset="0"/>
              </a:rPr>
              <a:t>为：“学号</a:t>
            </a:r>
            <a:r>
              <a:rPr lang="en-US" altLang="zh-CN" sz="2400" dirty="0">
                <a:cs typeface="Times New Roman" panose="02020603050405020304" pitchFamily="18" charset="0"/>
              </a:rPr>
              <a:t>_</a:t>
            </a:r>
            <a:r>
              <a:rPr lang="zh-CN" altLang="en-US" sz="2400" dirty="0">
                <a:cs typeface="Times New Roman" panose="02020603050405020304" pitchFamily="18" charset="0"/>
              </a:rPr>
              <a:t>姓名</a:t>
            </a:r>
            <a:r>
              <a:rPr lang="en-US" altLang="zh-CN" sz="2400" dirty="0">
                <a:cs typeface="Times New Roman" panose="02020603050405020304" pitchFamily="18" charset="0"/>
              </a:rPr>
              <a:t>_</a:t>
            </a:r>
            <a:r>
              <a:rPr lang="zh-CN" altLang="en-US" sz="2400" dirty="0">
                <a:cs typeface="Times New Roman" panose="02020603050405020304" pitchFamily="18" charset="0"/>
              </a:rPr>
              <a:t>作业编号”，例：</a:t>
            </a:r>
            <a:r>
              <a:rPr lang="en-US" altLang="zh-CN" sz="2400" dirty="0">
                <a:cs typeface="Times New Roman" panose="02020603050405020304" pitchFamily="18" charset="0"/>
              </a:rPr>
              <a:t>20250414_</a:t>
            </a:r>
            <a:r>
              <a:rPr lang="zh-CN" altLang="en-US" sz="2400" dirty="0">
                <a:cs typeface="Times New Roman" panose="02020603050405020304" pitchFamily="18" charset="0"/>
              </a:rPr>
              <a:t>张三</a:t>
            </a:r>
            <a:r>
              <a:rPr lang="en-US" altLang="zh-CN" sz="2400" dirty="0">
                <a:cs typeface="Times New Roman" panose="02020603050405020304" pitchFamily="18" charset="0"/>
              </a:rPr>
              <a:t>_</a:t>
            </a:r>
            <a:r>
              <a:rPr lang="zh-CN" altLang="en-US" sz="2400" dirty="0">
                <a:cs typeface="Times New Roman" panose="02020603050405020304" pitchFamily="18" charset="0"/>
              </a:rPr>
              <a:t>实验</a:t>
            </a:r>
            <a:r>
              <a:rPr lang="en-US" altLang="zh-CN" sz="2400" dirty="0">
                <a:cs typeface="Times New Roman" panose="02020603050405020304" pitchFamily="18" charset="0"/>
              </a:rPr>
              <a:t>4</a:t>
            </a:r>
            <a:r>
              <a:rPr lang="zh-CN" altLang="en-US" sz="2400" dirty="0">
                <a:cs typeface="Times New Roman" panose="02020603050405020304" pitchFamily="18" charset="0"/>
              </a:rPr>
              <a:t>。</a:t>
            </a:r>
            <a:endParaRPr lang="en-US" altLang="zh-CN" sz="2400" dirty="0"/>
          </a:p>
          <a:p>
            <a:r>
              <a:rPr lang="zh-CN" altLang="en-US" sz="2400" dirty="0"/>
              <a:t>每次作业文件下包含两部分：</a:t>
            </a:r>
            <a:r>
              <a:rPr lang="en-US" altLang="zh-CN" sz="2400" dirty="0"/>
              <a:t>code</a:t>
            </a:r>
            <a:r>
              <a:rPr lang="zh-CN" altLang="en-US" sz="2400" dirty="0"/>
              <a:t>文件夹和实验报告</a:t>
            </a:r>
            <a:r>
              <a:rPr lang="en-US" altLang="zh-CN" sz="2400" dirty="0"/>
              <a:t>PDF</a:t>
            </a:r>
            <a:r>
              <a:rPr lang="zh-CN" altLang="en-US" sz="2400" dirty="0"/>
              <a:t>文件。</a:t>
            </a:r>
            <a:endParaRPr lang="en-US" altLang="zh-CN" sz="2400" dirty="0"/>
          </a:p>
          <a:p>
            <a:pPr lvl="1" eaLnBrk="1" hangingPunct="1"/>
            <a:r>
              <a:rPr lang="en-US" altLang="zh-CN" sz="2400" dirty="0">
                <a:solidFill>
                  <a:schemeClr val="tx1"/>
                </a:solidFill>
                <a:cs typeface="Times New Roman" panose="02020603050405020304" pitchFamily="18" charset="0"/>
              </a:rPr>
              <a:t>code</a:t>
            </a:r>
            <a:r>
              <a:rPr lang="zh-CN" altLang="en-US" sz="2400" dirty="0">
                <a:solidFill>
                  <a:schemeClr val="tx1"/>
                </a:solidFill>
                <a:cs typeface="Times New Roman" panose="02020603050405020304" pitchFamily="18" charset="0"/>
              </a:rPr>
              <a:t>文件夹：存放实验代码；</a:t>
            </a:r>
            <a:endParaRPr lang="en-US" altLang="zh-CN" sz="2400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 eaLnBrk="1" hangingPunct="1"/>
            <a:r>
              <a:rPr lang="en-US" altLang="zh-CN" sz="2400" dirty="0">
                <a:solidFill>
                  <a:schemeClr val="tx1"/>
                </a:solidFill>
                <a:cs typeface="Times New Roman" panose="02020603050405020304" pitchFamily="18" charset="0"/>
              </a:rPr>
              <a:t>PDF</a:t>
            </a:r>
            <a:r>
              <a:rPr lang="zh-CN" altLang="en-US" sz="2400" dirty="0">
                <a:solidFill>
                  <a:schemeClr val="tx1"/>
                </a:solidFill>
                <a:cs typeface="Times New Roman" panose="02020603050405020304" pitchFamily="18" charset="0"/>
              </a:rPr>
              <a:t>文件格式参考发的模板。</a:t>
            </a:r>
            <a:endParaRPr lang="en-US" altLang="zh-CN" sz="2400" dirty="0"/>
          </a:p>
          <a:p>
            <a:r>
              <a:rPr lang="zh-CN" altLang="en-US" sz="2400" dirty="0"/>
              <a:t>如果需要更新提交的版本，则在后面加</a:t>
            </a:r>
            <a:r>
              <a:rPr lang="en-US" altLang="zh-CN" sz="2400" dirty="0"/>
              <a:t>_v2</a:t>
            </a:r>
            <a:r>
              <a:rPr lang="zh-CN" altLang="en-US" sz="2400" dirty="0"/>
              <a:t>，</a:t>
            </a:r>
            <a:r>
              <a:rPr lang="en-US" altLang="zh-CN" sz="2400" dirty="0"/>
              <a:t>_v3</a:t>
            </a:r>
            <a:r>
              <a:rPr lang="zh-CN" altLang="en-US" sz="2400" dirty="0"/>
              <a:t>。如第一版是“学号</a:t>
            </a:r>
            <a:r>
              <a:rPr lang="en-US" altLang="zh-CN" sz="2400" dirty="0"/>
              <a:t>_</a:t>
            </a:r>
            <a:r>
              <a:rPr lang="zh-CN" altLang="en-US" sz="2400" dirty="0"/>
              <a:t>姓名</a:t>
            </a:r>
            <a:r>
              <a:rPr lang="en-US" altLang="zh-CN" sz="2400" dirty="0"/>
              <a:t>_</a:t>
            </a:r>
            <a:r>
              <a:rPr lang="zh-CN" altLang="en-US" sz="2400" dirty="0"/>
              <a:t>作业编号</a:t>
            </a:r>
            <a:r>
              <a:rPr lang="en-US" altLang="zh-CN" sz="2400" dirty="0"/>
              <a:t>.zip</a:t>
            </a:r>
            <a:r>
              <a:rPr lang="zh-CN" altLang="en-US" sz="2400" dirty="0"/>
              <a:t>”，第二版是“学号</a:t>
            </a:r>
            <a:r>
              <a:rPr lang="en-US" altLang="zh-CN" sz="2400" dirty="0"/>
              <a:t>_</a:t>
            </a:r>
            <a:r>
              <a:rPr lang="zh-CN" altLang="en-US" sz="2400" dirty="0"/>
              <a:t>姓名</a:t>
            </a:r>
            <a:r>
              <a:rPr lang="en-US" altLang="zh-CN" sz="2400" dirty="0"/>
              <a:t>_</a:t>
            </a:r>
            <a:r>
              <a:rPr lang="zh-CN" altLang="en-US" sz="2400" dirty="0"/>
              <a:t>作业编号</a:t>
            </a:r>
            <a:r>
              <a:rPr lang="en-US" altLang="zh-CN" sz="2400" dirty="0"/>
              <a:t>_v2.zip</a:t>
            </a:r>
            <a:r>
              <a:rPr lang="zh-CN" altLang="en-US" sz="2400" dirty="0"/>
              <a:t>”，依此类推。</a:t>
            </a:r>
            <a:endParaRPr lang="en-US" altLang="zh-CN" sz="2400" dirty="0"/>
          </a:p>
          <a:p>
            <a:pPr marL="0" indent="0">
              <a:buNone/>
            </a:pPr>
            <a:endParaRPr lang="zh-CN" altLang="en-US" sz="2400" dirty="0"/>
          </a:p>
        </p:txBody>
      </p:sp>
      <p:sp>
        <p:nvSpPr>
          <p:cNvPr id="25604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E516C6F3-7B10-4E5D-9F7F-9BE666DCD9BD}" type="slidenum">
              <a:rPr kumimoji="0" lang="en-US" altLang="ja-JP" sz="1400" b="0" smtClean="0">
                <a:solidFill>
                  <a:srgbClr val="A50021"/>
                </a:solidFill>
              </a:rPr>
            </a:fld>
            <a:endParaRPr kumimoji="0" lang="en-US" altLang="ja-JP" sz="1400" b="0">
              <a:solidFill>
                <a:srgbClr val="A50021"/>
              </a:solidFill>
            </a:endParaRPr>
          </a:p>
        </p:txBody>
      </p:sp>
    </p:spTree>
  </p:cSld>
  <p:clrMapOvr>
    <a:masterClrMapping/>
  </p:clrMapOvr>
  <p:transition spd="slow"/>
</p:sld>
</file>

<file path=ppt/theme/theme1.xml><?xml version="1.0" encoding="utf-8"?>
<a:theme xmlns:a="http://schemas.openxmlformats.org/drawingml/2006/main" name="wasedaSample5">
  <a:themeElements>
    <a:clrScheme name="wasedaSample5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自定义 1">
      <a:majorFont>
        <a:latin typeface="Times New Roman"/>
        <a:ea typeface="黑体"/>
        <a:cs typeface=""/>
      </a:majorFont>
      <a:minorFont>
        <a:latin typeface="Times New Roman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CC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ja-JP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MS PGothic" panose="020B0600070205080204" pitchFamily="34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CC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ja-JP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MS PGothic" panose="020B0600070205080204" pitchFamily="34" charset="-128"/>
          </a:defRPr>
        </a:defPPr>
      </a:lstStyle>
    </a:lnDef>
  </a:objectDefaults>
  <a:extraClrSchemeLst>
    <a:extraClrScheme>
      <a:clrScheme name="wasedaSample5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asedaSample5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asedaSample5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asedaSample5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asedaSample5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asedaSample5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asedaSample5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asedaSample5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asedaSample5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2811</Words>
  <Application>WPS 演示</Application>
  <PresentationFormat>全屏显示(4:3)</PresentationFormat>
  <Paragraphs>216</Paragraphs>
  <Slides>15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33" baseType="lpstr">
      <vt:lpstr>Arial</vt:lpstr>
      <vt:lpstr>宋体</vt:lpstr>
      <vt:lpstr>Wingdings</vt:lpstr>
      <vt:lpstr>Times New Roman</vt:lpstr>
      <vt:lpstr>MS PGothic</vt:lpstr>
      <vt:lpstr>黑体</vt:lpstr>
      <vt:lpstr>MS PMincho</vt:lpstr>
      <vt:lpstr>Yu Gothic UI</vt:lpstr>
      <vt:lpstr>微软雅黑</vt:lpstr>
      <vt:lpstr>Cambria Math</vt:lpstr>
      <vt:lpstr>-apple-system</vt:lpstr>
      <vt:lpstr>Segoe Print</vt:lpstr>
      <vt:lpstr>Arial Unicode MS</vt:lpstr>
      <vt:lpstr>BatangChe</vt:lpstr>
      <vt:lpstr>-apple-system</vt:lpstr>
      <vt:lpstr>MS PMincho</vt:lpstr>
      <vt:lpstr>Wingdings</vt:lpstr>
      <vt:lpstr>wasedaSample5</vt:lpstr>
      <vt:lpstr>Artificial Intelligence 人工智能实验</vt:lpstr>
      <vt:lpstr>目录 </vt:lpstr>
      <vt:lpstr>1.1 人工神经网络介绍</vt:lpstr>
      <vt:lpstr>1.1 贝叶斯原理</vt:lpstr>
      <vt:lpstr>1.1 朴素贝叶斯</vt:lpstr>
      <vt:lpstr>1.1 贝叶斯定理</vt:lpstr>
      <vt:lpstr>1.1 朴素贝叶斯</vt:lpstr>
      <vt:lpstr>1.2 朴素贝叶斯</vt:lpstr>
      <vt:lpstr>1.2 朴素贝叶斯</vt:lpstr>
      <vt:lpstr>1.3 朴素贝叶斯应用实例</vt:lpstr>
      <vt:lpstr>1.3 朴素贝叶斯应用实例</vt:lpstr>
      <vt:lpstr>1.3 朴素贝叶斯应用实例</vt:lpstr>
      <vt:lpstr>2 垃圾邮件分类任务</vt:lpstr>
      <vt:lpstr>2 垃圾邮件分类任务</vt:lpstr>
      <vt:lpstr>3. 作业提交说明</vt:lpstr>
    </vt:vector>
  </TitlesOfParts>
  <Company>玄研究室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4-机器学习基础</dc:title>
  <dc:creator>宇聪 张</dc:creator>
  <cp:lastModifiedBy>罗怡</cp:lastModifiedBy>
  <cp:revision>1147</cp:revision>
  <cp:lastPrinted>1999-07-29T07:50:00Z</cp:lastPrinted>
  <dcterms:created xsi:type="dcterms:W3CDTF">1999-04-15T12:11:00Z</dcterms:created>
  <dcterms:modified xsi:type="dcterms:W3CDTF">2026-05-06T08:42:18Z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BD61E034086345D6BC7C3A0B204A8D9D_13</vt:lpwstr>
  </property>
</Properties>
</file>