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3038834" y="3762811"/>
            <a:ext cx="3059429" cy="2077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3900" b="1" kern="0" spc="50" dirty="0">
                <a:solidFill>
                  <a:srgbClr val="A50021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深度强化学习</a:t>
            </a:r>
            <a:endParaRPr sz="3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75335" indent="-599440" algn="l" rtl="0" eaLnBrk="0">
              <a:lnSpc>
                <a:spcPct val="95000"/>
              </a:lnSpc>
              <a:spcBef>
                <a:spcPts val="0"/>
              </a:spcBef>
            </a:pPr>
            <a:r>
              <a:rPr sz="2400" b="1" kern="0" spc="-40" dirty="0">
                <a:solidFill>
                  <a:srgbClr val="A50021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中山大学计算机学院</a:t>
            </a:r>
            <a:r>
              <a:rPr sz="2400" kern="0" spc="20" dirty="0">
                <a:solidFill>
                  <a:srgbClr val="A50021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b="1" kern="0" spc="-20" dirty="0">
                <a:solidFill>
                  <a:srgbClr val="A50021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202</a:t>
            </a:r>
            <a:r>
              <a:rPr lang="en-US" altLang="zh-CN" sz="2400" b="1" kern="0" spc="-20" dirty="0">
                <a:solidFill>
                  <a:srgbClr val="A50021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</a:t>
            </a:r>
            <a:r>
              <a:rPr sz="2400" b="1" kern="0" spc="-20" dirty="0">
                <a:solidFill>
                  <a:srgbClr val="A50021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年春季</a:t>
            </a:r>
            <a:endParaRPr sz="2400" dirty="0">
              <a:latin typeface="SimHei"/>
              <a:ea typeface="SimHei"/>
              <a:cs typeface="SimHei"/>
            </a:endParaRPr>
          </a:p>
        </p:txBody>
      </p:sp>
      <p:sp>
        <p:nvSpPr>
          <p:cNvPr id="4" name="textbox 4"/>
          <p:cNvSpPr/>
          <p:nvPr/>
        </p:nvSpPr>
        <p:spPr>
          <a:xfrm>
            <a:off x="2343783" y="1725051"/>
            <a:ext cx="4636134" cy="10902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3900" b="1" kern="0" spc="40" dirty="0">
                <a:solidFill>
                  <a:srgbClr val="A50021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Artificial Int</a:t>
            </a:r>
            <a:r>
              <a:rPr sz="3900" b="1" kern="0" spc="30" dirty="0">
                <a:solidFill>
                  <a:srgbClr val="A50021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elligence</a:t>
            </a:r>
            <a:endParaRPr sz="39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727075" algn="l" rtl="0" eaLnBrk="0">
              <a:lnSpc>
                <a:spcPct val="86000"/>
              </a:lnSpc>
              <a:spcBef>
                <a:spcPts val="695"/>
              </a:spcBef>
            </a:pPr>
            <a:r>
              <a:rPr sz="3900" b="1" kern="0" spc="40" dirty="0">
                <a:solidFill>
                  <a:srgbClr val="A50021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人工智能实验</a:t>
            </a:r>
            <a:endParaRPr sz="3900" dirty="0">
              <a:latin typeface="SimHei"/>
              <a:ea typeface="SimHei"/>
              <a:cs typeface="SimHei"/>
            </a:endParaRPr>
          </a:p>
        </p:txBody>
      </p:sp>
      <p:sp>
        <p:nvSpPr>
          <p:cNvPr id="6" name="rect 6"/>
          <p:cNvSpPr/>
          <p:nvPr/>
        </p:nvSpPr>
        <p:spPr>
          <a:xfrm>
            <a:off x="685800" y="2887662"/>
            <a:ext cx="4803394" cy="109537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" name="path 8"/>
          <p:cNvSpPr/>
          <p:nvPr/>
        </p:nvSpPr>
        <p:spPr>
          <a:xfrm>
            <a:off x="685800" y="2882963"/>
            <a:ext cx="7772400" cy="9525"/>
          </a:xfrm>
          <a:custGeom>
            <a:avLst/>
            <a:gdLst/>
            <a:ahLst/>
            <a:cxnLst/>
            <a:rect l="0" t="0" r="0" b="0"/>
            <a:pathLst>
              <a:path w="12240" h="15">
                <a:moveTo>
                  <a:pt x="0" y="7"/>
                </a:moveTo>
                <a:lnTo>
                  <a:pt x="12240" y="7"/>
                </a:lnTo>
              </a:path>
            </a:pathLst>
          </a:custGeom>
          <a:noFill/>
          <a:ln w="9525" cap="flat">
            <a:solidFill>
              <a:srgbClr val="CC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/>
          <p:nvPr/>
        </p:nvSpPr>
        <p:spPr>
          <a:xfrm>
            <a:off x="608792" y="1006602"/>
            <a:ext cx="3268979" cy="3545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15" algn="l" rtl="0" eaLnBrk="0">
              <a:lnSpc>
                <a:spcPct val="90000"/>
              </a:lnSpc>
            </a:pPr>
            <a:r>
              <a:rPr sz="3000" b="1" kern="0" spc="-20" dirty="0">
                <a:solidFill>
                  <a:srgbClr val="A50021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   </a:t>
            </a:r>
            <a:r>
              <a:rPr sz="3000" b="1" kern="0" spc="-20" dirty="0">
                <a:solidFill>
                  <a:srgbClr val="A50021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理论课内容回顾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07695" algn="l" rtl="0" eaLnBrk="0">
              <a:lnSpc>
                <a:spcPct val="90000"/>
              </a:lnSpc>
              <a:spcBef>
                <a:spcPts val="605"/>
              </a:spcBef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1.1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深度强化学习介绍</a:t>
            </a:r>
            <a:endParaRPr sz="2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07695" algn="l" rtl="0" eaLnBrk="0">
              <a:lnSpc>
                <a:spcPct val="76000"/>
              </a:lnSpc>
              <a:spcBef>
                <a:spcPts val="605"/>
              </a:spcBef>
            </a:pP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1.2 DQN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4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" algn="l" rtl="0" eaLnBrk="0">
              <a:lnSpc>
                <a:spcPct val="90000"/>
              </a:lnSpc>
              <a:spcBef>
                <a:spcPts val="905"/>
              </a:spcBef>
            </a:pPr>
            <a:r>
              <a:rPr sz="3000" b="1" kern="0" spc="-50" dirty="0">
                <a:solidFill>
                  <a:srgbClr val="A50021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2.</a:t>
            </a:r>
            <a:r>
              <a:rPr sz="3000" b="1" kern="0" spc="70" dirty="0">
                <a:solidFill>
                  <a:srgbClr val="A50021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</a:t>
            </a:r>
            <a:r>
              <a:rPr sz="3000" b="1" kern="0" spc="-50" dirty="0">
                <a:solidFill>
                  <a:srgbClr val="A50021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实验任务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47065" algn="l" rtl="0" eaLnBrk="0">
              <a:lnSpc>
                <a:spcPct val="90000"/>
              </a:lnSpc>
              <a:spcBef>
                <a:spcPts val="605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2.1CartPo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</a:t>
            </a:r>
            <a:endParaRPr sz="2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  <a:spcBef>
                <a:spcPts val="0"/>
              </a:spcBef>
            </a:pPr>
            <a:r>
              <a:rPr sz="3000" b="1" kern="0" spc="-10" dirty="0">
                <a:solidFill>
                  <a:srgbClr val="A50021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3.   </a:t>
            </a:r>
            <a:r>
              <a:rPr sz="3000" b="1" kern="0" spc="-10" dirty="0">
                <a:solidFill>
                  <a:srgbClr val="A50021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作业提交说明</a:t>
            </a:r>
            <a:endParaRPr sz="3000" dirty="0">
              <a:latin typeface="SimHei"/>
              <a:ea typeface="SimHei"/>
              <a:cs typeface="SimHei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7345" algn="l" rtl="0" eaLnBrk="0">
              <a:lnSpc>
                <a:spcPct val="83000"/>
              </a:lnSpc>
              <a:spcBef>
                <a:spcPts val="5"/>
              </a:spcBef>
            </a:pPr>
            <a:r>
              <a:rPr sz="3800" b="1" kern="0" spc="-1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目录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8766392" y="6490549"/>
            <a:ext cx="119379" cy="193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400" kern="0" spc="-20" dirty="0">
                <a:solidFill>
                  <a:srgbClr val="A5002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/>
          <p:nvPr/>
        </p:nvSpPr>
        <p:spPr>
          <a:xfrm>
            <a:off x="359443" y="1116098"/>
            <a:ext cx="8589644" cy="5341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700" kern="0" spc="-13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什么是深度强化学习？</a:t>
            </a:r>
            <a:endParaRPr sz="2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02970" indent="-430530" algn="l" rtl="0" eaLnBrk="0">
              <a:lnSpc>
                <a:spcPct val="139000"/>
              </a:lnSpc>
              <a:spcBef>
                <a:spcPts val="540"/>
              </a:spcBef>
            </a:pPr>
            <a:r>
              <a:rPr sz="1800" kern="0" spc="2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传统的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RL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算法有个很大的问题在于它是一种表格方法，就是根据过去出现过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的状态，统计和迭代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值。这些基于表格的方法，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一方面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适用的状态和动作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空间非常小，对于图像和高维度离散状态、连续域状态无法直接适用；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另一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方面对于一个状态从未出现过，这些算法是无法处理的，也就是说基于表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格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的算法没有对未知状态的泛化能力。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2440" algn="l" rtl="0" eaLnBrk="0">
              <a:lnSpc>
                <a:spcPct val="90000"/>
              </a:lnSpc>
              <a:spcBef>
                <a:spcPts val="545"/>
              </a:spcBef>
            </a:pPr>
            <a:r>
              <a:rPr sz="1800" kern="0" spc="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深度模型（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Deep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）的引入使得强化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学习算法（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RL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）解决更复杂的问题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911860" algn="l" rtl="0" eaLnBrk="0">
              <a:lnSpc>
                <a:spcPct val="90000"/>
              </a:lnSpc>
              <a:spcBef>
                <a:spcPts val="1730"/>
              </a:spcBef>
            </a:pPr>
            <a:r>
              <a:rPr sz="1800" kern="0" spc="-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Deep = can process complex sensory inp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ut</a:t>
            </a:r>
            <a:r>
              <a:rPr sz="1800" kern="0" spc="-2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，能用于处理复杂的感知输入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911860" algn="l" rtl="0" eaLnBrk="0">
              <a:lnSpc>
                <a:spcPct val="90000"/>
              </a:lnSpc>
              <a:spcBef>
                <a:spcPts val="1730"/>
              </a:spcBef>
            </a:pPr>
            <a:r>
              <a:rPr sz="1800" kern="0" spc="-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RL = can ch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oose complex actions</a:t>
            </a:r>
            <a:r>
              <a:rPr sz="1800" kern="0" spc="-2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，能用于选择复杂的动作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2440" algn="l" rtl="0" eaLnBrk="0">
              <a:lnSpc>
                <a:spcPct val="87000"/>
              </a:lnSpc>
            </a:pPr>
            <a:r>
              <a:rPr sz="1800" kern="0" spc="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深度神经网络用于状态值函数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、动作值函数、策略的表征</a:t>
            </a:r>
            <a:endParaRPr sz="1800" dirty="0">
              <a:latin typeface="SimHei"/>
              <a:ea typeface="SimHei"/>
              <a:cs typeface="SimHei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9720" algn="l" rtl="0" eaLnBrk="0">
              <a:lnSpc>
                <a:spcPct val="90000"/>
              </a:lnSpc>
            </a:pPr>
            <a:r>
              <a:rPr sz="3800" b="1" kern="0" spc="-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1.1 </a:t>
            </a:r>
            <a:r>
              <a:rPr sz="3800" b="1" kern="0" spc="-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深度强化学习介绍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8768710" y="6490549"/>
            <a:ext cx="117475" cy="193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400" kern="0" spc="-20" dirty="0">
                <a:solidFill>
                  <a:srgbClr val="A5002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/>
          <p:cNvSpPr/>
          <p:nvPr/>
        </p:nvSpPr>
        <p:spPr>
          <a:xfrm>
            <a:off x="359443" y="1116098"/>
            <a:ext cx="8456294" cy="3521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27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700" kern="0" spc="-14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</a:t>
            </a:r>
            <a:r>
              <a:rPr sz="2700" kern="0" spc="1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learning</a:t>
            </a:r>
            <a:r>
              <a:rPr sz="27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算法回顾</a:t>
            </a:r>
            <a:endParaRPr sz="2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04875" indent="-432435" algn="l" rtl="0" eaLnBrk="0">
              <a:lnSpc>
                <a:spcPct val="123000"/>
              </a:lnSpc>
              <a:spcBef>
                <a:spcPts val="545"/>
              </a:spcBef>
            </a:pPr>
            <a:r>
              <a:rPr sz="18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是一种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0" dirty="0">
                <a:solidFill>
                  <a:srgbClr val="B9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value-based</a:t>
            </a:r>
            <a:r>
              <a:rPr sz="1800" kern="0" spc="120" dirty="0">
                <a:solidFill>
                  <a:srgbClr val="B9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的强化学习算法，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即为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Q(s,a)</a:t>
            </a:r>
            <a:r>
              <a:rPr sz="1800" kern="0" spc="-1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，在某一时刻的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state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状态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下，采取动作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actio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能够获得收益的期望。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900430" indent="-427990" algn="l" rtl="0" eaLnBrk="0">
              <a:lnSpc>
                <a:spcPct val="122000"/>
              </a:lnSpc>
              <a:spcBef>
                <a:spcPts val="1595"/>
              </a:spcBef>
            </a:pPr>
            <a:r>
              <a:rPr sz="1800" kern="0" spc="3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主要思想是</a:t>
            </a:r>
            <a:r>
              <a:rPr sz="1800" kern="0" spc="30" dirty="0">
                <a:solidFill>
                  <a:srgbClr val="B9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将</a:t>
            </a:r>
            <a:r>
              <a:rPr sz="1800" kern="0" spc="0" dirty="0">
                <a:solidFill>
                  <a:srgbClr val="B9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state</a:t>
            </a:r>
            <a:r>
              <a:rPr sz="1800" kern="0" spc="30" dirty="0">
                <a:solidFill>
                  <a:srgbClr val="B9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和</a:t>
            </a:r>
            <a:r>
              <a:rPr sz="1800" kern="0" spc="0" dirty="0">
                <a:solidFill>
                  <a:srgbClr val="B9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action</a:t>
            </a:r>
            <a:r>
              <a:rPr sz="1800" kern="0" spc="20" dirty="0">
                <a:solidFill>
                  <a:srgbClr val="B9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构建一张</a:t>
            </a:r>
            <a:r>
              <a:rPr sz="1800" kern="0" spc="20" dirty="0">
                <a:solidFill>
                  <a:srgbClr val="B9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Q-</a:t>
            </a:r>
            <a:r>
              <a:rPr sz="1800" kern="0" spc="0" dirty="0">
                <a:solidFill>
                  <a:srgbClr val="B9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table</a:t>
            </a:r>
            <a:r>
              <a:rPr sz="1800" kern="0" spc="20" dirty="0">
                <a:solidFill>
                  <a:srgbClr val="B9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表存储</a:t>
            </a:r>
            <a:r>
              <a:rPr sz="1800" kern="0" spc="20" dirty="0">
                <a:solidFill>
                  <a:srgbClr val="B9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</a:t>
            </a:r>
            <a:r>
              <a:rPr sz="1800" kern="0" spc="20" dirty="0">
                <a:solidFill>
                  <a:srgbClr val="B9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值，然后根据</a:t>
            </a:r>
            <a:r>
              <a:rPr sz="1800" kern="0" spc="20" dirty="0">
                <a:solidFill>
                  <a:srgbClr val="B9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</a:t>
            </a:r>
            <a:r>
              <a:rPr sz="1800" kern="0" spc="20" dirty="0">
                <a:solidFill>
                  <a:srgbClr val="B9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值选取能</a:t>
            </a:r>
            <a:r>
              <a:rPr sz="1800" kern="0" spc="-10" dirty="0">
                <a:solidFill>
                  <a:srgbClr val="B9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够获得最大收益的动作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898525" indent="-426085" algn="l" rtl="0" eaLnBrk="0">
              <a:lnSpc>
                <a:spcPct val="122000"/>
              </a:lnSpc>
              <a:spcBef>
                <a:spcPts val="1640"/>
              </a:spcBef>
            </a:pPr>
            <a:r>
              <a:rPr sz="1800" kern="0" spc="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基于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off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policy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时序差分法，且使用贝尔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曼方程可以对马尔科夫过程求解最优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策略。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2440" algn="l" rtl="0" eaLnBrk="0">
              <a:lnSpc>
                <a:spcPct val="94000"/>
              </a:lnSpc>
              <a:spcBef>
                <a:spcPts val="5"/>
              </a:spcBef>
            </a:pPr>
            <a:r>
              <a:rPr sz="1600" kern="0" spc="-7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600" kern="0" spc="5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伪码：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98589" y="4686896"/>
            <a:ext cx="8665971" cy="1684147"/>
          </a:xfrm>
          <a:prstGeom prst="rect">
            <a:avLst/>
          </a:prstGeom>
        </p:spPr>
      </p:pic>
      <p:sp>
        <p:nvSpPr>
          <p:cNvPr id="26" name="textbox 26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9720" algn="l" rtl="0" eaLnBrk="0">
              <a:lnSpc>
                <a:spcPct val="90000"/>
              </a:lnSpc>
            </a:pPr>
            <a:r>
              <a:rPr sz="3800" b="1" kern="0" spc="-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1.2 DQN</a:t>
            </a:r>
            <a:r>
              <a:rPr sz="3800" b="1" kern="0" spc="-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算法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8763539" y="6490549"/>
            <a:ext cx="122554" cy="193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400" kern="0" spc="-20" dirty="0">
                <a:solidFill>
                  <a:srgbClr val="A5002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30"/>
          <p:cNvSpPr/>
          <p:nvPr/>
        </p:nvSpPr>
        <p:spPr>
          <a:xfrm>
            <a:off x="359443" y="1116098"/>
            <a:ext cx="8456294" cy="55321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27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700" kern="0" spc="-14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DQN</a:t>
            </a:r>
            <a:r>
              <a:rPr sz="2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算法</a:t>
            </a:r>
            <a:endParaRPr sz="2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95350" indent="-422910" algn="l" rtl="0" eaLnBrk="0">
              <a:lnSpc>
                <a:spcPct val="122000"/>
              </a:lnSpc>
              <a:spcBef>
                <a:spcPts val="545"/>
              </a:spcBef>
            </a:pPr>
            <a:r>
              <a:rPr sz="1800" kern="0" spc="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将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Q-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learning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算法和深度神经网络结合，并额外引入两个机制</a:t>
            </a:r>
            <a:r>
              <a:rPr sz="1800" b="1" kern="0" spc="40" dirty="0">
                <a:solidFill>
                  <a:srgbClr val="B9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经验回放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和</a:t>
            </a:r>
            <a:r>
              <a:rPr sz="1800" b="1" kern="0" spc="40" dirty="0">
                <a:solidFill>
                  <a:srgbClr val="B9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</a:t>
            </a:r>
            <a:r>
              <a:rPr sz="1800" b="1" kern="0" spc="-20" dirty="0">
                <a:solidFill>
                  <a:srgbClr val="B9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标网络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898525" indent="-426085" algn="l" rtl="0" eaLnBrk="0">
              <a:lnSpc>
                <a:spcPct val="122000"/>
              </a:lnSpc>
              <a:spcBef>
                <a:spcPts val="1645"/>
              </a:spcBef>
            </a:pPr>
            <a:r>
              <a:rPr sz="1800" kern="0" spc="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800" b="1" kern="0" spc="40" dirty="0">
                <a:solidFill>
                  <a:srgbClr val="B9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经验回放（</a:t>
            </a:r>
            <a:r>
              <a:rPr sz="1800" b="1" kern="0" spc="0" dirty="0">
                <a:solidFill>
                  <a:srgbClr val="B9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Replay</a:t>
            </a:r>
            <a:r>
              <a:rPr sz="1800" b="1" kern="0" spc="40" dirty="0">
                <a:solidFill>
                  <a:srgbClr val="B9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1800" b="1" kern="0" spc="0" dirty="0">
                <a:solidFill>
                  <a:srgbClr val="B9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Buffer</a:t>
            </a:r>
            <a:r>
              <a:rPr sz="1800" b="1" kern="0" spc="130" dirty="0">
                <a:solidFill>
                  <a:srgbClr val="B9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）：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将智能体探索环境得到的数据储存起来，然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后随机采样小批次样本更新深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度神经网络的参数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911860" algn="l" rtl="0" eaLnBrk="0">
              <a:lnSpc>
                <a:spcPct val="88000"/>
              </a:lnSpc>
              <a:spcBef>
                <a:spcPts val="1640"/>
              </a:spcBef>
            </a:pPr>
            <a:r>
              <a:rPr sz="1700" kern="0" spc="-13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1700" kern="0" spc="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引入原因：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07465" algn="l" rtl="0" eaLnBrk="0">
              <a:lnSpc>
                <a:spcPct val="90000"/>
              </a:lnSpc>
              <a:spcBef>
                <a:spcPts val="455"/>
              </a:spcBef>
            </a:pPr>
            <a:r>
              <a:rPr sz="1500" kern="0" spc="100" dirty="0">
                <a:solidFill>
                  <a:srgbClr val="CC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深度神经网络作为有监督学习模型，要求数据满足独立同分布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1681480" indent="-374015" algn="l" rtl="0" eaLnBrk="0">
              <a:lnSpc>
                <a:spcPct val="129000"/>
              </a:lnSpc>
              <a:spcBef>
                <a:spcPts val="1640"/>
              </a:spcBef>
            </a:pPr>
            <a:r>
              <a:rPr sz="1500" kern="0" spc="0" dirty="0">
                <a:solidFill>
                  <a:srgbClr val="CC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500" kern="0" spc="120" dirty="0">
                <a:solidFill>
                  <a:srgbClr val="CC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Learning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算法得到的样本前后是有关系的。为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了打破数据之间的关联性，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Experience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Replay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方法通过存储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采样的方法将这个关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联性打破了。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911860" algn="l" rtl="0" eaLnBrk="0">
              <a:lnSpc>
                <a:spcPct val="94000"/>
              </a:lnSpc>
              <a:spcBef>
                <a:spcPts val="1655"/>
              </a:spcBef>
            </a:pPr>
            <a:r>
              <a:rPr sz="1600" kern="0" spc="-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 </a:t>
            </a: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优点：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07465" algn="l" rtl="0" eaLnBrk="0">
              <a:lnSpc>
                <a:spcPct val="90000"/>
              </a:lnSpc>
              <a:spcBef>
                <a:spcPts val="460"/>
              </a:spcBef>
            </a:pPr>
            <a:r>
              <a:rPr sz="1500" kern="0" spc="80" dirty="0">
                <a:solidFill>
                  <a:srgbClr val="CC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500" kern="0" spc="460" dirty="0">
                <a:solidFill>
                  <a:srgbClr val="CC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数据利用率高，因为一个样本被多次使用。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86560" indent="-379095" algn="l" rtl="0" eaLnBrk="0">
              <a:lnSpc>
                <a:spcPct val="130000"/>
              </a:lnSpc>
              <a:spcBef>
                <a:spcPts val="5"/>
              </a:spcBef>
            </a:pPr>
            <a:r>
              <a:rPr sz="1500" kern="0" spc="150" dirty="0">
                <a:solidFill>
                  <a:srgbClr val="CC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连续样本的相关性会使参数更新的方差（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variance</a:t>
            </a: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</a:t>
            </a:r>
            <a:r>
              <a:rPr sz="1500" kern="0" spc="-3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比较大，该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机制可减少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这种相关性。注意这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里用的是均匀随机采样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9720" algn="l" rtl="0" eaLnBrk="0">
              <a:lnSpc>
                <a:spcPct val="90000"/>
              </a:lnSpc>
            </a:pPr>
            <a:r>
              <a:rPr sz="3800" b="1" kern="0" spc="-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1.2 DQN</a:t>
            </a:r>
            <a:r>
              <a:rPr sz="3800" b="1" kern="0" spc="-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算法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8768710" y="6490549"/>
            <a:ext cx="117475" cy="193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400" kern="0" spc="-20" dirty="0">
                <a:solidFill>
                  <a:srgbClr val="A5002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6"/>
          <p:cNvSpPr/>
          <p:nvPr/>
        </p:nvSpPr>
        <p:spPr>
          <a:xfrm>
            <a:off x="359443" y="1116098"/>
            <a:ext cx="8454390" cy="5568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27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700" kern="0" spc="-14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DQN</a:t>
            </a:r>
            <a:r>
              <a:rPr sz="2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算法</a:t>
            </a:r>
            <a:endParaRPr sz="2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95350" indent="-422910" algn="l" rtl="0" eaLnBrk="0">
              <a:lnSpc>
                <a:spcPct val="122000"/>
              </a:lnSpc>
              <a:spcBef>
                <a:spcPts val="545"/>
              </a:spcBef>
            </a:pPr>
            <a:r>
              <a:rPr sz="1800" kern="0" spc="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将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Q-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learning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算法和深度神经网络结合，并额外引入两个机制</a:t>
            </a:r>
            <a:r>
              <a:rPr sz="1800" b="1" kern="0" spc="40" dirty="0">
                <a:solidFill>
                  <a:srgbClr val="B9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经验回放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和</a:t>
            </a:r>
            <a:r>
              <a:rPr sz="1800" b="1" kern="0" spc="40" dirty="0">
                <a:solidFill>
                  <a:srgbClr val="B9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</a:t>
            </a:r>
            <a:r>
              <a:rPr sz="1800" b="1" kern="0" spc="-20" dirty="0">
                <a:solidFill>
                  <a:srgbClr val="B9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标网络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902335" indent="-429895" algn="l" rtl="0" eaLnBrk="0">
              <a:lnSpc>
                <a:spcPct val="131000"/>
              </a:lnSpc>
              <a:spcBef>
                <a:spcPts val="1665"/>
              </a:spcBef>
            </a:pPr>
            <a:r>
              <a:rPr sz="18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6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b="1" kern="0" spc="0" dirty="0">
                <a:solidFill>
                  <a:srgbClr val="B9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目标网络（</a:t>
            </a:r>
            <a:r>
              <a:rPr sz="1800" b="1" kern="0" spc="0" dirty="0">
                <a:solidFill>
                  <a:srgbClr val="B9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Targe</a:t>
            </a:r>
            <a:r>
              <a:rPr sz="1800" b="1" kern="0" spc="-10" dirty="0">
                <a:solidFill>
                  <a:srgbClr val="B9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  Network</a:t>
            </a:r>
            <a:r>
              <a:rPr sz="1800" b="1" kern="0" spc="-150" dirty="0">
                <a:solidFill>
                  <a:srgbClr val="B9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</a:t>
            </a:r>
            <a:r>
              <a:rPr sz="1800" kern="0" spc="-540" dirty="0">
                <a:solidFill>
                  <a:srgbClr val="B9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b="1" kern="0" spc="-150" dirty="0">
                <a:solidFill>
                  <a:srgbClr val="B9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：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额外引入一个目标网络（和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网络具有同样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的网络结构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），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此目标网络不更新梯度，每隔一段时间将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网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络的参数赋值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给此目标网络。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911860" algn="l" rtl="0" eaLnBrk="0">
              <a:lnSpc>
                <a:spcPct val="88000"/>
              </a:lnSpc>
              <a:spcBef>
                <a:spcPts val="1640"/>
              </a:spcBef>
            </a:pPr>
            <a:r>
              <a:rPr sz="1700" kern="0" spc="-13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1700" kern="0" spc="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引入原因：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07465" algn="l" rtl="0" eaLnBrk="0">
              <a:lnSpc>
                <a:spcPct val="90000"/>
              </a:lnSpc>
              <a:spcBef>
                <a:spcPts val="455"/>
              </a:spcBef>
            </a:pPr>
            <a:r>
              <a:rPr sz="1500" kern="0" spc="100" dirty="0">
                <a:solidFill>
                  <a:srgbClr val="CC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深度神经网络作为有监督学习模型，要求监督数据标签是稳定的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1694815" indent="-387350" algn="l" rtl="0" eaLnBrk="0">
              <a:lnSpc>
                <a:spcPct val="129000"/>
              </a:lnSpc>
              <a:spcBef>
                <a:spcPts val="1640"/>
              </a:spcBef>
            </a:pPr>
            <a:r>
              <a:rPr sz="1500" kern="0" spc="0" dirty="0">
                <a:solidFill>
                  <a:srgbClr val="CC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500" kern="0" spc="160" dirty="0">
                <a:solidFill>
                  <a:srgbClr val="CC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</a:t>
            </a:r>
            <a:r>
              <a:rPr sz="1500" kern="0" spc="1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Learning</a:t>
            </a:r>
            <a:r>
              <a:rPr sz="1500" kern="0" spc="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算法使用下一时刻的</a:t>
            </a:r>
            <a:r>
              <a:rPr sz="1500" kern="0" spc="1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</a:t>
            </a:r>
            <a:r>
              <a:rPr sz="1500" kern="0" spc="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值和</a:t>
            </a: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奖励值作为监督信号，</a:t>
            </a:r>
            <a:r>
              <a:rPr sz="1500" kern="0" spc="-4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由于每次神经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网络更新后，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值会变化，导致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Q-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Learning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算法的监督信号不稳定。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911860" algn="l" rtl="0" eaLnBrk="0">
              <a:lnSpc>
                <a:spcPct val="94000"/>
              </a:lnSpc>
              <a:spcBef>
                <a:spcPts val="1660"/>
              </a:spcBef>
            </a:pPr>
            <a:r>
              <a:rPr sz="1600" kern="0" spc="-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 </a:t>
            </a: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优点：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07465" algn="l" rtl="0" eaLnBrk="0">
              <a:lnSpc>
                <a:spcPct val="95000"/>
              </a:lnSpc>
              <a:spcBef>
                <a:spcPts val="455"/>
              </a:spcBef>
            </a:pPr>
            <a:r>
              <a:rPr sz="1500" kern="0" spc="80" dirty="0">
                <a:solidFill>
                  <a:srgbClr val="CC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500" kern="0" spc="470" dirty="0">
                <a:solidFill>
                  <a:srgbClr val="CC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一定程度降低了当前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值和目标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值的相关性。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07465" algn="l" rtl="0" eaLnBrk="0">
              <a:lnSpc>
                <a:spcPct val="95000"/>
              </a:lnSpc>
            </a:pPr>
            <a:r>
              <a:rPr sz="1500" kern="0" spc="100" dirty="0">
                <a:solidFill>
                  <a:srgbClr val="CC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在一段时间里目标网络的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值是保持不变的，提高了算法稳定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性。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9720" algn="l" rtl="0" eaLnBrk="0">
              <a:lnSpc>
                <a:spcPct val="90000"/>
              </a:lnSpc>
            </a:pPr>
            <a:r>
              <a:rPr sz="3800" b="1" kern="0" spc="-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1.2 DQN</a:t>
            </a:r>
            <a:r>
              <a:rPr sz="3800" b="1" kern="0" spc="-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算法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8767997" y="6490549"/>
            <a:ext cx="118110" cy="193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400" kern="0" spc="-20" dirty="0">
                <a:solidFill>
                  <a:srgbClr val="A5002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55357" y="2094034"/>
            <a:ext cx="7895374" cy="4675377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1625" algn="l" rtl="0" eaLnBrk="0">
              <a:lnSpc>
                <a:spcPct val="76000"/>
              </a:lnSpc>
            </a:pPr>
            <a:r>
              <a:rPr sz="3900" b="1" kern="0" spc="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1.2 </a:t>
            </a:r>
            <a:r>
              <a:rPr sz="39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DQN</a:t>
            </a:r>
            <a:endParaRPr sz="39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359443" y="1116098"/>
            <a:ext cx="1945639" cy="887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27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700" kern="0" spc="-14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DQN</a:t>
            </a:r>
            <a:r>
              <a:rPr sz="2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算法</a:t>
            </a:r>
            <a:endParaRPr sz="2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2440" algn="l" rtl="0" eaLnBrk="0">
              <a:lnSpc>
                <a:spcPct val="94000"/>
              </a:lnSpc>
              <a:spcBef>
                <a:spcPts val="0"/>
              </a:spcBef>
            </a:pPr>
            <a:r>
              <a:rPr sz="1600" kern="0" spc="-7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600" kern="0" spc="5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伪码：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8769601" y="6490549"/>
            <a:ext cx="116204" cy="193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400" kern="0" spc="-20" dirty="0">
                <a:solidFill>
                  <a:srgbClr val="A5002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50"/>
          <p:cNvSpPr/>
          <p:nvPr/>
        </p:nvSpPr>
        <p:spPr>
          <a:xfrm>
            <a:off x="359443" y="1116098"/>
            <a:ext cx="8169275" cy="3594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7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700" kern="0" spc="-139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CartPole</a:t>
            </a:r>
            <a:r>
              <a:rPr sz="27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</a:t>
            </a:r>
            <a:endParaRPr sz="2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4980" algn="l" rtl="0" eaLnBrk="0">
              <a:lnSpc>
                <a:spcPct val="90000"/>
              </a:lnSpc>
              <a:spcBef>
                <a:spcPts val="605"/>
              </a:spcBef>
            </a:pPr>
            <a:r>
              <a:rPr sz="2000" kern="0" spc="-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在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CartPole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环境中实现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DQN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算法。</a:t>
            </a:r>
            <a:endParaRPr sz="2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4980" algn="l" rtl="0" eaLnBrk="0">
              <a:lnSpc>
                <a:spcPct val="93000"/>
              </a:lnSpc>
              <a:spcBef>
                <a:spcPts val="540"/>
              </a:spcBef>
            </a:pPr>
            <a:r>
              <a:rPr sz="1800" kern="0" spc="-10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22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要求：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10590" algn="l" rtl="0" eaLnBrk="0">
              <a:lnSpc>
                <a:spcPct val="86000"/>
              </a:lnSpc>
              <a:spcBef>
                <a:spcPts val="520"/>
              </a:spcBef>
            </a:pPr>
            <a:r>
              <a:rPr sz="1700" kern="0" spc="-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 </a:t>
            </a:r>
            <a:r>
              <a:rPr sz="17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在给定的代码框架下补充代码。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00480" indent="-389890" algn="l" rtl="0" eaLnBrk="0">
              <a:lnSpc>
                <a:spcPct val="123000"/>
              </a:lnSpc>
              <a:spcBef>
                <a:spcPts val="515"/>
              </a:spcBef>
            </a:pPr>
            <a:r>
              <a:rPr sz="17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最终的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reward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至少收敛至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18</a:t>
            </a: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0.0</a:t>
            </a: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（注意：这里的</a:t>
            </a: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reward</a:t>
            </a: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指一局游戏的奖励值</a:t>
            </a:r>
            <a:r>
              <a:rPr sz="17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之和）。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98575" indent="-387985" algn="l" rtl="0" eaLnBrk="0">
              <a:lnSpc>
                <a:spcPct val="124000"/>
              </a:lnSpc>
              <a:spcBef>
                <a:spcPts val="5"/>
              </a:spcBef>
            </a:pPr>
            <a:r>
              <a:rPr sz="17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评分标准：以算法收敛的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reward</a:t>
            </a: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大小、收敛所需的样本数量给分。</a:t>
            </a:r>
            <a:r>
              <a:rPr sz="1700" kern="0" spc="-4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reward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越高（最大是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200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</a:t>
            </a: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、收敛所需样本数量越少，分数越高。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9400" algn="l" rtl="0" eaLnBrk="0">
              <a:lnSpc>
                <a:spcPct val="90000"/>
              </a:lnSpc>
            </a:pP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2.</a:t>
            </a:r>
            <a:r>
              <a:rPr sz="3800" b="1" kern="0" spc="27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实验任务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8781243" y="6496790"/>
            <a:ext cx="104139" cy="187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6000"/>
              </a:lnSpc>
            </a:pPr>
            <a:r>
              <a:rPr sz="1400" kern="0" spc="-10" dirty="0">
                <a:solidFill>
                  <a:srgbClr val="A50021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</a:t>
            </a:r>
            <a:endParaRPr sz="1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6"/>
          <p:cNvSpPr/>
          <p:nvPr/>
        </p:nvSpPr>
        <p:spPr>
          <a:xfrm>
            <a:off x="355193" y="1219624"/>
            <a:ext cx="8090534" cy="4439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2400" kern="0" spc="-7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400" kern="0" spc="-77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压缩包命名为：“学号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姓名</a:t>
            </a: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</a:t>
            </a: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作业编号”，例：</a:t>
            </a:r>
            <a:endParaRPr sz="2400" dirty="0">
              <a:latin typeface="SimHei"/>
              <a:ea typeface="SimHei"/>
              <a:cs typeface="SimHei"/>
            </a:endParaRPr>
          </a:p>
          <a:p>
            <a:pPr marL="462280" algn="l" rtl="0" eaLnBrk="0">
              <a:lnSpc>
                <a:spcPct val="90000"/>
              </a:lnSpc>
              <a:spcBef>
                <a:spcPts val="295"/>
              </a:spcBef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20250519_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张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三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实验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2400" dirty="0">
              <a:latin typeface="SimHei"/>
              <a:ea typeface="SimHei"/>
              <a:cs typeface="SimHei"/>
            </a:endParaRPr>
          </a:p>
          <a:p>
            <a:pPr marL="471805" indent="-459105" algn="l" rtl="0" eaLnBrk="0">
              <a:lnSpc>
                <a:spcPct val="92000"/>
              </a:lnSpc>
              <a:spcBef>
                <a:spcPts val="855"/>
              </a:spcBef>
            </a:pPr>
            <a:r>
              <a:rPr sz="2400" kern="0" spc="-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400" kern="0" spc="-72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每次作业文件下包含两部分：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code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文件夹和实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验报告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PDF</a:t>
            </a:r>
            <a:r>
              <a:rPr sz="24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文件。</a:t>
            </a:r>
            <a:endParaRPr sz="2400" dirty="0">
              <a:latin typeface="SimHei"/>
              <a:ea typeface="SimHei"/>
              <a:cs typeface="SimHei"/>
            </a:endParaRPr>
          </a:p>
          <a:p>
            <a:pPr marL="483235" algn="l" rtl="0" eaLnBrk="0">
              <a:lnSpc>
                <a:spcPct val="90000"/>
              </a:lnSpc>
              <a:spcBef>
                <a:spcPts val="1045"/>
              </a:spcBef>
            </a:pPr>
            <a:r>
              <a:rPr sz="2400" kern="0" spc="-1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2400" kern="0" spc="-67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400" kern="0" spc="-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code</a:t>
            </a:r>
            <a:r>
              <a:rPr sz="24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文件夹：存放实验代</a:t>
            </a:r>
            <a:r>
              <a:rPr sz="24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码；</a:t>
            </a:r>
            <a:endParaRPr sz="2400" dirty="0">
              <a:latin typeface="SimHei"/>
              <a:ea typeface="SimHei"/>
              <a:cs typeface="SimHei"/>
            </a:endParaRPr>
          </a:p>
          <a:p>
            <a:pPr marL="483235" algn="l" rtl="0" eaLnBrk="0">
              <a:lnSpc>
                <a:spcPct val="86000"/>
              </a:lnSpc>
              <a:spcBef>
                <a:spcPts val="875"/>
              </a:spcBef>
            </a:pPr>
            <a:r>
              <a:rPr sz="2400" kern="0" spc="-1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2400" kern="0" spc="-7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400" kern="0" spc="-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PDF</a:t>
            </a:r>
            <a:r>
              <a:rPr sz="24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文件格式参考发的模板。</a:t>
            </a:r>
            <a:endParaRPr sz="2400" dirty="0">
              <a:latin typeface="SimHei"/>
              <a:ea typeface="SimHei"/>
              <a:cs typeface="SimHei"/>
            </a:endParaRPr>
          </a:p>
          <a:p>
            <a:pPr marL="454025" indent="-441325" algn="l" rtl="0" eaLnBrk="0">
              <a:lnSpc>
                <a:spcPct val="97000"/>
              </a:lnSpc>
              <a:spcBef>
                <a:spcPts val="945"/>
              </a:spcBef>
            </a:pPr>
            <a:r>
              <a:rPr sz="2400" kern="0" spc="-2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400" kern="0" spc="-7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如果需要更新提交的版本，则在后面加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_v2</a:t>
            </a:r>
            <a:r>
              <a:rPr sz="2400" kern="0" spc="-2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_v3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。如第一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版是“学号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姓名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作业编号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.zip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”，第二版是“学号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姓名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作业编号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_v2.zip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”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，依此类推。</a:t>
            </a:r>
            <a:endParaRPr sz="2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400" kern="0" spc="-1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400" kern="0" spc="-7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400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提交网站：超算习堂。</a:t>
            </a:r>
            <a:endParaRPr sz="2400" dirty="0">
              <a:latin typeface="SimHei"/>
              <a:ea typeface="SimHei"/>
              <a:cs typeface="Sim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5590" algn="l" rtl="0" eaLnBrk="0">
              <a:lnSpc>
                <a:spcPct val="90000"/>
              </a:lnSpc>
            </a:pPr>
            <a:r>
              <a:rPr sz="38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3. </a:t>
            </a:r>
            <a:r>
              <a:rPr sz="3800" b="1" kern="0" spc="-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作业提交说明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8777498" y="6496790"/>
            <a:ext cx="107950" cy="187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6000"/>
              </a:lnSpc>
            </a:pPr>
            <a:r>
              <a:rPr sz="1400" kern="0" spc="-10" dirty="0">
                <a:solidFill>
                  <a:srgbClr val="A50021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9</a:t>
            </a:r>
            <a:endParaRPr sz="1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1738</Words>
  <Application>WPS Office WWO_wpscloud_20260521192124-597ff31d3d</Application>
  <PresentationFormat/>
  <Paragraphs>143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Arial</vt:lpstr>
      <vt:lpstr>SimHei</vt:lpstr>
      <vt:lpstr>汉仪旗黑KW 55S</vt:lpstr>
      <vt:lpstr>Times New Roman</vt:lpstr>
      <vt:lpstr>Wingdings</vt:lpstr>
      <vt:lpstr>Kingsoft Confetti</vt:lpstr>
      <vt:lpstr>微软雅黑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dcterms:created xsi:type="dcterms:W3CDTF">2026-05-27T10:20:59Z</dcterms:created>
  <dcterms:modified xsi:type="dcterms:W3CDTF">2026-05-27T10:20:59Z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2026-05-27T18:19:39Z</vt:filetime>
  </property>
  <property fmtid="{D5CDD505-2E9C-101B-9397-08002B2CF9AE}" pid="4" name="ICV">
    <vt:lpwstr>D362AF32B4B9B1588BC5166AAEACE7FF_42</vt:lpwstr>
  </property>
  <property fmtid="{D5CDD505-2E9C-101B-9397-08002B2CF9AE}" pid="5" name="KSOProductBuildVer">
    <vt:lpwstr>2052-12.9.0.26832</vt:lpwstr>
  </property>
</Properties>
</file>