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ytorch.org/" TargetMode="Externa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ytorch.org/" TargetMode="Externa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ytorch.org/" TargetMode="Externa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ytorch.org/docs/stable/index.html" TargetMode="Externa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hub.com/MorvanZhou/PyTorch-Tutorial/blob/master/tutorial-" TargetMode="External"/><Relationship Id="rId1" Type="http://schemas.openxmlformats.org/officeDocument/2006/relationships/hyperlink" Target="https://www.bilibili.com/video/BV1Vx411j7kT?p=19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202279" y="3762811"/>
            <a:ext cx="2745739" cy="2077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0045" algn="l" rtl="0" eaLnBrk="0">
              <a:lnSpc>
                <a:spcPct val="87000"/>
              </a:lnSpc>
            </a:pPr>
            <a:r>
              <a:rPr sz="3900" b="1" kern="0" spc="3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深度学习</a:t>
            </a:r>
            <a:endParaRPr sz="3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indent="-599440" algn="l" rtl="0" eaLnBrk="0">
              <a:lnSpc>
                <a:spcPct val="95000"/>
              </a:lnSpc>
              <a:spcBef>
                <a:spcPts val="0"/>
              </a:spcBef>
            </a:pPr>
            <a:r>
              <a:rPr sz="2400" b="1" kern="0" spc="-4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中山大学计算机学院</a:t>
            </a:r>
            <a:r>
              <a:rPr sz="2400" b="1" kern="0" spc="-2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</a:t>
            </a:r>
            <a:r>
              <a:rPr lang="en-US" altLang="zh-CN" sz="2400" b="1" kern="0" spc="-2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2400" b="1" kern="0" spc="-2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年春季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2343783" y="1725051"/>
            <a:ext cx="4636134" cy="1090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900" b="1" kern="0" spc="4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Artificial Int</a:t>
            </a:r>
            <a:r>
              <a:rPr sz="3900" b="1" kern="0" spc="3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elligence</a:t>
            </a:r>
            <a:endParaRPr sz="3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727075" algn="l" rtl="0" eaLnBrk="0">
              <a:lnSpc>
                <a:spcPct val="86000"/>
              </a:lnSpc>
              <a:spcBef>
                <a:spcPts val="695"/>
              </a:spcBef>
            </a:pPr>
            <a:r>
              <a:rPr sz="3900" b="1" kern="0" spc="4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人工智能实验</a:t>
            </a:r>
            <a:endParaRPr sz="39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rect 6"/>
          <p:cNvSpPr/>
          <p:nvPr/>
        </p:nvSpPr>
        <p:spPr>
          <a:xfrm>
            <a:off x="685800" y="2887662"/>
            <a:ext cx="4803394" cy="109537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685800" y="2882963"/>
            <a:ext cx="7772400" cy="9525"/>
          </a:xfrm>
          <a:custGeom>
            <a:avLst/>
            <a:gdLst/>
            <a:ahLst/>
            <a:cxnLst/>
            <a:rect l="0" t="0" r="0" b="0"/>
            <a:pathLst>
              <a:path w="12240" h="15">
                <a:moveTo>
                  <a:pt x="0" y="7"/>
                </a:moveTo>
                <a:lnTo>
                  <a:pt x="12240" y="7"/>
                </a:lnTo>
              </a:path>
            </a:pathLst>
          </a:custGeom>
          <a:noFill/>
          <a:ln w="9525" cap="flat">
            <a:solidFill>
              <a:srgbClr val="CC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08792" y="1006602"/>
            <a:ext cx="3268979" cy="3545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90000"/>
              </a:lnSpc>
            </a:pPr>
            <a:r>
              <a:rPr sz="3000" b="1" kern="0" spc="-2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   </a:t>
            </a:r>
            <a:r>
              <a:rPr sz="3000" b="1" kern="0" spc="-2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理论课内容回顾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7695" algn="l" rtl="0" eaLnBrk="0">
              <a:lnSpc>
                <a:spcPct val="90000"/>
              </a:lnSpc>
              <a:spcBef>
                <a:spcPts val="605"/>
              </a:spcBef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7695" algn="l" rtl="0" eaLnBrk="0">
              <a:lnSpc>
                <a:spcPct val="90000"/>
              </a:lnSpc>
              <a:spcBef>
                <a:spcPts val="600"/>
              </a:spcBef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CNN</a:t>
            </a:r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网络训练实例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0000"/>
              </a:lnSpc>
              <a:spcBef>
                <a:spcPts val="900"/>
              </a:spcBef>
            </a:pPr>
            <a:r>
              <a:rPr sz="3000" b="1" kern="0" spc="-5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3000" b="1" kern="0" spc="7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3000" b="1" kern="0" spc="-5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实验任务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7065" algn="l" rtl="0" eaLnBrk="0">
              <a:lnSpc>
                <a:spcPct val="90000"/>
              </a:lnSpc>
              <a:spcBef>
                <a:spcPts val="60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2.1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中药图片分类任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  <a:spcBef>
                <a:spcPts val="0"/>
              </a:spcBef>
            </a:pPr>
            <a:r>
              <a:rPr sz="3000" b="1" kern="0" spc="-1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  </a:t>
            </a:r>
            <a:r>
              <a:rPr sz="3000" b="1" kern="0" spc="-10" dirty="0">
                <a:solidFill>
                  <a:srgbClr val="A50021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作业提交说明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7345" algn="l" rtl="0" eaLnBrk="0">
              <a:lnSpc>
                <a:spcPct val="83000"/>
              </a:lnSpc>
              <a:spcBef>
                <a:spcPts val="5"/>
              </a:spcBef>
            </a:pPr>
            <a:r>
              <a:rPr sz="3800" b="1" kern="0" spc="-1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目录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766392" y="6490549"/>
            <a:ext cx="119379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3907" y="3554792"/>
            <a:ext cx="7876158" cy="3219068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359443" y="1116098"/>
            <a:ext cx="8455025" cy="2249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27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安装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4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官网：</a:t>
            </a:r>
            <a:r>
              <a:rPr sz="18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https://pytorch.</a:t>
            </a:r>
            <a:r>
              <a:rPr sz="1800" u="sng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org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911860" indent="-439420" algn="l" rtl="0" eaLnBrk="0">
              <a:lnSpc>
                <a:spcPct val="121000"/>
              </a:lnSpc>
              <a:spcBef>
                <a:spcPts val="1720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CPU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版安装（无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Nvidia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显卡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）：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直接在官网主页选择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配置，然后复制生成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</a:t>
            </a:r>
            <a:r>
              <a:rPr sz="1800" kern="0" spc="-3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Command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粘贴到终端运行（注意需提前激活</a:t>
            </a:r>
            <a:r>
              <a:rPr sz="1800" kern="0" spc="-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Python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虚拟环境）。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建议：安装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1.7.0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及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以上版本。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8768710" y="6490549"/>
            <a:ext cx="117475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37717" y="2689733"/>
            <a:ext cx="7806435" cy="2035301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359443" y="1116098"/>
            <a:ext cx="8061959" cy="1370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27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安装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4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官网：</a:t>
            </a:r>
            <a:r>
              <a:rPr sz="18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https://pytorch.</a:t>
            </a:r>
            <a:r>
              <a:rPr sz="1800" u="sng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org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5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GPU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版安装：先在终端使用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nvidia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smi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查看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当前显卡支持的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CUDA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版本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19708" y="5014569"/>
            <a:ext cx="7993380" cy="666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然后在主页选择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CUDA xx.x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生成</a:t>
            </a:r>
            <a:r>
              <a:rPr sz="18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Command</a:t>
            </a:r>
            <a:r>
              <a:rPr sz="1800" kern="0" spc="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命令，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CUDA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的版本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447040" algn="l" rtl="0" eaLnBrk="0">
              <a:lnSpc>
                <a:spcPts val="3105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能高于显卡支持的</a:t>
            </a:r>
            <a:r>
              <a:rPr sz="1800" kern="0" spc="-3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CUDA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版本。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8763539" y="6490549"/>
            <a:ext cx="122554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3027502"/>
            <a:ext cx="9114281" cy="3304794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359443" y="1116098"/>
            <a:ext cx="4832350" cy="1370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27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安装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4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官网：</a:t>
            </a:r>
            <a:r>
              <a:rPr sz="1800" u="sng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https://pytorch.</a:t>
            </a:r>
            <a:r>
              <a:rPr sz="1800" u="sng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org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例如，版本</a:t>
            </a:r>
            <a:r>
              <a:rPr sz="1800" kern="0" spc="-4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pytorch==1.12.0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的安装命令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8768710" y="6490549"/>
            <a:ext cx="117475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/>
        </p:nvSpPr>
        <p:spPr>
          <a:xfrm>
            <a:off x="359443" y="1116098"/>
            <a:ext cx="8458200" cy="1788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7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27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安装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45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安装完成后验证是否安装成功：在终端键入</a:t>
            </a:r>
            <a:r>
              <a:rPr sz="18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pytho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1800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，进入</a:t>
            </a:r>
            <a:r>
              <a:rPr sz="18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python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环境。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9955" indent="-437515" algn="l" rtl="0" eaLnBrk="0">
              <a:lnSpc>
                <a:spcPct val="121000"/>
              </a:lnSpc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GPU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版执行</a:t>
            </a:r>
            <a:r>
              <a:rPr sz="18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import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后，执行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torch.cuda.i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s_available()</a:t>
            </a:r>
            <a:r>
              <a:rPr sz="1800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，如返回</a:t>
            </a:r>
            <a:r>
              <a:rPr sz="18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True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</a:t>
            </a:r>
            <a:r>
              <a:rPr sz="1800" kern="0" spc="-3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GPU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</a:t>
            </a:r>
            <a:r>
              <a:rPr sz="1800" kern="0" spc="-4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安装成功。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8263" y="2995866"/>
            <a:ext cx="7867396" cy="1186878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819708" y="4493361"/>
            <a:ext cx="5768975" cy="1138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1800" kern="0" spc="-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CPU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版直接执行</a:t>
            </a:r>
            <a:r>
              <a:rPr sz="1800" kern="0" spc="-3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import torch</a:t>
            </a:r>
            <a:r>
              <a:rPr sz="1800" kern="0" spc="-2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，如无报错即安装成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功。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0000"/>
              </a:lnSpc>
              <a:spcBef>
                <a:spcPts val="1730"/>
              </a:spcBef>
            </a:pPr>
            <a:r>
              <a:rPr sz="1800" kern="0" spc="-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安装到此结束，更多内容可参考官方文档：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48310" algn="l" rtl="0" eaLnBrk="0">
              <a:lnSpc>
                <a:spcPct val="81000"/>
              </a:lnSpc>
              <a:spcBef>
                <a:spcPts val="0"/>
              </a:spcBef>
            </a:pPr>
            <a:r>
              <a:rPr sz="15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2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https://pytorch.org/docs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/stable/index.html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8767997" y="6490549"/>
            <a:ext cx="11811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2"/>
          <p:cNvSpPr/>
          <p:nvPr/>
        </p:nvSpPr>
        <p:spPr>
          <a:xfrm>
            <a:off x="359443" y="1160522"/>
            <a:ext cx="8453755" cy="1737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tensor</a:t>
            </a:r>
            <a:endParaRPr sz="2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8525" indent="-426085" algn="l" rtl="0" eaLnBrk="0">
              <a:lnSpc>
                <a:spcPct val="125000"/>
              </a:lnSpc>
              <a:spcBef>
                <a:spcPts val="55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tensor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的基本数据类型，在使用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框架进行操作时，对象一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般都要求是</a:t>
            </a:r>
            <a:r>
              <a:rPr sz="1800" kern="0" spc="-3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tensor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类型。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</a:pPr>
            <a:r>
              <a:rPr sz="1800" kern="0" spc="-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要初始化一个</a:t>
            </a:r>
            <a:r>
              <a:rPr sz="1800" kern="0" spc="-4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sor</a:t>
            </a:r>
            <a:r>
              <a:rPr sz="1800" kern="0" spc="-2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，通常有以下三种方式：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438014" y="2885426"/>
            <a:ext cx="4455160" cy="2480576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1201176" y="3117794"/>
            <a:ext cx="2837814" cy="3042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830" algn="l" rtl="0" eaLnBrk="0">
              <a:lnSpc>
                <a:spcPct val="90000"/>
              </a:lnSpc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直接初始化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  <a:spcBef>
                <a:spcPts val="60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通过原始数据转化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0000"/>
              </a:lnSpc>
              <a:spcBef>
                <a:spcPts val="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</a:t>
            </a:r>
            <a:r>
              <a:rPr sz="20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numpy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数据转化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17033" y="5452881"/>
            <a:ext cx="3310001" cy="1328672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8769601" y="6490549"/>
            <a:ext cx="116204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951227" y="2132457"/>
            <a:ext cx="4390517" cy="1838070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59443" y="1160522"/>
            <a:ext cx="8194675" cy="860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tensor</a:t>
            </a:r>
            <a:endParaRPr sz="2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也可以通过</a:t>
            </a:r>
            <a:r>
              <a:rPr sz="1800" kern="0" spc="-4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h.ones(),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torch.zeros()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等创建指定大小的全</a:t>
            </a:r>
            <a:r>
              <a:rPr sz="1800" kern="0" spc="-3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或者全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张量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819708" y="4548225"/>
            <a:ext cx="7995284" cy="668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当初始化时未指定数据类型时，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torch.tensor()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将会根据数据本身的类型自行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438785" algn="l" rtl="0" eaLnBrk="0">
              <a:lnSpc>
                <a:spcPts val="3120"/>
              </a:lnSpc>
            </a:pPr>
            <a:r>
              <a:rPr sz="18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判断，如：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57622" y="5336526"/>
            <a:ext cx="2125726" cy="1257147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51227" y="5336526"/>
            <a:ext cx="2114295" cy="1257147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8768532" y="6490549"/>
            <a:ext cx="117475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359443" y="1160522"/>
            <a:ext cx="4133850" cy="4822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tensor</a:t>
            </a:r>
            <a:endParaRPr sz="2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输入神经网络的数据需保证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9955" algn="l" rtl="0" eaLnBrk="0">
              <a:lnSpc>
                <a:spcPct val="85000"/>
              </a:lnSpc>
              <a:spcBef>
                <a:spcPts val="460"/>
              </a:spcBef>
            </a:pPr>
            <a:r>
              <a:rPr sz="15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6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tensor(xxx, </a:t>
            </a:r>
            <a:r>
              <a:rPr sz="1500" kern="0" spc="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requires</a:t>
            </a:r>
            <a:r>
              <a:rPr sz="1500" kern="0" spc="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_grad=True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1065" indent="-428625" algn="l" rtl="0" eaLnBrk="0">
              <a:lnSpc>
                <a:spcPct val="122000"/>
              </a:lnSpc>
              <a:spcBef>
                <a:spcPts val="550"/>
              </a:spcBef>
            </a:pP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若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requires_grad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False</a:t>
            </a:r>
            <a:r>
              <a:rPr sz="1800" kern="0" spc="-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，梯度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反向传播时会直接报错。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545"/>
              </a:spcBef>
            </a:pP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requires_grad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</a:t>
            </a:r>
            <a:r>
              <a:rPr sz="1800" kern="0" spc="-3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True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会自动记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01065" indent="635" algn="l" rtl="0" eaLnBrk="0">
              <a:lnSpc>
                <a:spcPct val="154000"/>
              </a:lnSpc>
              <a:spcBef>
                <a:spcPts val="2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录梯度，这里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y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3=2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^2+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^2</a:t>
            </a:r>
            <a:r>
              <a:rPr sz="1800" kern="0" spc="-2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求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导为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+2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=6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，对应结果为</a:t>
            </a:r>
            <a:r>
              <a:rPr sz="1800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</a:t>
            </a:r>
            <a:r>
              <a:rPr sz="18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954015" y="1657730"/>
            <a:ext cx="4058665" cy="2557145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64709" y="4458130"/>
            <a:ext cx="2809239" cy="229298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700587" y="5197228"/>
            <a:ext cx="383306" cy="490522"/>
            <a:chOff x="0" y="0"/>
            <a:chExt cx="383306" cy="490522"/>
          </a:xfrm>
        </p:grpSpPr>
        <p:sp>
          <p:nvSpPr>
            <p:cNvPr id="86" name="path 86"/>
            <p:cNvSpPr/>
            <p:nvPr/>
          </p:nvSpPr>
          <p:spPr>
            <a:xfrm>
              <a:off x="4762" y="2913"/>
              <a:ext cx="374777" cy="484695"/>
            </a:xfrm>
            <a:custGeom>
              <a:avLst/>
              <a:gdLst/>
              <a:ahLst/>
              <a:cxnLst/>
              <a:rect l="0" t="0" r="0" b="0"/>
              <a:pathLst>
                <a:path w="590" h="763">
                  <a:moveTo>
                    <a:pt x="590" y="381"/>
                  </a:moveTo>
                  <a:lnTo>
                    <a:pt x="295" y="763"/>
                  </a:lnTo>
                  <a:lnTo>
                    <a:pt x="295" y="572"/>
                  </a:lnTo>
                  <a:lnTo>
                    <a:pt x="0" y="572"/>
                  </a:lnTo>
                  <a:lnTo>
                    <a:pt x="0" y="190"/>
                  </a:lnTo>
                  <a:lnTo>
                    <a:pt x="295" y="190"/>
                  </a:lnTo>
                  <a:lnTo>
                    <a:pt x="295" y="0"/>
                  </a:lnTo>
                  <a:lnTo>
                    <a:pt x="590" y="381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" name="path 88"/>
            <p:cNvSpPr/>
            <p:nvPr/>
          </p:nvSpPr>
          <p:spPr>
            <a:xfrm>
              <a:off x="0" y="0"/>
              <a:ext cx="383306" cy="490522"/>
            </a:xfrm>
            <a:custGeom>
              <a:avLst/>
              <a:gdLst/>
              <a:ahLst/>
              <a:cxnLst/>
              <a:rect l="0" t="0" r="0" b="0"/>
              <a:pathLst>
                <a:path w="603" h="772">
                  <a:moveTo>
                    <a:pt x="597" y="386"/>
                  </a:moveTo>
                  <a:lnTo>
                    <a:pt x="302" y="767"/>
                  </a:lnTo>
                  <a:lnTo>
                    <a:pt x="302" y="576"/>
                  </a:lnTo>
                  <a:lnTo>
                    <a:pt x="7" y="576"/>
                  </a:lnTo>
                  <a:lnTo>
                    <a:pt x="7" y="195"/>
                  </a:lnTo>
                  <a:lnTo>
                    <a:pt x="302" y="195"/>
                  </a:lnTo>
                  <a:lnTo>
                    <a:pt x="302" y="4"/>
                  </a:lnTo>
                  <a:lnTo>
                    <a:pt x="597" y="386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490148" y="3302514"/>
            <a:ext cx="383306" cy="490460"/>
            <a:chOff x="0" y="0"/>
            <a:chExt cx="383306" cy="490460"/>
          </a:xfrm>
        </p:grpSpPr>
        <p:sp>
          <p:nvSpPr>
            <p:cNvPr id="90" name="path 90"/>
            <p:cNvSpPr/>
            <p:nvPr/>
          </p:nvSpPr>
          <p:spPr>
            <a:xfrm>
              <a:off x="4762" y="2914"/>
              <a:ext cx="374777" cy="484632"/>
            </a:xfrm>
            <a:custGeom>
              <a:avLst/>
              <a:gdLst/>
              <a:ahLst/>
              <a:cxnLst/>
              <a:rect l="0" t="0" r="0" b="0"/>
              <a:pathLst>
                <a:path w="590" h="763">
                  <a:moveTo>
                    <a:pt x="590" y="381"/>
                  </a:moveTo>
                  <a:lnTo>
                    <a:pt x="295" y="763"/>
                  </a:lnTo>
                  <a:lnTo>
                    <a:pt x="295" y="572"/>
                  </a:lnTo>
                  <a:lnTo>
                    <a:pt x="0" y="572"/>
                  </a:lnTo>
                  <a:lnTo>
                    <a:pt x="0" y="190"/>
                  </a:lnTo>
                  <a:lnTo>
                    <a:pt x="295" y="190"/>
                  </a:lnTo>
                  <a:lnTo>
                    <a:pt x="295" y="0"/>
                  </a:lnTo>
                  <a:lnTo>
                    <a:pt x="590" y="381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" name="path 92"/>
            <p:cNvSpPr/>
            <p:nvPr/>
          </p:nvSpPr>
          <p:spPr>
            <a:xfrm>
              <a:off x="0" y="0"/>
              <a:ext cx="383306" cy="490460"/>
            </a:xfrm>
            <a:custGeom>
              <a:avLst/>
              <a:gdLst/>
              <a:ahLst/>
              <a:cxnLst/>
              <a:rect l="0" t="0" r="0" b="0"/>
              <a:pathLst>
                <a:path w="603" h="772">
                  <a:moveTo>
                    <a:pt x="597" y="386"/>
                  </a:moveTo>
                  <a:lnTo>
                    <a:pt x="302" y="767"/>
                  </a:lnTo>
                  <a:lnTo>
                    <a:pt x="302" y="576"/>
                  </a:lnTo>
                  <a:lnTo>
                    <a:pt x="7" y="576"/>
                  </a:lnTo>
                  <a:lnTo>
                    <a:pt x="7" y="195"/>
                  </a:lnTo>
                  <a:lnTo>
                    <a:pt x="302" y="195"/>
                  </a:lnTo>
                  <a:lnTo>
                    <a:pt x="302" y="4"/>
                  </a:lnTo>
                  <a:lnTo>
                    <a:pt x="597" y="386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4" name="textbox 94"/>
          <p:cNvSpPr/>
          <p:nvPr/>
        </p:nvSpPr>
        <p:spPr>
          <a:xfrm>
            <a:off x="8768710" y="6490549"/>
            <a:ext cx="117475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2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6"/>
          <p:cNvSpPr/>
          <p:nvPr/>
        </p:nvSpPr>
        <p:spPr>
          <a:xfrm>
            <a:off x="819708" y="1749526"/>
            <a:ext cx="4542790" cy="3813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0" indent="-425450" algn="l" rtl="0" eaLnBrk="0">
              <a:lnSpc>
                <a:spcPct val="132000"/>
              </a:lnSpc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view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或者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reshape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维度重置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（但总数要一致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18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若根据已有维度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推算出剩下的维度，可使用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替代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0000"/>
              </a:lnSpc>
              <a:spcBef>
                <a:spcPts val="1575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torch.reshape()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也可以重置维度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  <a:spcBef>
                <a:spcPts val="545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squeeze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dim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若不指定维度</a:t>
            </a:r>
            <a:r>
              <a:rPr sz="1800" kern="0" spc="-5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，则会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438150" indent="635" algn="l" rtl="0" eaLnBrk="0">
              <a:lnSpc>
                <a:spcPct val="155000"/>
              </a:lnSpc>
              <a:spcBef>
                <a:spcPts val="20"/>
              </a:spcBef>
            </a:pP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tensor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中为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dim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压缩，若指定则只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会压缩对应的维度（必须为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21452" y="4027258"/>
            <a:ext cx="2923793" cy="2122805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73852" y="1842389"/>
            <a:ext cx="2618993" cy="1746885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359443" y="1116098"/>
            <a:ext cx="1887854" cy="382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维度变换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8"/>
          <p:cNvSpPr/>
          <p:nvPr/>
        </p:nvSpPr>
        <p:spPr>
          <a:xfrm>
            <a:off x="819708" y="1749526"/>
            <a:ext cx="5236209" cy="4819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torch.un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squeeze(dim)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维度扩展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835025" indent="-386715" algn="l" rtl="0" eaLnBrk="0">
              <a:lnSpc>
                <a:spcPct val="136000"/>
              </a:lnSpc>
              <a:spcBef>
                <a:spcPts val="1530"/>
              </a:spcBef>
            </a:pPr>
            <a:r>
              <a:rPr sz="15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4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因为神经网络一般默认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输入，所以测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试数据时，如果输入为单个数据，需要对数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据进行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unsqueeze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处理，即将其看成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batch=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的特殊情况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  <a:spcBef>
                <a:spcPts val="54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torch.cat(List[tensor,  tensor],  dim)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向量拼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785" algn="l" rtl="0" eaLnBrk="0">
              <a:lnSpc>
                <a:spcPct val="87000"/>
              </a:lnSpc>
              <a:spcBef>
                <a:spcPts val="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接，需指定维度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217875" y="4561078"/>
            <a:ext cx="2815336" cy="1987804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6413" y="4529734"/>
            <a:ext cx="2910839" cy="1714246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85484" y="1793494"/>
            <a:ext cx="2982976" cy="1635505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359443" y="1116098"/>
            <a:ext cx="1887854" cy="382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维度变换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8695312" y="6490549"/>
            <a:ext cx="19050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1200" kern="0" spc="-3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3059" y="2917444"/>
            <a:ext cx="4221225" cy="253276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359443" y="1160522"/>
            <a:ext cx="8072755" cy="1302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</a:t>
            </a:r>
            <a:endParaRPr sz="2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5510" indent="-433070" algn="l" rtl="0" eaLnBrk="0">
              <a:lnSpc>
                <a:spcPct val="125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5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自定义神经网络类的基本框架：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继承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nn.Module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神经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网络基本类，该类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实例化后输入数据将自动调用</a:t>
            </a:r>
            <a:r>
              <a:rPr sz="1800" kern="0" spc="-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forward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前向计算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03290" y="3756164"/>
            <a:ext cx="2730499" cy="855332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2"/>
          <p:cNvSpPr/>
          <p:nvPr/>
        </p:nvSpPr>
        <p:spPr>
          <a:xfrm>
            <a:off x="359443" y="1160522"/>
            <a:ext cx="4500879" cy="272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</a:t>
            </a:r>
            <a:endParaRPr sz="2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86000"/>
              </a:lnSpc>
              <a:spcBef>
                <a:spcPts val="545"/>
              </a:spcBef>
            </a:pPr>
            <a:r>
              <a:rPr sz="1800" kern="0" spc="-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全连接层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8000"/>
              </a:lnSpc>
              <a:spcBef>
                <a:spcPts val="540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nn.Linear(in_d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im, out_dim, bias=True)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"/>
              </a:spcBef>
            </a:pP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激活函数</a:t>
            </a:r>
            <a:r>
              <a:rPr sz="18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nn.ReLU()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229227" y="4075188"/>
            <a:ext cx="3833621" cy="2160016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602" y="4075303"/>
            <a:ext cx="3117722" cy="2338197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140" name="picture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74436" y="1550543"/>
            <a:ext cx="3235832" cy="2038730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/>
          <p:nvPr/>
        </p:nvSpPr>
        <p:spPr>
          <a:xfrm>
            <a:off x="359443" y="1160522"/>
            <a:ext cx="8642984" cy="397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7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4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torch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</a:t>
            </a:r>
            <a:endParaRPr sz="2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88000"/>
              </a:lnSpc>
              <a:spcBef>
                <a:spcPts val="520"/>
              </a:spcBef>
            </a:pPr>
            <a:r>
              <a:rPr sz="1700" kern="0" spc="-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5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卷积神经网络：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78000"/>
              </a:lnSpc>
              <a:spcBef>
                <a:spcPts val="545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</a:t>
            </a: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Conv</a:t>
            </a: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2d(</a:t>
            </a: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channels</a:t>
            </a: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</a:t>
            </a: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channels, kernel_size, stride=1, padding=0, bias=True)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922020" indent="-449580" algn="l" rtl="0" eaLnBrk="0">
              <a:lnSpc>
                <a:spcPct val="121000"/>
              </a:lnSpc>
              <a:spcBef>
                <a:spcPts val="1690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Conv2d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的前两个参数分别为输入和输出的通道数，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kernel_size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为卷积核大小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</a:t>
            </a:r>
            <a:r>
              <a:rPr sz="1800" kern="0" spc="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stride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为步长默认为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800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padding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为填充默认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NOTE:</a:t>
            </a:r>
            <a:r>
              <a:rPr sz="1800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1800" kern="0" spc="2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卷积网络输入默认格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式为</a:t>
            </a:r>
            <a:r>
              <a:rPr sz="1800" kern="0" spc="-270" dirty="0">
                <a:solidFill>
                  <a:srgbClr val="C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(N,</a:t>
            </a:r>
            <a:r>
              <a:rPr sz="1800" kern="0" spc="18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C,</a:t>
            </a:r>
            <a:r>
              <a:rPr sz="1800" kern="0" spc="15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H,</a:t>
            </a:r>
            <a:r>
              <a:rPr sz="1800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W)</a:t>
            </a:r>
            <a:r>
              <a:rPr sz="1800" kern="0" spc="-20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其中</a:t>
            </a:r>
            <a:r>
              <a:rPr sz="1800" kern="0" spc="-35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1800" kern="0" spc="2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</a:t>
            </a:r>
            <a:r>
              <a:rPr sz="1800" kern="0" spc="-33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</a:t>
            </a:r>
            <a:r>
              <a:rPr sz="1800" kern="0" spc="170" dirty="0">
                <a:solidFill>
                  <a:srgbClr val="00336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大小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894080" indent="135255" algn="l" rtl="0" eaLnBrk="0">
              <a:lnSpc>
                <a:spcPct val="152000"/>
              </a:lnSpc>
              <a:spcBef>
                <a:spcPts val="15"/>
              </a:spcBef>
            </a:pP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（输入默认</a:t>
            </a: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</a:t>
            </a: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处理</a:t>
            </a:r>
            <a:r>
              <a:rPr sz="1800" kern="0" spc="4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），</a:t>
            </a: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  </a:t>
            </a:r>
            <a:r>
              <a:rPr sz="1800" kern="0" spc="-2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为图像通道数（黑白</a:t>
            </a:r>
            <a:r>
              <a:rPr sz="1800" kern="0" spc="-30" dirty="0">
                <a:solidFill>
                  <a:srgbClr val="00336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800" kern="0" spc="-3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维，彩色</a:t>
            </a:r>
            <a:r>
              <a:rPr sz="1800" kern="0" spc="-30" dirty="0">
                <a:solidFill>
                  <a:srgbClr val="00336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RGB</a:t>
            </a:r>
            <a:r>
              <a:rPr sz="1800" kern="0" spc="-3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三维</a:t>
            </a:r>
            <a:r>
              <a:rPr sz="1800" kern="0" spc="4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），</a:t>
            </a:r>
            <a:r>
              <a:rPr sz="1800" kern="0" spc="-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800" kern="0" spc="-3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</a:t>
            </a: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</a:t>
            </a:r>
            <a:r>
              <a:rPr sz="1800" kern="0" spc="-10" dirty="0">
                <a:solidFill>
                  <a:srgbClr val="003366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分别为图像的高度和宽度。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/>
          <p:nvPr/>
        </p:nvSpPr>
        <p:spPr>
          <a:xfrm>
            <a:off x="359443" y="1116098"/>
            <a:ext cx="5495925" cy="4850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2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网络训练一般步骤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5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实例化网络</a:t>
            </a:r>
            <a:r>
              <a:rPr sz="1800" kern="0" spc="-4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net = Net()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后，定义网络优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化器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  <a:spcBef>
                <a:spcPts val="450"/>
              </a:spcBef>
            </a:pPr>
            <a:r>
              <a:rPr sz="15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1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optim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= 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optim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Adam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net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parameters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(),</a:t>
            </a:r>
            <a:r>
              <a:rPr sz="1500" b="1" kern="0" spc="1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lr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lr</a:t>
            </a:r>
            <a:r>
              <a:rPr sz="1500" b="1" kern="0" spc="16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72440" algn="l" rtl="0" eaLnBrk="0">
              <a:lnSpc>
                <a:spcPct val="87000"/>
              </a:lnSpc>
              <a:spcBef>
                <a:spcPts val="1680"/>
              </a:spcBef>
            </a:pPr>
            <a:r>
              <a:rPr sz="1800" kern="0" spc="-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计算得到</a:t>
            </a:r>
            <a:r>
              <a:rPr sz="1800" kern="0" spc="-4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9955" algn="l" rtl="0" eaLnBrk="0">
              <a:lnSpc>
                <a:spcPct val="84000"/>
              </a:lnSpc>
              <a:spcBef>
                <a:spcPts val="455"/>
              </a:spcBef>
            </a:pPr>
            <a:r>
              <a:rPr sz="15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2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r>
              <a:rPr sz="1500" b="1" kern="0" spc="8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</a:t>
            </a:r>
            <a:r>
              <a:rPr sz="1500" b="1" kern="0" spc="8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(a,b)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72440" algn="l" rtl="0" eaLnBrk="0">
              <a:lnSpc>
                <a:spcPct val="87000"/>
              </a:lnSpc>
              <a:spcBef>
                <a:spcPts val="169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在更新前，需清除上一步的梯度，即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9955" algn="l" rtl="0" eaLnBrk="0">
              <a:lnSpc>
                <a:spcPct val="85000"/>
              </a:lnSpc>
              <a:spcBef>
                <a:spcPts val="460"/>
              </a:spcBef>
            </a:pPr>
            <a:r>
              <a:rPr sz="15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2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optim</a:t>
            </a:r>
            <a:r>
              <a:rPr sz="1500" b="1" kern="0" spc="14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zero</a:t>
            </a:r>
            <a:r>
              <a:rPr sz="1500" b="1" kern="0" spc="14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grad</a:t>
            </a:r>
            <a:r>
              <a:rPr sz="1500" b="1" kern="0" spc="14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72440" algn="l" rtl="0" eaLnBrk="0">
              <a:lnSpc>
                <a:spcPct val="86000"/>
              </a:lnSpc>
              <a:spcBef>
                <a:spcPts val="1680"/>
              </a:spcBef>
            </a:pPr>
            <a:r>
              <a:rPr sz="1800" kern="0" spc="-1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然后</a:t>
            </a:r>
            <a:r>
              <a:rPr sz="18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反向传播：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9955" algn="l" rtl="0" eaLnBrk="0">
              <a:lnSpc>
                <a:spcPct val="84000"/>
              </a:lnSpc>
              <a:spcBef>
                <a:spcPts val="450"/>
              </a:spcBef>
            </a:pPr>
            <a:r>
              <a:rPr sz="1500" kern="0" spc="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3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b="1" kern="0" spc="3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loss.backward()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72440" algn="l" rtl="0" eaLnBrk="0">
              <a:lnSpc>
                <a:spcPct val="86000"/>
              </a:lnSpc>
              <a:spcBef>
                <a:spcPts val="1700"/>
              </a:spcBef>
            </a:pPr>
            <a:r>
              <a:rPr sz="1800" kern="0" spc="-1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最后优化器更新：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9955" algn="l" rtl="0" eaLnBrk="0">
              <a:lnSpc>
                <a:spcPct val="85000"/>
              </a:lnSpc>
            </a:pPr>
            <a:r>
              <a:rPr sz="15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500" kern="0" spc="2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optim</a:t>
            </a:r>
            <a:r>
              <a:rPr sz="1500" b="1" kern="0" spc="1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step</a:t>
            </a:r>
            <a:r>
              <a:rPr sz="1500" b="1" kern="0" spc="11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 PyTorch</a:t>
            </a:r>
            <a:r>
              <a:rPr sz="3800" b="1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介绍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56"/>
          <p:cNvSpPr/>
          <p:nvPr/>
        </p:nvSpPr>
        <p:spPr>
          <a:xfrm>
            <a:off x="359443" y="1116098"/>
            <a:ext cx="8627744" cy="4993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3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手写数字识别作为样例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2440" algn="l" rtl="0" eaLnBrk="0">
              <a:lnSpc>
                <a:spcPct val="90000"/>
              </a:lnSpc>
              <a:spcBef>
                <a:spcPts val="550"/>
              </a:spcBef>
            </a:pPr>
            <a:r>
              <a:rPr sz="18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5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读入训练集和测试集中的数字图片信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息以及对图片预处理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472440" algn="l" rtl="0" eaLnBrk="0">
              <a:lnSpc>
                <a:spcPct val="90000"/>
              </a:lnSpc>
              <a:spcBef>
                <a:spcPts val="1730"/>
              </a:spcBef>
            </a:pP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搭建神经网络（包括卷积和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全连接神经网络）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896620" indent="-424180" algn="l" rtl="0" eaLnBrk="0">
              <a:lnSpc>
                <a:spcPct val="123000"/>
              </a:lnSpc>
              <a:spcBef>
                <a:spcPts val="1735"/>
              </a:spcBef>
            </a:pPr>
            <a:r>
              <a:rPr sz="18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将一个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的训练集中的图片输入至神经网络，得到所有数字的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预测分类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概率（总共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个数字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,01234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56789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08685" indent="-436245" algn="l" rtl="0" eaLnBrk="0">
              <a:lnSpc>
                <a:spcPct val="123000"/>
              </a:lnSpc>
              <a:spcBef>
                <a:spcPts val="1595"/>
              </a:spcBef>
            </a:pPr>
            <a:r>
              <a:rPr sz="1800" kern="0" spc="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根据真实标签和预测标签，利用交叉熵损失函数计算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值，并进行梯度下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降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472440" algn="l" rtl="0" eaLnBrk="0">
              <a:lnSpc>
                <a:spcPct val="90000"/>
              </a:lnSpc>
              <a:spcBef>
                <a:spcPts val="1600"/>
              </a:spcBef>
            </a:pP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根据测试集计算准确率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，如果准确率没收敛，跳转回步骤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72440" algn="l" rtl="0" eaLnBrk="0">
              <a:lnSpc>
                <a:spcPct val="90000"/>
              </a:lnSpc>
              <a:spcBef>
                <a:spcPts val="1730"/>
              </a:spcBef>
            </a:pP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3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6.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画出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r>
              <a:rPr sz="1800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测试集准确率的曲线图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472440" algn="l" rtl="0" eaLnBrk="0">
              <a:lnSpc>
                <a:spcPct val="90000"/>
              </a:lnSpc>
              <a:spcBef>
                <a:spcPts val="1730"/>
              </a:spcBef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参考视频：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https://www.bilibili.com/video/BV1Vx411j7kT?p=1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9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1800" kern="0" spc="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参考代码：</a:t>
            </a:r>
            <a:r>
              <a:rPr sz="18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https://github.com/MorvanZhou/PyTorch-Tutorial/blob/master/tutorial-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CNN</a:t>
            </a:r>
            <a:r>
              <a:rPr sz="3800" b="1" kern="0" spc="3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网络训练实例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1245971" y="6287287"/>
            <a:ext cx="2071370" cy="238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contents/401_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CNN.py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1151" y="2279193"/>
            <a:ext cx="8059927" cy="3890263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CNN</a:t>
            </a:r>
            <a:r>
              <a:rPr sz="3800" b="1" kern="0" spc="3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网络训练实例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359443" y="1116098"/>
            <a:ext cx="7185659" cy="904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3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手写数字识别作为样例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0"/>
              </a:spcBef>
            </a:pPr>
            <a:r>
              <a:rPr sz="1800" kern="0" spc="-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4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步骤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：用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搭建神经网络（包括卷积和全连接神经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网络）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73316" y="3518280"/>
            <a:ext cx="8161908" cy="2895219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>
            <a:off x="359443" y="1116098"/>
            <a:ext cx="8623934" cy="2207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3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手写数字识别作为样例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4875" indent="-432435" algn="l" rtl="0" eaLnBrk="0">
              <a:lnSpc>
                <a:spcPct val="122000"/>
              </a:lnSpc>
              <a:spcBef>
                <a:spcPts val="550"/>
              </a:spcBef>
            </a:pPr>
            <a:r>
              <a:rPr sz="18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步骤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：将一个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的训练集中的图片输入至神经网络，得到所有数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字的预测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分类概率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97890" indent="-425450" algn="l" rtl="0" eaLnBrk="0">
              <a:lnSpc>
                <a:spcPct val="122000"/>
              </a:lnSpc>
            </a:pPr>
            <a:r>
              <a:rPr sz="18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步骤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：根据真实标签和预测标签，利用交叉熵损失函数计算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值，并进行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梯度下降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90000"/>
              </a:lnSpc>
            </a:pPr>
            <a:r>
              <a:rPr sz="3800" b="1" kern="0" spc="-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 CNN</a:t>
            </a:r>
            <a:r>
              <a:rPr sz="3800" b="1" kern="0" spc="3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网络训练实例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8681597" y="6490549"/>
            <a:ext cx="20447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180"/>
          <p:cNvSpPr/>
          <p:nvPr/>
        </p:nvSpPr>
        <p:spPr>
          <a:xfrm>
            <a:off x="359443" y="1116098"/>
            <a:ext cx="8662034" cy="4645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700" kern="0" spc="-11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中药图片分类任务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2970" indent="-427990" algn="l" rtl="0" eaLnBrk="0">
              <a:lnSpc>
                <a:spcPct val="122000"/>
              </a:lnSpc>
              <a:spcBef>
                <a:spcPts val="605"/>
              </a:spcBef>
            </a:pPr>
            <a:r>
              <a:rPr sz="2000" kern="0" spc="-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利用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pytorch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框架搭建神经网络实现中药图片分类，具体见给出的数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据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集和测试集。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4980" algn="l" rtl="0" eaLnBrk="0">
              <a:lnSpc>
                <a:spcPct val="93000"/>
              </a:lnSpc>
              <a:spcBef>
                <a:spcPts val="550"/>
              </a:spcBef>
            </a:pPr>
            <a:r>
              <a:rPr sz="1800" kern="0" spc="-1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800" kern="0" spc="2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要求：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0590" algn="l" rtl="0" eaLnBrk="0">
              <a:lnSpc>
                <a:spcPct val="86000"/>
              </a:lnSpc>
              <a:spcBef>
                <a:spcPts val="515"/>
              </a:spcBef>
            </a:pPr>
            <a:r>
              <a:rPr sz="17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搭建合适的网络框架，利用训练集完成网络训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练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0590" algn="l" rtl="0" eaLnBrk="0">
              <a:lnSpc>
                <a:spcPct val="86000"/>
              </a:lnSpc>
              <a:spcBef>
                <a:spcPts val="520"/>
              </a:spcBef>
            </a:pPr>
            <a:r>
              <a:rPr sz="17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统计网络模型的训练准确率和测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试准确率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0590" algn="l" rtl="0" eaLnBrk="0">
              <a:lnSpc>
                <a:spcPct val="90000"/>
              </a:lnSpc>
              <a:spcBef>
                <a:spcPts val="510"/>
              </a:spcBef>
            </a:pPr>
            <a:r>
              <a:rPr sz="1700" kern="0" spc="-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画出模型的训练过程的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loss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曲线、准确率曲线。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90000"/>
              </a:lnSpc>
              <a:spcBef>
                <a:spcPts val="1715"/>
              </a:spcBef>
            </a:pPr>
            <a:r>
              <a:rPr sz="1800" kern="0" spc="-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本次作业可以使用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pytorch、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库、</a:t>
            </a:r>
            <a:r>
              <a:rPr sz="18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numpy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库、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matplotlib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库以及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python</a:t>
            </a: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标准库。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911860" algn="l" rtl="0" eaLnBrk="0">
              <a:lnSpc>
                <a:spcPct val="86000"/>
              </a:lnSpc>
              <a:spcBef>
                <a:spcPts val="1735"/>
              </a:spcBef>
            </a:pPr>
            <a:r>
              <a:rPr sz="1800" kern="0" spc="-1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测试集不可用于模型训练。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1860" algn="l" rtl="0" eaLnBrk="0">
              <a:lnSpc>
                <a:spcPct val="87000"/>
              </a:lnSpc>
              <a:spcBef>
                <a:spcPts val="0"/>
              </a:spcBef>
            </a:pPr>
            <a:r>
              <a:rPr sz="1800" kern="0" spc="-8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 </a:t>
            </a: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不能使用开源的预训练模型进行训练。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algn="l" rtl="0" eaLnBrk="0">
              <a:lnSpc>
                <a:spcPct val="90000"/>
              </a:lnSpc>
            </a:pP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</a:t>
            </a:r>
            <a:r>
              <a:rPr sz="3800" b="1" kern="0" spc="2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实验任务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8701312" y="6496790"/>
            <a:ext cx="184150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</a:pPr>
            <a:r>
              <a:rPr sz="1400" kern="0" spc="-50" dirty="0">
                <a:solidFill>
                  <a:srgbClr val="A50021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19</a:t>
            </a:r>
            <a:endParaRPr sz="1400" dirty="0"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6"/>
          <p:cNvSpPr/>
          <p:nvPr/>
        </p:nvSpPr>
        <p:spPr>
          <a:xfrm>
            <a:off x="355193" y="1219624"/>
            <a:ext cx="8090534" cy="4439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2400" kern="0" spc="-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压缩包命名为：“学号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姓名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作业编号”，例：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62280" algn="l" rtl="0" eaLnBrk="0">
              <a:lnSpc>
                <a:spcPct val="90000"/>
              </a:lnSpc>
              <a:spcBef>
                <a:spcPts val="29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20250512_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张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71805" indent="-459105" algn="l" rtl="0" eaLnBrk="0">
              <a:lnSpc>
                <a:spcPct val="92000"/>
              </a:lnSpc>
              <a:spcBef>
                <a:spcPts val="855"/>
              </a:spcBef>
            </a:pP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每次作业文件下包含两部分：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code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文件夹和实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验报告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PDF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83235" algn="l" rtl="0" eaLnBrk="0">
              <a:lnSpc>
                <a:spcPct val="90000"/>
              </a:lnSpc>
              <a:spcBef>
                <a:spcPts val="1045"/>
              </a:spcBef>
            </a:pPr>
            <a:r>
              <a:rPr sz="2400" kern="0" spc="-1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400" kern="0" spc="-6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code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文件夹：存放实验代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码；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83235" algn="l" rtl="0" eaLnBrk="0">
              <a:lnSpc>
                <a:spcPct val="86000"/>
              </a:lnSpc>
              <a:spcBef>
                <a:spcPts val="875"/>
              </a:spcBef>
            </a:pPr>
            <a:r>
              <a:rPr sz="2400" kern="0" spc="-1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400" kern="0" spc="-7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PDF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文件格式参考发的模板。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54025" indent="-441325" algn="l" rtl="0" eaLnBrk="0">
              <a:lnSpc>
                <a:spcPct val="97000"/>
              </a:lnSpc>
              <a:spcBef>
                <a:spcPts val="945"/>
              </a:spcBef>
            </a:pPr>
            <a:r>
              <a:rPr sz="24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如果需要更新提交的版本，则在后面加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_v2</a:t>
            </a:r>
            <a:r>
              <a:rPr sz="2400" kern="0" spc="-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_v3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。如第一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版是“学号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姓名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作业编号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.zip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”，第二版是“学号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姓名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作业编号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_v2.zip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，依此类推。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kern="0" spc="-1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kern="0" spc="-7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提交网站：超算习堂。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solidFill>
            <a:srgbClr val="A5002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5590" algn="l" rtl="0" eaLnBrk="0">
              <a:lnSpc>
                <a:spcPct val="90000"/>
              </a:lnSpc>
            </a:pP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</a:t>
            </a: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作业提交说明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8684194" y="6496790"/>
            <a:ext cx="201295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</a:pPr>
            <a:r>
              <a:rPr sz="1400" kern="0" spc="-10" dirty="0">
                <a:solidFill>
                  <a:srgbClr val="A500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3426</Words>
  <Application>WPS Office WWO_wpscloud_20260521192124-597ff31d3d</Application>
  <PresentationFormat/>
  <Paragraphs>332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Arial</vt:lpstr>
      <vt:lpstr>SimHei</vt:lpstr>
      <vt:lpstr>汉仪旗黑KW 55S</vt:lpstr>
      <vt:lpstr>Times New Roman</vt:lpstr>
      <vt:lpstr>Wingdings</vt:lpstr>
      <vt:lpstr>Kingsoft Confetti</vt:lpstr>
      <vt:lpstr>微软雅黑</vt:lpstr>
      <vt:lpstr>Cambria Math</vt:lpstr>
      <vt:lpstr>宋体</vt:lpstr>
      <vt:lpstr>汉仪书宋二KW</vt:lpstr>
      <vt:lpstr>Kingsoft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2026-05-27T10:20:37Z</dcterms:created>
  <dcterms:modified xsi:type="dcterms:W3CDTF">2026-05-27T10:20:37Z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2026-05-27T18:19:42Z</vt:filetime>
  </property>
  <property fmtid="{D5CDD505-2E9C-101B-9397-08002B2CF9AE}" pid="4" name="ICV">
    <vt:lpwstr>F84C5B6CC00F7A0C75C5166AE662E625_42</vt:lpwstr>
  </property>
  <property fmtid="{D5CDD505-2E9C-101B-9397-08002B2CF9AE}" pid="5" name="KSOProductBuildVer">
    <vt:lpwstr>2052-12.9.0.26832</vt:lpwstr>
  </property>
</Properties>
</file>